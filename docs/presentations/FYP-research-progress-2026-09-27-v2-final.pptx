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44d336b0544ab8" /><Relationship Type="http://schemas.openxmlformats.org/officeDocument/2006/relationships/extended-properties" Target="/docProps/app.xml" Id="R603ca5213ce64b07" /><Relationship Type="http://schemas.openxmlformats.org/officeDocument/2006/relationships/officeDocument" Target="/ppt/presentation.xml" Id="R04fd5fa4216646dd" /></Relationships>
</file>

<file path=ppt/presentation.xml><?xml version="1.0" encoding="utf-8"?>
<p:presentation xmlns:p="http://schemas.openxmlformats.org/presentationml/2006/main">
  <p:sldMasterIdLst>
    <p:sldMasterId xmlns:r="http://schemas.openxmlformats.org/officeDocument/2006/relationships" id="2147483648" r:id="Rf37477ea694646b9"/>
  </p:sldMasterIdLst>
  <p:notesMasterIdLst>
    <p:notesMasterId xmlns:r="http://schemas.openxmlformats.org/officeDocument/2006/relationships" r:id="Rccddba6ffe83446f"/>
  </p:notesMasterIdLst>
  <p:sldIdLst>
    <p:sldId xmlns:r="http://schemas.openxmlformats.org/officeDocument/2006/relationships" id="256" r:id="R432bb20c18e341f4"/>
    <p:sldId xmlns:r="http://schemas.openxmlformats.org/officeDocument/2006/relationships" id="257" r:id="R5abb05f3669c4689"/>
    <p:sldId xmlns:r="http://schemas.openxmlformats.org/officeDocument/2006/relationships" id="258" r:id="R025b1ea619bc472c"/>
    <p:sldId xmlns:r="http://schemas.openxmlformats.org/officeDocument/2006/relationships" id="259" r:id="Rcb9507b8587a4615"/>
    <p:sldId xmlns:r="http://schemas.openxmlformats.org/officeDocument/2006/relationships" id="260" r:id="R37f50577d4114663"/>
    <p:sldId xmlns:r="http://schemas.openxmlformats.org/officeDocument/2006/relationships" id="261" r:id="Rc2c4f319a74446a5"/>
    <p:sldId xmlns:r="http://schemas.openxmlformats.org/officeDocument/2006/relationships" id="262" r:id="Rfd688ad26aae439e"/>
    <p:sldId xmlns:r="http://schemas.openxmlformats.org/officeDocument/2006/relationships" id="263" r:id="R3e02eeb9d2724c6e"/>
    <p:sldId xmlns:r="http://schemas.openxmlformats.org/officeDocument/2006/relationships" id="264" r:id="R6da11c95d62f4402"/>
    <p:sldId xmlns:r="http://schemas.openxmlformats.org/officeDocument/2006/relationships" id="265" r:id="R7c5199786ea34f54"/>
    <p:sldId xmlns:r="http://schemas.openxmlformats.org/officeDocument/2006/relationships" id="266" r:id="R5ca7b1a0cc324b77"/>
    <p:sldId xmlns:r="http://schemas.openxmlformats.org/officeDocument/2006/relationships" id="267" r:id="R45b409d2d4a04778"/>
    <p:sldId xmlns:r="http://schemas.openxmlformats.org/officeDocument/2006/relationships" id="268" r:id="Rbb69e08e4d42483b"/>
    <p:sldId xmlns:r="http://schemas.openxmlformats.org/officeDocument/2006/relationships" id="269" r:id="R271a6637163d4b4c"/>
    <p:sldId xmlns:r="http://schemas.openxmlformats.org/officeDocument/2006/relationships" id="270" r:id="Rcdab2ca5677e461b"/>
    <p:sldId xmlns:r="http://schemas.openxmlformats.org/officeDocument/2006/relationships" id="271" r:id="R8a0b1b8a3b9d4414"/>
    <p:sldId xmlns:r="http://schemas.openxmlformats.org/officeDocument/2006/relationships" id="272" r:id="R77291e40728942dc"/>
    <p:sldId xmlns:r="http://schemas.openxmlformats.org/officeDocument/2006/relationships" id="273" r:id="R06ffaed23b3143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b71d96532f437a" /><Relationship Type="http://schemas.openxmlformats.org/officeDocument/2006/relationships/slideMaster" Target="/ppt/slideMasters/slideMaster1.xml" Id="Rf37477ea694646b9" /><Relationship Type="http://schemas.openxmlformats.org/officeDocument/2006/relationships/notesMaster" Target="/ppt/notesMasters/notesMaster1.xml" Id="Rccddba6ffe83446f" /><Relationship Type="http://schemas.openxmlformats.org/officeDocument/2006/relationships/presProps" Target="/ppt/presProps.xml" Id="R3f855dc418334acf" /><Relationship Type="http://schemas.openxmlformats.org/officeDocument/2006/relationships/tableStyles" Target="/ppt/tableStyles.xml" Id="Rf9298624e1ca4aad" /><Relationship Type="http://schemas.openxmlformats.org/officeDocument/2006/relationships/slide" Target="/ppt/slides/slide1.xml" Id="R432bb20c18e341f4" /><Relationship Type="http://schemas.openxmlformats.org/officeDocument/2006/relationships/slide" Target="/ppt/slides/slide2.xml" Id="R5abb05f3669c4689" /><Relationship Type="http://schemas.openxmlformats.org/officeDocument/2006/relationships/slide" Target="/ppt/slides/slide3.xml" Id="R025b1ea619bc472c" /><Relationship Type="http://schemas.openxmlformats.org/officeDocument/2006/relationships/slide" Target="/ppt/slides/slide4.xml" Id="Rcb9507b8587a4615" /><Relationship Type="http://schemas.openxmlformats.org/officeDocument/2006/relationships/slide" Target="/ppt/slides/slide5.xml" Id="R37f50577d4114663" /><Relationship Type="http://schemas.openxmlformats.org/officeDocument/2006/relationships/slide" Target="/ppt/slides/slide6.xml" Id="Rc2c4f319a74446a5" /><Relationship Type="http://schemas.openxmlformats.org/officeDocument/2006/relationships/slide" Target="/ppt/slides/slide7.xml" Id="Rfd688ad26aae439e" /><Relationship Type="http://schemas.openxmlformats.org/officeDocument/2006/relationships/slide" Target="/ppt/slides/slide8.xml" Id="R3e02eeb9d2724c6e" /><Relationship Type="http://schemas.openxmlformats.org/officeDocument/2006/relationships/slide" Target="/ppt/slides/slide9.xml" Id="R6da11c95d62f4402" /><Relationship Type="http://schemas.openxmlformats.org/officeDocument/2006/relationships/slide" Target="/ppt/slides/slide10.xml" Id="R7c5199786ea34f54" /><Relationship Type="http://schemas.openxmlformats.org/officeDocument/2006/relationships/slide" Target="/ppt/slides/slide11.xml" Id="R5ca7b1a0cc324b77" /><Relationship Type="http://schemas.openxmlformats.org/officeDocument/2006/relationships/slide" Target="/ppt/slides/slide12.xml" Id="R45b409d2d4a04778" /><Relationship Type="http://schemas.openxmlformats.org/officeDocument/2006/relationships/slide" Target="/ppt/slides/slide13.xml" Id="Rbb69e08e4d42483b" /><Relationship Type="http://schemas.openxmlformats.org/officeDocument/2006/relationships/slide" Target="/ppt/slides/slide14.xml" Id="R271a6637163d4b4c" /><Relationship Type="http://schemas.openxmlformats.org/officeDocument/2006/relationships/slide" Target="/ppt/slides/slide15.xml" Id="Rcdab2ca5677e461b" /><Relationship Type="http://schemas.openxmlformats.org/officeDocument/2006/relationships/slide" Target="/ppt/slides/slide16.xml" Id="R8a0b1b8a3b9d4414" /><Relationship Type="http://schemas.openxmlformats.org/officeDocument/2006/relationships/slide" Target="/ppt/slides/slide17.xml" Id="R77291e40728942dc" /><Relationship Type="http://schemas.openxmlformats.org/officeDocument/2006/relationships/slide" Target="/ppt/slides/slide18.xml" Id="R06ffaed23b3143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f59fe835c64c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39a1ae5a4f4e8d" /><Relationship Type="http://schemas.openxmlformats.org/officeDocument/2006/relationships/notesMaster" Target="/ppt/notesMasters/notesMaster1.xml" Id="R15dbbbc6c22849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772428575d4af4" /><Relationship Type="http://schemas.openxmlformats.org/officeDocument/2006/relationships/notesMaster" Target="/ppt/notesMasters/notesMaster1.xml" Id="Rbec6840d99d147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de671ea7e64638" /><Relationship Type="http://schemas.openxmlformats.org/officeDocument/2006/relationships/notesMaster" Target="/ppt/notesMasters/notesMaster1.xml" Id="R54618f6cac1a4e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718eb6fbd740b6" /><Relationship Type="http://schemas.openxmlformats.org/officeDocument/2006/relationships/notesMaster" Target="/ppt/notesMasters/notesMaster1.xml" Id="Ra22849de47f14e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dbf879ed774843" /><Relationship Type="http://schemas.openxmlformats.org/officeDocument/2006/relationships/notesMaster" Target="/ppt/notesMasters/notesMaster1.xml" Id="R06deddbe8f5d4b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05d2493d5c4e28" /><Relationship Type="http://schemas.openxmlformats.org/officeDocument/2006/relationships/notesMaster" Target="/ppt/notesMasters/notesMaster1.xml" Id="R4970f6bbbae643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1570b803e340a9" /><Relationship Type="http://schemas.openxmlformats.org/officeDocument/2006/relationships/notesMaster" Target="/ppt/notesMasters/notesMaster1.xml" Id="R39d2cccee99c47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d7a25d5a504450" /><Relationship Type="http://schemas.openxmlformats.org/officeDocument/2006/relationships/notesMaster" Target="/ppt/notesMasters/notesMaster1.xml" Id="Re91ce2004c2f4c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80fa00c4e34624" /><Relationship Type="http://schemas.openxmlformats.org/officeDocument/2006/relationships/notesMaster" Target="/ppt/notesMasters/notesMaster1.xml" Id="R6bf4c00c1fd34d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4ceaab8e994f8b" /><Relationship Type="http://schemas.openxmlformats.org/officeDocument/2006/relationships/notesMaster" Target="/ppt/notesMasters/notesMaster1.xml" Id="Rf5d405b5edc541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50b9b9a1de4a13" /><Relationship Type="http://schemas.openxmlformats.org/officeDocument/2006/relationships/notesMaster" Target="/ppt/notesMasters/notesMaster1.xml" Id="R25d390bc1bc746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f0bae6eaed4a56" /><Relationship Type="http://schemas.openxmlformats.org/officeDocument/2006/relationships/notesMaster" Target="/ppt/notesMasters/notesMaster1.xml" Id="R1035ec03e0a940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41b791c2e24f54" /><Relationship Type="http://schemas.openxmlformats.org/officeDocument/2006/relationships/notesMaster" Target="/ppt/notesMasters/notesMaster1.xml" Id="Raea5e24a2d4f49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e4c8c04442494e" /><Relationship Type="http://schemas.openxmlformats.org/officeDocument/2006/relationships/notesMaster" Target="/ppt/notesMasters/notesMaster1.xml" Id="R7657ff71c0164c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bfad0c9e99426d" /><Relationship Type="http://schemas.openxmlformats.org/officeDocument/2006/relationships/notesMaster" Target="/ppt/notesMasters/notesMaster1.xml" Id="R003be9ecbeb947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2fe427ba8f4973" /><Relationship Type="http://schemas.openxmlformats.org/officeDocument/2006/relationships/notesMaster" Target="/ppt/notesMasters/notesMaster1.xml" Id="Reb7da2ae5aae4d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53ba9b051144be" /><Relationship Type="http://schemas.openxmlformats.org/officeDocument/2006/relationships/notesMaster" Target="/ppt/notesMasters/notesMaster1.xml" Id="Rece15b6d980945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eb80a6d1284388" /><Relationship Type="http://schemas.openxmlformats.org/officeDocument/2006/relationships/notesMaster" Target="/ppt/notesMasters/notesMaster1.xml" Id="Rc3a08f59f77046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is whether better page selection can reduce the labelled data needed to adapt small open vision-language models to historical handwriting. Existing dataset labels simulate a human annotator: labels are revealed only after a TRAIN page is acquired. We do not measure human annotation time. The story has four stages: establish execution, obtain usable recognition, compare selection strategies, then isolate recognition with supplied line locations. The pipelines now work, but a repeatable active-learning advantage remains unproven. The deck reports evidence through EXP-013 on main commit 9149776. It does not treat engineering success as a scientific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READ2016 / Bozen v1.2.0 provides historical German page images and PAGE XML line annotations. The prepared official split contains 350 TRAIN pages with 8,367 lines and 50 VAL pages with 1,043 lines. The unit acquired is a page: selecting it reveals all its original line transcripts. For known-box experiments, supplied geometry is available for cropping, while candidate transcripts remain hidden. Eight VAL pages, Seite0355–0362, were used for recipe checks. The reported later curves use the other 42, Seite0363–0404: 861 supplied line regions, 17,718 reference characters and 2,675 words. These are official validation pages, not an independent final test. Document grouping and possible pretraining overlap are unknown. The image is original Seite0355, not synthetic data. Dataset/image credit: Toselli et al., HTR Dataset ICFHR2016 v1.2.0, CC BY 4.0. https://zenodo.org/records/1297399 . Project evidence: https://github.com/bbryant824/ocr-finetuning/blob/main/docs/PROJECT_GUIDE.md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evaluate the untouched original model at zero labelled pages. Then score remaining TRAIN images, select a batch, reveal its labels and fit a new LoRA adapter on all labels acquired so far. Every fit starts from the same pinned base; it does not continue training the previous adapter. For uncertainty selection, the previous adapter scores the next pool. K-center keeps original-model features frozen, and random needs no scoring. Evaluate the checkpoint on the fixed VAL slice and save selections, predictions, metrics, adapter hashes and receipts. Stop after three fixed rounds, rather than using VAL scores to stop. Hugging Face Transformers Trainer, PyTorch and PEFT handle fitting, generation and checkpoints; Modal supplies GPU execution and persistent output Volumes. LocalOracle controls label access and evaluation.py holds VAL truth. recognition_pipeline.py runs page transcription; region_pipeline.py independently runs known-box recognition. Historical joint OCR used the custom Qwen path and LLaMA-Factory; the current recognition backend is Hugging Face. Sources: https://github.com/bbryant824/ocr-finetuning/blob/main/docs/PROJECT_GUIDE.md ; https://arxiv.org/abs/2511.21631 ; https://arxiv.org/abs/2601.14251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sequence repaired remote execution and checkpoint acceptance, then showed that an engineering-successful loop still lacked usable OCR. The tested Qwen joint line-box/transcript recipes included nested JSON and compact box|text rows, larger labelled sets and stronger fitting. Their different validation slices cannot be pooled; reported CER remained approximately 1 and matched line-box F1 was 0. Output format was therefore only part of the problem. We paused this particular recipe to reduce confounding between localization, output syntax, long generation and recognition. We did not establish that Qwen or joint OCR is inherently unsuitable. The subsequent page-text control directly tests whether transcription can learn under a simpler output contract. Details and historical failures remain preserved in https://github.com/bbryant824/ocr-finetuning/blob/main/results/EXP-001-002.md ; https://github.com/bbryant824/ocr-finetuning/blob/main/results/EXP-003-005.md ; https://github.com/bbryant824/ocr-finetuning/blob/main/results/EXP-006-008.md.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establish usable historical-domain recognition and random-selection learning curves before attributing gains to active selection. LightOnOCR-2-1B-base is an OCR-oriented 1B VLM, with its model card recommending the base for fine-tuning: https://huggingface.co/lightonai/LightOnOCR-2-1B-base ; https://arxiv.org/abs/2601.14251. Qwen3-VL-4B-Instruct is an open 4B general VLM whose official card lists expanded OCR and document structure parsing: https://huggingface.co/Qwen/Qwen3-VL-4B-Instruct ; https://arxiv.org/abs/2511.21631. Our choice rationale is methodological inference, not evidence that either is optimal for this handwriting. It creates a compact specialist control and preserves continuity with Qwen from the unsuccessful joint recipe. LightOn revision c1bc8eb6625be7b34178ff53481b242f7b8ffcb8; Qwen revision ebb281ec70b05090aa6165b016eac8ec08e71b17. Shared numeric recipe: 64 pages/round, 3 rounds, random seed824, 3 epochs, batch1/accum4, LR1e-4, cosine warmup0.1, bf16, all-linear LoRA rank8/alpha16/dropout0, image edge1540, greedy max1536/repetition1.1. Each fit starts from base on cumulative acquired labels. Processors, prompts and architectures differ; this is not a causal architecture comparison. Recipes and controls: https://github.com/bbryant824/ocr-finetuning/blob/main/experiments/recipes/read2016-page-text.json ; https://github.com/bbryant824/ocr-finetuning/blob/main/results/EXP-009.md ; https://github.com/bbryant824/ocr-finetuning/blob/main/results/EXP-010.md.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EXP-009 and EXP-010 establish random-acquisition recognition controls. The output is plain whole-page text in reading order, without predicted coordinates. Both use cumulative 64/128/192 TRAIN pages, three epochs per fresh-base fit, LoRA rank 8/alpha 16, learning rate 1e-4, batch 1 with accumulation 4, bf16, image edge 1540 and greedy decoding capped at 1536 new tokens. Models are LightOnOCR-2-1B-base and Qwen3-VL-4B-Instruct, respectively. CER counts character edits divided by reference characters; WER counts word edits divided by reference words. Rates may exceed 1 through insertions. Capped outputs count as empty. VAL42 LightOn CER/WER: 0 pages .7812/1.1155; 64 .5683/.9720; 128 .3625/.8164; 192 .2161/.6179. Qwen: .7902/1.0019; .5025/.8643; .2946/.6841; .2112/.5589. LightOn caps are 2/0/0/0; Qwen 10/3/1/0. The LightOn VAL42 adapters came from its earlier L40S pilot, evaluated on L4; the later canonical VAL8 runner is separate. Architectures, processors, prompts and fit hardware differ, so this is an engineering model comparison, not an isolated architecture claim. Sources: https://github.com/bbryant824/ocr-finetuning/blob/main/experiments/EXP-009.md ; https://github.com/bbryant824/ocr-finetuning/blob/main/results/EXP-010.md ; https://github.com/bbryant824/ocr-finetuning/blob/main/experiments/recipes/read2016-page-text.json Values in the table are rounded to four decimals, matching the source. Both original models were evaluated at 0 pages. This is fine-tuning benefit under random selection, not evidence of an active-selection benefit. LightOn capped VAL pages by budget: 2/0/0/0; Qwen:10/3/1/0, out of42. Capped/failed predictions count as empty. WER may exceed1 because insertions increase edit counts. The LightOn VAL42 pilot and later VAL8 canonical runner are separate evidence; only VAL42 pilot values are shown here. No validation slices were pooled.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adopt these methods: random is the necessary passive-control acquisition; entropy uses the whole token distribution as an uncertainty proxy; least confidence uses probability assigned to the generated answer. They are transparent reference baselines, not new proposed algorithms. Classical motivation: Settles (2009), Active Learning Literature Survey, section3.1, https://burrsettles.com/pub/settles.activelearning.pdf. Our sequence definitions are an adaptation, not exactly classification posterior or exact sequence entropy. For each token, use raw pre-penalty logits normalized by softmax. H averages per-token entropy and divides by log vocabulary size; C is the geometric mean generated-token probability, avoiding a raw product's length bias. T includes EOS when generated. EXP-011 uses one generated full-page sequence. EXP-013 samples positions floor(n/4),floor(n/2),floor(3n/4) from supplied reading order and averages their separate H or C, not a geometric mean across all page tokens. All selected page transcripts are then revealed. Entropy ranks descending H; least confidence ascending C, equivalently descending1-C; ties by page ID. First EXP-013 scoring uses original Qwen; subsequent rounds use that strategy's preceding adapter. Candidate labels are never used to rank. These proxies may be confidently wrong, may select unlearnably hard examples, and are not calibrated OCR error estimates. Capped prefixes and counts are preserved. Source definitions: https://github.com/bbryant824/ocr-finetuning/blob/main/src/active_ocr/region_pipeline.py ; https://github.com/bbryant824/ocr-finetuning/blob/main/src/active_ocr/acquisition_pipeline.py ; https://github.com/bbryant824/ocr-finetuning/blob/main/src/active_ocr/active_learning.py.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K-center is a simple greedy coverage baseline inspired by the core-set acquisition approach of Sener and Savarese, ICLR2018, https://arxiv.org/abs/1708.00489. We do not implement every part of their optimization or claim their classification guarantees transfer to OCR. U is the remaining TRAIN pool and L the already acquired pages. Normalize feature vectors; initialize nearest-labelled-centre distances; repeatedly choose the greatest distance and update every remaining page's distance to its closest centre. Deterministic ties follow sorted page IDs. In EXP-011, L starts with64 shared random pages. In EXP-013, the first centre is argmin_x ||z(x)-mean_U(z)||₂; then greedy farthest coverage continues. EXP-013 page features average the original model's pooled visual token features over the3 fixed line crops, then normalize; they remain frozen for all rounds. No transcripts or adapter-dependent uncertainty is used. This tests visual diversity against uncertainty and random. A broader feature-space cover need not be a broader cover of useful handwriting or language phenomena. Implementation: https://github.com/bbryant824/ocr-finetuning/blob/main/src/active_ocr/acquisition_pipeline.py ; region feature extraction https://github.com/bbryant824/ocr-finetuning/blob/main/src/active_ocr/region_pipeline.py.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acquisition methods at equal full-page label budgets, with seed-specific shared initial64 random pages/checkpoint. Subsequent64-page acquisitions diverge at128 and192. All fits reset from the same pinned base on cumulative labels with the EXP-010 numeric recipe. Absolute values are newly summarized arithmetically from existing round-holdout receipt metrics, not new experiment runs. Means CER/WER at128 and192: random .285642/.672025 and .209599/.555016; k-center .291662/.686480 and .205065/.555389; entropy .275294/.670903 and .210351/.553271; least confidence .299074/.683364 and .205478/.554268. Original model .7902133424/1.0018691589; shared64 mean .499605/.863676. Seed824 zero/page controls reuse checked EXP-010 receipts explicitly; seeds825/826 have their own saved zero receipts with identical deterministic predictions. Within each seed, every strategy inherits that baseline and random64 fit. This design controls the first labelled set and asks about additional pages; it does not test strategy-specific first acquisitions. Source https://github.com/bbryant824/ocr-finetuning/blob/main/results/EXP-011.md ; https://github.com/bbryant824/ocr-finetuning/blob/main/experiments/EXP-011.md. Receipts under .local/verification/al-strategies/; seed824 random in the historically named .local/verification/exp-013/attempt-1/qwen-page-text/ directory belongs to EXP-010, not the current EXP-013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EXP-011 compares whole-page selectors across three paired seeds, 824–826. Within each seed every arm inherits the same first 64 random pages and checkpoint; selection diverges at 128 and 192. Seed 824's zero-page receipt is reused from EXP-010; seeds 825 and 826 have their own zero-page receipts. Negative paired changes favour the selector. Mean paired CER change ± sample SD, in percentage points, at 128 then 192: k-center +0.60 ±1.07 and −0.45 ±0.85; entropy −1.03 ±0.69 and +0.08 ±2.18; least confidence +1.34 ±3.85 and −0.41 ±2.48. Mean WER changes are k-center +1.45/+0.04, entropy −0.11/−0.17, confidence +1.13/−0.07 points. The initially promising seed-824 uncertainty gains did not repeat consistently. Fixed output caps materially affected small gaps; post-hoc common-uncapped-page checks changed some signs, but all 42 pages remain the primary metric. No selector consistently leads at both budgets. This matches the need for careful controls discussed by Munjal et al., rather than proving their classification result transfers to OCR. Sources: https://github.com/bbryant824/ocr-finetuning/blob/main/results/EXP-011.md ; https://arxiv.org/abs/2002.09564 The visible paired means and sample standard deviations are in percentage points (100×rate difference). SD is not a confidence interval or significance test. No selector consistently improves both primary metrics at both budgets. Entropy improves128-page CER in all3 seeds, but later CER advantage does not persist. Seed824 pool scoring after64 labels had26 capped outputs; median normalized entropy .032 for capped versus .200 uncapped, and confidence .843 versus .330. Entropy and confidence selected none of those26, k-center7, random5. This is a label-free failure diagnostic: high model confidence can accompany repetition/truncation, not proof of which pages would be best to label. Full42-page primary evaluation remains unchanged; post-hoc common-uncapped analyses are diagnostics. This motivates controlling output length with known-box recognition. Related evaluation discipline: https://arxiv.org/abs/2002.09564.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Whole-page transcription mixes recognition, reading-order/layout decisions and long-output failures. Known-box recognition controls the input locations so that selection effects can be studied with shorter, usable transcripts. READ2016 supplies the boxes: no box detector is evaluated. Each line is cropped with 8 pixels of padding, clamped to the page and resized to longest edge 1024. Qwen returns plain text with a 64-token cap; outputs are rejoined in original source reading order. A page remains the acquisition unit and all its lines train after selection. This is a changed task and recipe: one rather than three epochs, different image resolution and shorter decoding. Therefore a lower crop CER is not a controlled improvement over full-page OCR. The image and crop are original READ2016 Seite0363 inputs, not model predictions. Image credit: READ2016/Bozen, CC BY 4.0, https://zenodo.org/records/1297399 . Aradillas, Murillo-Fuentes and Olmos study historical recognition with few labelled lines and transfer learning, supporting this recognition-focused setting; their model and datasets differ. https://arxiv.org/abs/2012.02544 . Project source: https://github.com/bbryant824/ocr-finetuning/blob/main/results/EXP-012.md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EXP-012 first establishes that the separate known-box pipeline can learn under random selection. One seed, 824, acquires 64 pages per round. All fitting and inference run on L4; every one-epoch fit resets from the pinned Qwen base and uses cumulative selected lines. The original model is evaluated before training. On the same VAL42 / 861 regions, CER/WER are .803646/1.087103 at zero pages, .189807/.580935 at 64, .122700/.452336 at 128 and .094367/.370467 at 192. Training lines are 0, 1537, 3037 and 4567. The original evaluation had two capped regions; all trained checkpoints had zero. The first 64 pages produce the largest drop, motivating a smaller-budget selection comparison. Final CER is 88.3% lower relative to this original-model baseline, but WER .370 still indicates substantial word errors. This is a random-control learning curve, not proof of a model-informed selector advantage. One seed and official validation do not establish annotation savings, detection or independent generalization. Sources: https://github.com/bbryant824/ocr-finetuning/blob/main/results/EXP-012.md ; https://github.com/bbryant824/ocr-finetuning/blob/main/experiments/EXP-012.md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EXP-013 tests a lower-budget, strategy-first design: 0/24/48/72 pages, one configured selection/Trainer seed 824. Unlike EXP-011, there is no shared random warm-start adapter. Each arm selects its own first 24 pages. Three fixed source line positions, floor(n/4), floor(n/2), floor(3n/4), estimate each candidate page; selection reveals all the page's transcripts. K-center averages normalized original-model visual features and keeps them frozen. With no labels, it begins nearest the pool mean, then takes farthest uncovered pages. Entropy averages token-normalized next-token entropy; least confidence averages geometric token confidence over the three sampled lines. Initial uncertainty scoring is shared, later scoring uses each arm's own adapter and remaining pool. Ties use page IDs and selections are never forced apart. Fits and decoding retain EXP-012's recipe. Its exact zero-page receipt is reused after checking model, crop, prompt, decoding, IDs and evaluator, and recomputing saved predictions locally; no trained EXP-012 adapter is reused. All workloads use L4. Sener and Savarese motivate feature coverage in classification, not guaranteed OCR gains. Sources: https://github.com/bbryant824/ocr-finetuning/blob/main/results/EXP-013.md ; https://github.com/bbryant824/ocr-finetuning/blob/main/experiments/recipes/read2016-known-box-al-24.json ; https://arxiv.org/abs/1708.00489 Purpose: examine the early-budget acquisition signal without the common64-page supervision used in EXP-011. The base predicts scores before any fit; entropy and least confidence each choose their own24, k-center uses deterministic centroid-nearest initialization, random uses its own seeded draw. Subsequent scoring is arm-specific except the frozen k-center features. Exact crop recipe remains8px padding, edge1024, greedy max64/repetition1.1; fits fresh base cumulative1epoch, LoRA8/16/dropout0, LR1e-4, batch1/accum4. Three sampled line indices are floor(n/4),floor(n/2),floor(3n/4); selecting reveals all page transcripts. Smaller budgets do not guarantee independent selections; overlaps are measured, not forced apart. Zero receipt reused explicitly: EXP-012 region-exp012-random-seed824/round-0.json; no prior trained adapter is reused. Matching source, model revision, processing, prompt, decoding, VAL IDs and evaluator were checked before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EXP-013 uses the same 861 validation regions for all 12 trained checkpoints. The reused zero-page score is CER .803646 and WER 1.087103. At 24 pages, random/k-center/entropy/least-confidence CER is .410374/.446947/.355909/.374026 and WER .825421/.852336/.795140/.796262. At 48, CER .235749/.257365/.240038/.243876 and WER .644486/.666168/.666542/.665047. At 72, CER .175020/.183768/.178068/.188114 and WER .552897/.566355/.559252/.571589. Entropy leads random by 5.45 CER percentage points at 24; random leads both metrics at 48 and 72. All trained VAL outputs are uncapped; acquisition has 6 caps among 4818 generated sampled crops. Equal page budgets give unequal line counts: at 72, random/k-center/entropy/confidence train on 1725/1658/1713/1659 lines. Uncertainty selections correlate: entropy/confidence share 16/24/37 pages at budgets 24/48/72. Other 72-page overlaps range from 13 to 20. All adapter hashes and metrics were verified; recovery reused a saved adapter without retraining. One seed and unseeded pre-construction LoRA initialization prevent strong causal or repeatability claims. Source: https://github.com/bbryant824/ocr-finetuning/blob/main/results/EXP-013.md ; technical record https://github.com/bbryant824/ocr-finetuning/blob/main/experiments/EXP-013.md The apparent early benefit motivates replication, not an established saving. Every12 trained-checkpoint evaluation has0/861 capped outputs, so full-page truncation is not driving these trained-known-box comparisons. Remaining limitations include one configured seed, unseeded pre-construction LoRA initialization and unequal transcript volumes at equal page budgets.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EXP-013 uses the same 861 validation regions for all 12 trained checkpoints. The reused zero-page score is CER .803646 and WER 1.087103. At 24 pages, random/k-center/entropy/least-confidence CER is .410374/.446947/.355909/.374026 and WER .825421/.852336/.795140/.796262. At 48, CER .235749/.257365/.240038/.243876 and WER .644486/.666168/.666542/.665047. At 72, CER .175020/.183768/.178068/.188114 and WER .552897/.566355/.559252/.571589. Entropy leads random by 5.45 CER percentage points at 24; random leads both metrics at 48 and 72. All trained VAL outputs are uncapped; acquisition has 6 caps among 4818 generated sampled crops. Equal page budgets give unequal line counts: at 72, random/k-center/entropy/confidence train on 1725/1658/1713/1659 lines. Uncertainty selections correlate: entropy/confidence share 16/24/37 pages at budgets 24/48/72. Other 72-page overlaps range from 13 to 20. All adapter hashes and metrics were verified; recovery reused a saved adapter without retraining. One seed and unseeded pre-construction LoRA initialization prevent strong causal or repeatability claims. Source: https://github.com/bbryant824/ocr-finetuning/blob/main/results/EXP-013.md ; technical record https://github.com/bbryant824/ocr-finetuning/blob/main/experiments/EXP-013.md All table entries are the same data plotted on the preceding slide. Page budgets are cumulative; batch24 repeated3 times. Tables report corpus-level CER and WER on ordered transcriptions, not average token confidence. Rates may exceed1 through insertions. Everyarm cites original zero receipt, preserves provenance and independently selected page sets. At24 versus random, entropy CER/WER changes are −5.45/−3.03 percentage points, least confidence −3.63/−2.92, k-center +3.66/+2.69. At72, entropy +0.30/+0.64, k-center +0.87/+1.35, confidence +1.31/+1.87. These observed differences are not significance or causal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Overlap was measured without forcing disjoint selections. Entropy/least-confidence pair intersections are16/24/37 at 24/48/72 total acquired pages, greater than other pairs. This suggests the two uncertainty scores often target similar inputs; it is not evidence of identical scores or independent methods. The other pair values are fully listed. Training-line counts differ even at fixed page budget: at72, random1725, k-center1658, entropy1713, confidence1659. It is therefore not valid to interpret page-efficiency differences directly as annotation-time savings or purely per-line label efficiency. Three-line scoring gives a reproducible page proxy, not exhaustive page difficulty. Acquisition had6 capped outputs out of4818 sampled crops; all twelve trained VAL evaluations were uncapped. Report https://github.com/bbryant824/ocr-finetuning/blob/main/results/EXP-013.md ; technical record https://github.com/bbryant824/ocr-finetuning/blob/main/experiments/EXP-013.md. This helps prioritize controlled repeats and potentially testing uncertainty plus diversity, which remains unexecuted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now has working page-text and known-box recognition pipelines, documented controls and verified adapters. Historical-domain fine-tuning clearly improves recognition within these validation studies. However, learning from labels is different from learning more efficiently through an active selector: neither EXP-011 nor EXP-013 establishes a consistent repeatable advantage. The next test should repeat the smaller strategy-first comparison with RNG seeded before adapter construction, paired initializations and multiple seeds. The current inherited recipe applies the Trainer seed after PEFT construction, so small gaps can reflect training variation. A justified document-grouped holdout is needed before claiming unseen-document generalization; final test must stay isolated. Track transcript volume alongside page budgets, since page counts do not measure human time. Uncertainty plus diversity is a future hypothesis suggested by the early-budget signal and correlated uncertainty selections, not a result already achieved. Munjal et al. motivates strong random controls and stochasticity checks in classification; Aradillas et al. supports low-label historical recognition. Public reader reports are in results/ and technical identities/recipes in experiments/. Raw evidence and model mirrors remain ignored under .local/verification/ and .local/models/exp-ID/, with remote originals on Modal. Sources: https://arxiv.org/abs/2002.09564 ; https://arxiv.org/abs/2012.02544 ; https://arxiv.org/abs/1708.00489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and why they matter: Sener, O. and Savarese, S. (ICLR 2018), Active Learning for Convolutional Neural Networks: A Core-Set Approach — coverage motivation, not OCR evidence. https://arxiv.org/abs/1708.00489 . Munjal, P., Hayat, N., Hayat, M., Sourati, J., Khan, S. (CVPR 2022), Towards Robust and Reproducible Active Learning Using Neural Networks — baseline and stochasticity controls. https://arxiv.org/abs/2002.09564 . Aradillas, J. C., Murillo-Fuentes, J. J., Olmos, P. M. (2020 preprint), Boosting offline handwritten text recognition in historical documents with few labeled lines — low-label historical recognition context. https://arxiv.org/abs/2012.02544 . Bai, S. et al. (2025), Qwen3-VL Technical Report — model family. https://arxiv.org/abs/2511.21631 . Taghadouini, S., Cavaillès, A., Aubertin, B. (2026), LightOnOCR: A 1B End-to-End Multilingual Vision-Language Model for State-of-the-Art OCR — compact page-transcription model. https://arxiv.org/abs/2601.14251 . Toselli et al., HTR Dataset ICFHR2016 v1.2.0 — READ2016/Bozen images and annotations, CC BY 4.0. https://zenodo.org/records/1297399 . LightOn base model card: https://huggingface.co/lightonai/LightOnOCR-2-1B-base . Experiment reader index: https://github.com/bbryant824/ocr-finetuning/blob/main/results/README.md . It links all grouped early reports and EXP-009–013; experiments/ contains exact methods and evidence identities. Published results are contextual and do not prove our model-specific active-learning benefit. Additional reference: Settles, B. (2009), Active Learning Literature Survey, Computer Sciences Technical Report1648, University of Wisconsin–Madison. https://burrsettles.com/pub/settles.activelearning.pdf. Classical uncertainty motivates our baselines, while our normalized token scores and three-crop page aggregation are specified from the implementation. Qwen3-VL report https://arxiv.org/abs/2511.21631; LightOnOCR report https://arxiv.org/abs/2601.14251. Both model cards are linked in the model-choice slide's notes. Figures use verified project metrics; they do not copy paper performance charts. All project evidence is on main at914977622435fa17f480fccb4d78ffcd9b217576. Paths for continued reading: results/EXP-009.md, EXP-010.md, EXP-011.md, EXP-012.md, EXP-013.md; experiments/EXP-ID.md and recipes/. Data remains .local/assets/read2016-1.2.0/, .local/prepared/read2016-v1-8db5833/, frozen source .local/verification/active-learning-source/runs/. Models are mirrored under .local/models/exp-011/, exp-012/random/seed-824/round-N/, and exp-013/&lt;strategy&gt;/seed-824/round-N/adapter/, with original adapters retained on the output Volume. No new training or inference was 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b64317c1af41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c95dfe77ba4eb0" /><Relationship Type="http://schemas.openxmlformats.org/officeDocument/2006/relationships/slideLayout" Target="/ppt/slideLayouts/slideLayout1.xml" Id="R7cf02abb7b9c40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f02abb7b9c40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943a307afb4ee5" /><Relationship Type="http://schemas.openxmlformats.org/officeDocument/2006/relationships/notesSlide" Target="/ppt/notesSlides/notesSlide1.xml" Id="Re04773c31bc348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b08c9448f14423" /><Relationship Type="http://schemas.openxmlformats.org/officeDocument/2006/relationships/image" Target="/ppt/media/image.jpeg" Id="R0980052d96ea4f39" /><Relationship Type="http://schemas.openxmlformats.org/officeDocument/2006/relationships/notesSlide" Target="/ppt/notesSlides/notesSlide2.xml" Id="Rb23e06179c6e4b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1bf8ff9a174623" /><Relationship Type="http://schemas.openxmlformats.org/officeDocument/2006/relationships/notesSlide" Target="/ppt/notesSlides/notesSlide3.xml" Id="R7f251f20c79943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de7738a642428b" /><Relationship Type="http://schemas.openxmlformats.org/officeDocument/2006/relationships/notesSlide" Target="/ppt/notesSlides/notesSlide4.xml" Id="R39ac90252dd648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5149e92ed04390" /><Relationship Type="http://schemas.openxmlformats.org/officeDocument/2006/relationships/notesSlide" Target="/ppt/notesSlides/notesSlide5.xml" Id="R555606b2c2c244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3243ba3a194ffc" /><Relationship Type="http://schemas.openxmlformats.org/officeDocument/2006/relationships/chart" Target="/ppt/slides/charts/chart1.xml" Id="R4930e66121134530" /><Relationship Type="http://schemas.openxmlformats.org/officeDocument/2006/relationships/chart" Target="/ppt/slides/charts/chart2.xml" Id="R17106fa85be2497c" /><Relationship Type="http://schemas.openxmlformats.org/officeDocument/2006/relationships/notesSlide" Target="/ppt/notesSlides/notesSlide6.xml" Id="Rd96ac2fa811b4f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c42dcbeeb44805" /><Relationship Type="http://schemas.openxmlformats.org/officeDocument/2006/relationships/notesSlide" Target="/ppt/notesSlides/notesSlide7.xml" Id="Rfe14105696b941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f5b1c0c04e40e1" /><Relationship Type="http://schemas.openxmlformats.org/officeDocument/2006/relationships/notesSlide" Target="/ppt/notesSlides/notesSlide8.xml" Id="Rabf55cda2e5f40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9f556ab07d42ed" /><Relationship Type="http://schemas.openxmlformats.org/officeDocument/2006/relationships/notesSlide" Target="/ppt/notesSlides/notesSlide9.xml" Id="R0ca739fb44cb4c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d352d9bd4f4d70" /><Relationship Type="http://schemas.openxmlformats.org/officeDocument/2006/relationships/chart" Target="/ppt/slides/charts/chart3.xml" Id="R342f0f22458a4713" /><Relationship Type="http://schemas.openxmlformats.org/officeDocument/2006/relationships/notesSlide" Target="/ppt/notesSlides/notesSlide10.xml" Id="Re64c560949d848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126bf3511b443d" /><Relationship Type="http://schemas.openxmlformats.org/officeDocument/2006/relationships/image" Target="/ppt/media/image2.jpeg" Id="Re6675e23edb24279" /><Relationship Type="http://schemas.openxmlformats.org/officeDocument/2006/relationships/image" Target="/ppt/media/image.png" Id="Rf5e65bf2aee9415d" /><Relationship Type="http://schemas.openxmlformats.org/officeDocument/2006/relationships/notesSlide" Target="/ppt/notesSlides/notesSlide11.xml" Id="R5ac251d71d5944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09b64d6c1c4d55" /><Relationship Type="http://schemas.openxmlformats.org/officeDocument/2006/relationships/chart" Target="/ppt/slides/charts/chart4.xml" Id="Rced8ab231df049a6" /><Relationship Type="http://schemas.openxmlformats.org/officeDocument/2006/relationships/notesSlide" Target="/ppt/notesSlides/notesSlide12.xml" Id="Rd41f8eeb787b45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d3121b57f404de0" /><Relationship Type="http://schemas.openxmlformats.org/officeDocument/2006/relationships/notesSlide" Target="/ppt/notesSlides/notesSlide13.xml" Id="R16e3ee4437fd42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60ef53370b4c51" /><Relationship Type="http://schemas.openxmlformats.org/officeDocument/2006/relationships/chart" Target="/ppt/slides/charts/chart5.xml" Id="R1ea706e716fd45aa" /><Relationship Type="http://schemas.openxmlformats.org/officeDocument/2006/relationships/chart" Target="/ppt/slides/charts/chart6.xml" Id="R8d70e9d8fe8b460f" /><Relationship Type="http://schemas.openxmlformats.org/officeDocument/2006/relationships/notesSlide" Target="/ppt/notesSlides/notesSlide14.xml" Id="R1dbeb0b093b149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8287edbcc949a1" /><Relationship Type="http://schemas.openxmlformats.org/officeDocument/2006/relationships/notesSlide" Target="/ppt/notesSlides/notesSlide15.xml" Id="R895efd42f48643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37f54f61da74218" /><Relationship Type="http://schemas.openxmlformats.org/officeDocument/2006/relationships/notesSlide" Target="/ppt/notesSlides/notesSlide16.xml" Id="R0b665a8e55b449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05749933a24cff" /><Relationship Type="http://schemas.openxmlformats.org/officeDocument/2006/relationships/notesSlide" Target="/ppt/notesSlides/notesSlide17.xml" Id="Re0b071feebd3494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882eae83bf5418d" /><Relationship Type="http://schemas.openxmlformats.org/officeDocument/2006/relationships/hyperlink" Target="https://burrsettles.com/pub/settles.activelearning.pdf" TargetMode="External" Id="R73ebe8d26a634598" /><Relationship Type="http://schemas.openxmlformats.org/officeDocument/2006/relationships/hyperlink" Target="https://arxiv.org/abs/1708.00489" TargetMode="External" Id="R60882e1fe80c4be9" /><Relationship Type="http://schemas.openxmlformats.org/officeDocument/2006/relationships/hyperlink" Target="https://arxiv.org/abs/2002.09564" TargetMode="External" Id="R3807eed095a348c0" /><Relationship Type="http://schemas.openxmlformats.org/officeDocument/2006/relationships/hyperlink" Target="https://arxiv.org/abs/2012.02544" TargetMode="External" Id="Rcaa2c954fdea460f" /><Relationship Type="http://schemas.openxmlformats.org/officeDocument/2006/relationships/hyperlink" Target="https://arxiv.org/abs/2511.21631" TargetMode="External" Id="Rf78beeee60a243ee" /><Relationship Type="http://schemas.openxmlformats.org/officeDocument/2006/relationships/hyperlink" Target="https://arxiv.org/abs/2601.14251" TargetMode="External" Id="Rea4f0d4bf0ce4daf" /><Relationship Type="http://schemas.openxmlformats.org/officeDocument/2006/relationships/hyperlink" Target="https://zenodo.org/records/1297399" TargetMode="External" Id="Ra9ab89c7f8cf4434" /><Relationship Type="http://schemas.openxmlformats.org/officeDocument/2006/relationships/hyperlink" Target="https://github.com/bbryant824/ocr-finetuning/blob/main/results/README.md" TargetMode="External" Id="Rce4ee1f5a110459c" /><Relationship Type="http://schemas.openxmlformats.org/officeDocument/2006/relationships/notesSlide" Target="/ppt/notesSlides/notesSlide18.xml" Id="R17e461898e8b4b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CER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LightOnOCR 1B</c:v>
          </c:tx>
          <c:spPr>
            <a:solidFill xmlns:a="http://schemas.openxmlformats.org/drawingml/2006/main">
              <a:srgbClr val="3265AF"/>
            </a:solidFill>
            <a:ln xmlns:a="http://schemas.openxmlformats.org/drawingml/2006/main" w="28575">
              <a:solidFill>
                <a:srgbClr val="3265AF"/>
              </a:solidFill>
            </a:ln>
          </c:spPr>
          <c:marker>
            <c:symbol val="circle"/>
            <c:size val="7"/>
            <c:spPr>
              <a:solidFill xmlns:a="http://schemas.openxmlformats.org/drawingml/2006/main">
                <a:srgbClr val="3265AF"/>
              </a:solidFill>
            </c:spPr>
          </c:marker>
          <c:cat>
            <c:numRef>
              <c:f>'Chart Data'!$A$2:$A$5</c:f>
              <c:numCache>
                <c:formatCode>General</c:formatCode>
                <c:ptCount val="4"/>
                <c:pt idx="0">
                  <c:v>0</c:v>
                </c:pt>
                <c:pt idx="1">
                  <c:v>64</c:v>
                </c:pt>
                <c:pt idx="2">
                  <c:v>128</c:v>
                </c:pt>
                <c:pt idx="3">
                  <c:v>192</c:v>
                </c:pt>
              </c:numCache>
            </c:numRef>
          </c:cat>
          <c:val>
            <c:numRef>
              <c:f>'Chart Data'!$B$2:$B$5</c:f>
              <c:numCache>
                <c:formatCode>0.0</c:formatCode>
                <c:ptCount val="4"/>
                <c:pt idx="0">
                  <c:v>0.7812</c:v>
                </c:pt>
                <c:pt idx="1">
                  <c:v>0.5683</c:v>
                </c:pt>
                <c:pt idx="2">
                  <c:v>0.3625</c:v>
                </c:pt>
                <c:pt idx="3">
                  <c:v>0.2161</c:v>
                </c:pt>
              </c:numCache>
            </c:numRef>
          </c:val>
          <c:smooth val="0"/>
        </c:ser>
        <c:ser>
          <c:idx val="1"/>
          <c:order val="1"/>
          <c:tx>
            <c:v>Qwen 4B</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Data'!$C$2:$C$5</c:f>
              <c:numCache>
                <c:formatCode>General</c:formatCode>
                <c:ptCount val="4"/>
                <c:pt idx="0">
                  <c:v>0</c:v>
                </c:pt>
                <c:pt idx="1">
                  <c:v>64</c:v>
                </c:pt>
                <c:pt idx="2">
                  <c:v>128</c:v>
                </c:pt>
                <c:pt idx="3">
                  <c:v>192</c:v>
                </c:pt>
              </c:numCache>
            </c:numRef>
          </c:cat>
          <c:val>
            <c:numRef>
              <c:f>'Chart Data'!$D$2:$D$5</c:f>
              <c:numCache>
                <c:formatCode>0.0</c:formatCode>
                <c:ptCount val="4"/>
                <c:pt idx="0">
                  <c:v>0.7902</c:v>
                </c:pt>
                <c:pt idx="1">
                  <c:v>0.5025</c:v>
                </c:pt>
                <c:pt idx="2">
                  <c:v>0.2946</c:v>
                </c:pt>
                <c:pt idx="3">
                  <c:v>0.2112</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WER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LightOnOCR 1B</c:v>
          </c:tx>
          <c:spPr>
            <a:solidFill xmlns:a="http://schemas.openxmlformats.org/drawingml/2006/main">
              <a:srgbClr val="3265AF"/>
            </a:solidFill>
            <a:ln xmlns:a="http://schemas.openxmlformats.org/drawingml/2006/main" w="28575">
              <a:solidFill>
                <a:srgbClr val="3265AF"/>
              </a:solidFill>
            </a:ln>
          </c:spPr>
          <c:marker>
            <c:symbol val="circle"/>
            <c:size val="7"/>
            <c:spPr>
              <a:solidFill xmlns:a="http://schemas.openxmlformats.org/drawingml/2006/main">
                <a:srgbClr val="3265AF"/>
              </a:solidFill>
            </c:spPr>
          </c:marker>
          <c:cat>
            <c:numRef>
              <c:f>'Chart Data'!$A$2:$A$5</c:f>
              <c:numCache>
                <c:formatCode>General</c:formatCode>
                <c:ptCount val="4"/>
                <c:pt idx="0">
                  <c:v>0</c:v>
                </c:pt>
                <c:pt idx="1">
                  <c:v>64</c:v>
                </c:pt>
                <c:pt idx="2">
                  <c:v>128</c:v>
                </c:pt>
                <c:pt idx="3">
                  <c:v>192</c:v>
                </c:pt>
              </c:numCache>
            </c:numRef>
          </c:cat>
          <c:val>
            <c:numRef>
              <c:f>'Chart Data'!$B$2:$B$5</c:f>
              <c:numCache>
                <c:formatCode>0.0</c:formatCode>
                <c:ptCount val="4"/>
                <c:pt idx="0">
                  <c:v>1.1155</c:v>
                </c:pt>
                <c:pt idx="1">
                  <c:v>0.972</c:v>
                </c:pt>
                <c:pt idx="2">
                  <c:v>0.8164</c:v>
                </c:pt>
                <c:pt idx="3">
                  <c:v>0.6179</c:v>
                </c:pt>
              </c:numCache>
            </c:numRef>
          </c:val>
          <c:smooth val="0"/>
        </c:ser>
        <c:ser>
          <c:idx val="1"/>
          <c:order val="1"/>
          <c:tx>
            <c:v>Qwen 4B</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Data'!$C$2:$C$5</c:f>
              <c:numCache>
                <c:formatCode>General</c:formatCode>
                <c:ptCount val="4"/>
                <c:pt idx="0">
                  <c:v>0</c:v>
                </c:pt>
                <c:pt idx="1">
                  <c:v>64</c:v>
                </c:pt>
                <c:pt idx="2">
                  <c:v>128</c:v>
                </c:pt>
                <c:pt idx="3">
                  <c:v>192</c:v>
                </c:pt>
              </c:numCache>
            </c:numRef>
          </c:cat>
          <c:val>
            <c:numRef>
              <c:f>'Chart Data'!$D$2:$D$5</c:f>
              <c:numCache>
                <c:formatCode>0.0</c:formatCode>
                <c:ptCount val="4"/>
                <c:pt idx="0">
                  <c:v>1.0019</c:v>
                </c:pt>
                <c:pt idx="1">
                  <c:v>0.8643</c:v>
                </c:pt>
                <c:pt idx="2">
                  <c:v>0.6841</c:v>
                </c:pt>
                <c:pt idx="3">
                  <c:v>0.5589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Mean paired ΔCER (pp)</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barChart>
        <c:barDir val="col"/>
        <c:grouping val="clustered"/>
        <c:varyColors val="0"/>
        <c:ser>
          <c:idx val="0"/>
          <c:order val="0"/>
          <c:tx>
            <c:v>K-center</c:v>
          </c:tx>
          <c:spPr>
            <a:solidFill xmlns:a="http://schemas.openxmlformats.org/drawingml/2006/main">
              <a:srgbClr val="C77920"/>
            </a:solidFill>
            <a:ln xmlns:a="http://schemas.openxmlformats.org/drawingml/2006/main" w="28575">
              <a:solidFill>
                <a:srgbClr val="C77920"/>
              </a:solidFill>
            </a:ln>
          </c:spPr>
          <c:invertIfNegative val="0"/>
          <c:cat>
            <c:numRef>
              <c:f>'Chart Data'!$A$2:$A$3</c:f>
              <c:numCache>
                <c:formatCode>General</c:formatCode>
                <c:ptCount val="2"/>
                <c:pt idx="0">
                  <c:v>128</c:v>
                </c:pt>
                <c:pt idx="1">
                  <c:v>192</c:v>
                </c:pt>
              </c:numCache>
            </c:numRef>
          </c:cat>
          <c:val>
            <c:numRef>
              <c:f>'Chart Data'!$B$2:$B$3</c:f>
              <c:numCache>
                <c:formatCode>0.0</c:formatCode>
                <c:ptCount val="2"/>
                <c:pt idx="0">
                  <c:v>0.602</c:v>
                </c:pt>
                <c:pt idx="1">
                  <c:v>-0.4534</c:v>
                </c:pt>
              </c:numCache>
            </c:numRef>
          </c:val>
        </c:ser>
        <c:ser>
          <c:idx val="1"/>
          <c:order val="1"/>
          <c:tx>
            <c:v>Entropy</c:v>
          </c:tx>
          <c:spPr>
            <a:solidFill xmlns:a="http://schemas.openxmlformats.org/drawingml/2006/main">
              <a:srgbClr val="008A87"/>
            </a:solidFill>
            <a:ln xmlns:a="http://schemas.openxmlformats.org/drawingml/2006/main" w="28575">
              <a:solidFill>
                <a:srgbClr val="008A87"/>
              </a:solidFill>
            </a:ln>
          </c:spPr>
          <c:invertIfNegative val="0"/>
          <c:cat>
            <c:numRef>
              <c:f>'Chart Data'!$C$2:$C$3</c:f>
              <c:numCache>
                <c:formatCode>General</c:formatCode>
                <c:ptCount val="2"/>
                <c:pt idx="0">
                  <c:v>128</c:v>
                </c:pt>
                <c:pt idx="1">
                  <c:v>192</c:v>
                </c:pt>
              </c:numCache>
            </c:numRef>
          </c:cat>
          <c:val>
            <c:numRef>
              <c:f>'Chart Data'!$D$2:$D$3</c:f>
              <c:numCache>
                <c:formatCode>0.0</c:formatCode>
                <c:ptCount val="2"/>
                <c:pt idx="0">
                  <c:v>-1.0347</c:v>
                </c:pt>
                <c:pt idx="1">
                  <c:v>0.0753</c:v>
                </c:pt>
              </c:numCache>
            </c:numRef>
          </c:val>
        </c:ser>
        <c:ser>
          <c:idx val="2"/>
          <c:order val="2"/>
          <c:tx>
            <c:v>Least confidence</c:v>
          </c:tx>
          <c:spPr>
            <a:solidFill xmlns:a="http://schemas.openxmlformats.org/drawingml/2006/main">
              <a:srgbClr val="8552A0"/>
            </a:solidFill>
            <a:ln xmlns:a="http://schemas.openxmlformats.org/drawingml/2006/main" w="28575">
              <a:solidFill>
                <a:srgbClr val="8552A0"/>
              </a:solidFill>
            </a:ln>
          </c:spPr>
          <c:invertIfNegative val="0"/>
          <c:cat>
            <c:numRef>
              <c:f>'Chart Data'!$E$2:$E$3</c:f>
              <c:numCache>
                <c:formatCode>General</c:formatCode>
                <c:ptCount val="2"/>
                <c:pt idx="0">
                  <c:v>128</c:v>
                </c:pt>
                <c:pt idx="1">
                  <c:v>192</c:v>
                </c:pt>
              </c:numCache>
            </c:numRef>
          </c:cat>
          <c:val>
            <c:numRef>
              <c:f>'Chart Data'!$F$2:$F$3</c:f>
              <c:numCache>
                <c:formatCode>0.0</c:formatCode>
                <c:ptCount val="2"/>
                <c:pt idx="0">
                  <c:v>1.3433</c:v>
                </c:pt>
                <c:pt idx="1">
                  <c:v>-0.412</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11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2"/>
          <c:min val="-2"/>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Character error rate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Random · known boxes</c:v>
          </c:tx>
          <c:spPr>
            <a:solidFill xmlns:a="http://schemas.openxmlformats.org/drawingml/2006/main">
              <a:srgbClr val="3F5263"/>
            </a:solidFill>
            <a:ln xmlns:a="http://schemas.openxmlformats.org/drawingml/2006/main" w="28575">
              <a:solidFill>
                <a:srgbClr val="3F5263"/>
              </a:solidFill>
            </a:ln>
          </c:spPr>
          <c:marker>
            <c:symbol val="circle"/>
            <c:size val="7"/>
            <c:spPr>
              <a:solidFill xmlns:a="http://schemas.openxmlformats.org/drawingml/2006/main">
                <a:srgbClr val="3F5263"/>
              </a:solidFill>
            </c:spPr>
          </c:marker>
          <c:cat>
            <c:numRef>
              <c:f>'Chart Data'!$A$2:$A$5</c:f>
              <c:numCache>
                <c:formatCode>General</c:formatCode>
                <c:ptCount val="4"/>
                <c:pt idx="0">
                  <c:v>0</c:v>
                </c:pt>
                <c:pt idx="1">
                  <c:v>64</c:v>
                </c:pt>
                <c:pt idx="2">
                  <c:v>128</c:v>
                </c:pt>
                <c:pt idx="3">
                  <c:v>192</c:v>
                </c:pt>
              </c:numCache>
            </c:numRef>
          </c:cat>
          <c:val>
            <c:numRef>
              <c:f>'Chart Data'!$B$2:$B$5</c:f>
              <c:numCache>
                <c:formatCode>0.0</c:formatCode>
                <c:ptCount val="4"/>
                <c:pt idx="0">
                  <c:v>0.803646</c:v>
                </c:pt>
                <c:pt idx="1">
                  <c:v>0.189807</c:v>
                </c:pt>
                <c:pt idx="2">
                  <c:v>0.1227</c:v>
                </c:pt>
                <c:pt idx="3">
                  <c:v>0.094367</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CER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Random</c:v>
          </c:tx>
          <c:spPr>
            <a:solidFill xmlns:a="http://schemas.openxmlformats.org/drawingml/2006/main">
              <a:srgbClr val="3F5263"/>
            </a:solidFill>
            <a:ln xmlns:a="http://schemas.openxmlformats.org/drawingml/2006/main" w="28575">
              <a:solidFill>
                <a:srgbClr val="3F5263"/>
              </a:solidFill>
            </a:ln>
          </c:spPr>
          <c:marker>
            <c:symbol val="circle"/>
            <c:size val="7"/>
            <c:spPr>
              <a:solidFill xmlns:a="http://schemas.openxmlformats.org/drawingml/2006/main">
                <a:srgbClr val="3F5263"/>
              </a:solidFill>
            </c:spPr>
          </c:marker>
          <c:cat>
            <c:numRef>
              <c:f>'Chart Data'!$A$2:$A$5</c:f>
              <c:numCache>
                <c:formatCode>General</c:formatCode>
                <c:ptCount val="4"/>
                <c:pt idx="0">
                  <c:v>0</c:v>
                </c:pt>
                <c:pt idx="1">
                  <c:v>24</c:v>
                </c:pt>
                <c:pt idx="2">
                  <c:v>48</c:v>
                </c:pt>
                <c:pt idx="3">
                  <c:v>72</c:v>
                </c:pt>
              </c:numCache>
            </c:numRef>
          </c:cat>
          <c:val>
            <c:numRef>
              <c:f>'Chart Data'!$B$2:$B$5</c:f>
              <c:numCache>
                <c:formatCode>0.0</c:formatCode>
                <c:ptCount val="4"/>
                <c:pt idx="0">
                  <c:v>0.803646</c:v>
                </c:pt>
                <c:pt idx="1">
                  <c:v>0.410374</c:v>
                </c:pt>
                <c:pt idx="2">
                  <c:v>0.235749</c:v>
                </c:pt>
                <c:pt idx="3">
                  <c:v>0.17502</c:v>
                </c:pt>
              </c:numCache>
            </c:numRef>
          </c:val>
          <c:smooth val="0"/>
        </c:ser>
        <c:ser>
          <c:idx val="1"/>
          <c:order val="1"/>
          <c:tx>
            <c:v>K-center</c:v>
          </c:tx>
          <c:spPr>
            <a:solidFill xmlns:a="http://schemas.openxmlformats.org/drawingml/2006/main">
              <a:srgbClr val="C77920"/>
            </a:solidFill>
            <a:ln xmlns:a="http://schemas.openxmlformats.org/drawingml/2006/main" w="28575">
              <a:solidFill>
                <a:srgbClr val="C77920"/>
              </a:solidFill>
            </a:ln>
          </c:spPr>
          <c:marker>
            <c:symbol val="circle"/>
            <c:size val="7"/>
            <c:spPr>
              <a:solidFill xmlns:a="http://schemas.openxmlformats.org/drawingml/2006/main">
                <a:srgbClr val="C77920"/>
              </a:solidFill>
            </c:spPr>
          </c:marker>
          <c:cat>
            <c:numRef>
              <c:f>'Chart Data'!$C$2:$C$5</c:f>
              <c:numCache>
                <c:formatCode>General</c:formatCode>
                <c:ptCount val="4"/>
                <c:pt idx="0">
                  <c:v>0</c:v>
                </c:pt>
                <c:pt idx="1">
                  <c:v>24</c:v>
                </c:pt>
                <c:pt idx="2">
                  <c:v>48</c:v>
                </c:pt>
                <c:pt idx="3">
                  <c:v>72</c:v>
                </c:pt>
              </c:numCache>
            </c:numRef>
          </c:cat>
          <c:val>
            <c:numRef>
              <c:f>'Chart Data'!$D$2:$D$5</c:f>
              <c:numCache>
                <c:formatCode>0.0</c:formatCode>
                <c:ptCount val="4"/>
                <c:pt idx="0">
                  <c:v>0.803646</c:v>
                </c:pt>
                <c:pt idx="1">
                  <c:v>0.446947</c:v>
                </c:pt>
                <c:pt idx="2">
                  <c:v>0.257365</c:v>
                </c:pt>
                <c:pt idx="3">
                  <c:v>0.183768</c:v>
                </c:pt>
              </c:numCache>
            </c:numRef>
          </c:val>
          <c:smooth val="0"/>
        </c:ser>
        <c:ser>
          <c:idx val="2"/>
          <c:order val="2"/>
          <c:tx>
            <c:v>Entropy</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Data'!$E$2:$E$5</c:f>
              <c:numCache>
                <c:formatCode>General</c:formatCode>
                <c:ptCount val="4"/>
                <c:pt idx="0">
                  <c:v>0</c:v>
                </c:pt>
                <c:pt idx="1">
                  <c:v>24</c:v>
                </c:pt>
                <c:pt idx="2">
                  <c:v>48</c:v>
                </c:pt>
                <c:pt idx="3">
                  <c:v>72</c:v>
                </c:pt>
              </c:numCache>
            </c:numRef>
          </c:cat>
          <c:val>
            <c:numRef>
              <c:f>'Chart Data'!$F$2:$F$5</c:f>
              <c:numCache>
                <c:formatCode>0.0</c:formatCode>
                <c:ptCount val="4"/>
                <c:pt idx="0">
                  <c:v>0.803646</c:v>
                </c:pt>
                <c:pt idx="1">
                  <c:v>0.355909</c:v>
                </c:pt>
                <c:pt idx="2">
                  <c:v>0.240038</c:v>
                </c:pt>
                <c:pt idx="3">
                  <c:v>0.178068</c:v>
                </c:pt>
              </c:numCache>
            </c:numRef>
          </c:val>
          <c:smooth val="0"/>
        </c:ser>
        <c:ser>
          <c:idx val="3"/>
          <c:order val="3"/>
          <c:tx>
            <c:v>Least confidence</c:v>
          </c:tx>
          <c:spPr>
            <a:solidFill xmlns:a="http://schemas.openxmlformats.org/drawingml/2006/main">
              <a:srgbClr val="8552A0"/>
            </a:solidFill>
            <a:ln xmlns:a="http://schemas.openxmlformats.org/drawingml/2006/main" w="28575">
              <a:solidFill>
                <a:srgbClr val="8552A0"/>
              </a:solidFill>
            </a:ln>
          </c:spPr>
          <c:marker>
            <c:symbol val="circle"/>
            <c:size val="7"/>
            <c:spPr>
              <a:solidFill xmlns:a="http://schemas.openxmlformats.org/drawingml/2006/main">
                <a:srgbClr val="8552A0"/>
              </a:solidFill>
            </c:spPr>
          </c:marker>
          <c:cat>
            <c:numRef>
              <c:f>'Chart Data'!$G$2:$G$5</c:f>
              <c:numCache>
                <c:formatCode>General</c:formatCode>
                <c:ptCount val="4"/>
                <c:pt idx="0">
                  <c:v>0</c:v>
                </c:pt>
                <c:pt idx="1">
                  <c:v>24</c:v>
                </c:pt>
                <c:pt idx="2">
                  <c:v>48</c:v>
                </c:pt>
                <c:pt idx="3">
                  <c:v>72</c:v>
                </c:pt>
              </c:numCache>
            </c:numRef>
          </c:cat>
          <c:val>
            <c:numRef>
              <c:f>'Chart Data'!$H$2:$H$5</c:f>
              <c:numCache>
                <c:formatCode>0.0</c:formatCode>
                <c:ptCount val="4"/>
                <c:pt idx="0">
                  <c:v>0.803646</c:v>
                </c:pt>
                <c:pt idx="1">
                  <c:v>0.374026</c:v>
                </c:pt>
                <c:pt idx="2">
                  <c:v>0.243876</c:v>
                </c:pt>
                <c:pt idx="3">
                  <c:v>0.188114</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52C40"/>
                </a:solidFill>
                <a:latin typeface="Helvetica Neue"/>
                <a:ea typeface="Helvetica Neue"/>
                <a:cs typeface="Helvetica Neue"/>
              </a:rPr>
              <a:t>WER ↓</a:t>
            </a:r>
          </a:p>
        </c:rich>
      </c:tx>
      <c:overlay val="0"/>
      <c:txPr>
        <a:bodyPr xmlns:a="http://schemas.openxmlformats.org/drawingml/2006/main" anchorCtr="1"/>
        <a:lstStyle xmlns:a="http://schemas.openxmlformats.org/drawingml/2006/main"/>
        <a:p xmlns:a="http://schemas.openxmlformats.org/drawingml/2006/main">
          <a:pPr>
            <a:defRPr sz="1950" b="1">
              <a:solidFill>
                <a:srgbClr val="152C40"/>
              </a:solidFill>
              <a:latin typeface="Helvetica Neue"/>
              <a:ea typeface="Helvetica Neue"/>
              <a:cs typeface="Helvetica Neue"/>
            </a:defRPr>
          </a:pPr>
        </a:p>
      </c:txPr>
    </c:title>
    <c:plotArea>
      <c:lineChart>
        <c:grouping val="standard"/>
        <c:varyColors val="0"/>
        <c:ser>
          <c:idx val="0"/>
          <c:order val="0"/>
          <c:tx>
            <c:v>Random</c:v>
          </c:tx>
          <c:spPr>
            <a:solidFill xmlns:a="http://schemas.openxmlformats.org/drawingml/2006/main">
              <a:srgbClr val="3F5263"/>
            </a:solidFill>
            <a:ln xmlns:a="http://schemas.openxmlformats.org/drawingml/2006/main" w="28575">
              <a:solidFill>
                <a:srgbClr val="3F5263"/>
              </a:solidFill>
            </a:ln>
          </c:spPr>
          <c:marker>
            <c:symbol val="circle"/>
            <c:size val="7"/>
            <c:spPr>
              <a:solidFill xmlns:a="http://schemas.openxmlformats.org/drawingml/2006/main">
                <a:srgbClr val="3F5263"/>
              </a:solidFill>
            </c:spPr>
          </c:marker>
          <c:cat>
            <c:numRef>
              <c:f>'Chart Data'!$A$2:$A$5</c:f>
              <c:numCache>
                <c:formatCode>General</c:formatCode>
                <c:ptCount val="4"/>
                <c:pt idx="0">
                  <c:v>0</c:v>
                </c:pt>
                <c:pt idx="1">
                  <c:v>24</c:v>
                </c:pt>
                <c:pt idx="2">
                  <c:v>48</c:v>
                </c:pt>
                <c:pt idx="3">
                  <c:v>72</c:v>
                </c:pt>
              </c:numCache>
            </c:numRef>
          </c:cat>
          <c:val>
            <c:numRef>
              <c:f>'Chart Data'!$B$2:$B$5</c:f>
              <c:numCache>
                <c:formatCode>0.0</c:formatCode>
                <c:ptCount val="4"/>
                <c:pt idx="0">
                  <c:v>1.087103</c:v>
                </c:pt>
                <c:pt idx="1">
                  <c:v>0.825421</c:v>
                </c:pt>
                <c:pt idx="2">
                  <c:v>0.644486</c:v>
                </c:pt>
                <c:pt idx="3">
                  <c:v>0.552897</c:v>
                </c:pt>
              </c:numCache>
            </c:numRef>
          </c:val>
          <c:smooth val="0"/>
        </c:ser>
        <c:ser>
          <c:idx val="1"/>
          <c:order val="1"/>
          <c:tx>
            <c:v>K-center</c:v>
          </c:tx>
          <c:spPr>
            <a:solidFill xmlns:a="http://schemas.openxmlformats.org/drawingml/2006/main">
              <a:srgbClr val="C77920"/>
            </a:solidFill>
            <a:ln xmlns:a="http://schemas.openxmlformats.org/drawingml/2006/main" w="28575">
              <a:solidFill>
                <a:srgbClr val="C77920"/>
              </a:solidFill>
            </a:ln>
          </c:spPr>
          <c:marker>
            <c:symbol val="circle"/>
            <c:size val="7"/>
            <c:spPr>
              <a:solidFill xmlns:a="http://schemas.openxmlformats.org/drawingml/2006/main">
                <a:srgbClr val="C77920"/>
              </a:solidFill>
            </c:spPr>
          </c:marker>
          <c:cat>
            <c:numRef>
              <c:f>'Chart Data'!$C$2:$C$5</c:f>
              <c:numCache>
                <c:formatCode>General</c:formatCode>
                <c:ptCount val="4"/>
                <c:pt idx="0">
                  <c:v>0</c:v>
                </c:pt>
                <c:pt idx="1">
                  <c:v>24</c:v>
                </c:pt>
                <c:pt idx="2">
                  <c:v>48</c:v>
                </c:pt>
                <c:pt idx="3">
                  <c:v>72</c:v>
                </c:pt>
              </c:numCache>
            </c:numRef>
          </c:cat>
          <c:val>
            <c:numRef>
              <c:f>'Chart Data'!$D$2:$D$5</c:f>
              <c:numCache>
                <c:formatCode>0.0</c:formatCode>
                <c:ptCount val="4"/>
                <c:pt idx="0">
                  <c:v>1.087103</c:v>
                </c:pt>
                <c:pt idx="1">
                  <c:v>0.852336</c:v>
                </c:pt>
                <c:pt idx="2">
                  <c:v>0.666168</c:v>
                </c:pt>
                <c:pt idx="3">
                  <c:v>0.566355</c:v>
                </c:pt>
              </c:numCache>
            </c:numRef>
          </c:val>
          <c:smooth val="0"/>
        </c:ser>
        <c:ser>
          <c:idx val="2"/>
          <c:order val="2"/>
          <c:tx>
            <c:v>Entropy</c:v>
          </c:tx>
          <c:spPr>
            <a:solidFill xmlns:a="http://schemas.openxmlformats.org/drawingml/2006/main">
              <a:srgbClr val="008A87"/>
            </a:solidFill>
            <a:ln xmlns:a="http://schemas.openxmlformats.org/drawingml/2006/main" w="28575">
              <a:solidFill>
                <a:srgbClr val="008A87"/>
              </a:solidFill>
            </a:ln>
          </c:spPr>
          <c:marker>
            <c:symbol val="circle"/>
            <c:size val="7"/>
            <c:spPr>
              <a:solidFill xmlns:a="http://schemas.openxmlformats.org/drawingml/2006/main">
                <a:srgbClr val="008A87"/>
              </a:solidFill>
            </c:spPr>
          </c:marker>
          <c:cat>
            <c:numRef>
              <c:f>'Chart Data'!$E$2:$E$5</c:f>
              <c:numCache>
                <c:formatCode>General</c:formatCode>
                <c:ptCount val="4"/>
                <c:pt idx="0">
                  <c:v>0</c:v>
                </c:pt>
                <c:pt idx="1">
                  <c:v>24</c:v>
                </c:pt>
                <c:pt idx="2">
                  <c:v>48</c:v>
                </c:pt>
                <c:pt idx="3">
                  <c:v>72</c:v>
                </c:pt>
              </c:numCache>
            </c:numRef>
          </c:cat>
          <c:val>
            <c:numRef>
              <c:f>'Chart Data'!$F$2:$F$5</c:f>
              <c:numCache>
                <c:formatCode>0.0</c:formatCode>
                <c:ptCount val="4"/>
                <c:pt idx="0">
                  <c:v>1.087103</c:v>
                </c:pt>
                <c:pt idx="1">
                  <c:v>0.79514</c:v>
                </c:pt>
                <c:pt idx="2">
                  <c:v>0.666542</c:v>
                </c:pt>
                <c:pt idx="3">
                  <c:v>0.559252</c:v>
                </c:pt>
              </c:numCache>
            </c:numRef>
          </c:val>
          <c:smooth val="0"/>
        </c:ser>
        <c:ser>
          <c:idx val="3"/>
          <c:order val="3"/>
          <c:tx>
            <c:v>Least confidence</c:v>
          </c:tx>
          <c:spPr>
            <a:solidFill xmlns:a="http://schemas.openxmlformats.org/drawingml/2006/main">
              <a:srgbClr val="8552A0"/>
            </a:solidFill>
            <a:ln xmlns:a="http://schemas.openxmlformats.org/drawingml/2006/main" w="28575">
              <a:solidFill>
                <a:srgbClr val="8552A0"/>
              </a:solidFill>
            </a:ln>
          </c:spPr>
          <c:marker>
            <c:symbol val="circle"/>
            <c:size val="7"/>
            <c:spPr>
              <a:solidFill xmlns:a="http://schemas.openxmlformats.org/drawingml/2006/main">
                <a:srgbClr val="8552A0"/>
              </a:solidFill>
            </c:spPr>
          </c:marker>
          <c:cat>
            <c:numRef>
              <c:f>'Chart Data'!$G$2:$G$5</c:f>
              <c:numCache>
                <c:formatCode>General</c:formatCode>
                <c:ptCount val="4"/>
                <c:pt idx="0">
                  <c:v>0</c:v>
                </c:pt>
                <c:pt idx="1">
                  <c:v>24</c:v>
                </c:pt>
                <c:pt idx="2">
                  <c:v>48</c:v>
                </c:pt>
                <c:pt idx="3">
                  <c:v>72</c:v>
                </c:pt>
              </c:numCache>
            </c:numRef>
          </c:cat>
          <c:val>
            <c:numRef>
              <c:f>'Chart Data'!$H$2:$H$5</c:f>
              <c:numCache>
                <c:formatCode>0.0</c:formatCode>
                <c:ptCount val="4"/>
                <c:pt idx="0">
                  <c:v>1.087103</c:v>
                </c:pt>
                <c:pt idx="1">
                  <c:v>0.796262</c:v>
                </c:pt>
                <c:pt idx="2">
                  <c:v>0.665047</c:v>
                </c:pt>
                <c:pt idx="3">
                  <c:v>0.571589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Labelled TRAIN pages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4E8"/>
            </a:solidFill>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DCE4E8"/>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776"/>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2C40"/>
              </a:solidFill>
              <a:latin typeface="Helvetica Neue"/>
              <a:ea typeface="Helvetica Neue"/>
              <a:cs typeface="Helvetica Neue"/>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C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1886E6-CFF6-4421-B7A7-159F6EEDA0EF}"/>
              </a:ext>
            </a:extLst>
          </p:cNvPr>
          <p:cNvSpPr>
            <a:spLocks xmlns:a="http://schemas.openxmlformats.org/drawingml/2006/main" noGrp="1"/>
          </p:cNvSpPr>
          <p:nvPr/>
        </p:nvSpPr>
        <p:spPr>
          <a:xfrm xmlns:a="http://schemas.openxmlformats.org/drawingml/2006/main">
            <a:off x="66675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8ED7D2"/>
                </a:solidFill>
                <a:latin typeface="Helvetica Neue"/>
                <a:ea typeface="Helvetica Neue"/>
                <a:cs typeface="Helvetica Neue"/>
              </a:defRPr>
            </a:pPr>
            <a:r>
              <a:rPr sz="1575" b="1">
                <a:solidFill>
                  <a:srgbClr val="8ED7D2"/>
                </a:solidFill>
                <a:latin typeface="Helvetica Neue"/>
                <a:ea typeface="Helvetica Neue"/>
                <a:cs typeface="Helvetica Neue"/>
              </a:rPr>
              <a:t>FYP RESEARCH PROGRESS · 27 SEPTEMBER 2026</a:t>
            </a:r>
          </a:p>
        </p:txBody>
      </p:sp>
      <p:sp>
        <p:nvSpPr>
          <p:cNvPr id="2" name="">
            <a:extLst xmlns:a="http://schemas.openxmlformats.org/drawingml/2006/main">
              <a:ext uri="{FF2B5EF4-FFF2-40B4-BE49-F238E27FC236}">
                <a16:creationId xmlns:a16="http://schemas.microsoft.com/office/drawing/2014/main" id="{B630C3EA-0FBC-44C4-842B-4F18BE05F92C}"/>
              </a:ext>
            </a:extLst>
          </p:cNvPr>
          <p:cNvSpPr>
            <a:spLocks xmlns:a="http://schemas.openxmlformats.org/drawingml/2006/main" noGrp="1"/>
          </p:cNvSpPr>
          <p:nvPr/>
        </p:nvSpPr>
        <p:spPr>
          <a:xfrm xmlns:a="http://schemas.openxmlformats.org/drawingml/2006/main">
            <a:off x="666750" y="1619250"/>
            <a:ext cx="1038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Active learning for</a:t>
            </a:r>
          </a:p>
          <a:p xmlns:a="http://schemas.openxmlformats.org/drawingml/2006/main">
            <a:pPr algn="l">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historical OCR</a:t>
            </a:r>
          </a:p>
        </p:txBody>
      </p:sp>
      <p:sp>
        <p:nvSpPr>
          <p:cNvPr id="3" name="">
            <a:extLst xmlns:a="http://schemas.openxmlformats.org/drawingml/2006/main">
              <a:ext uri="{FF2B5EF4-FFF2-40B4-BE49-F238E27FC236}">
                <a16:creationId xmlns:a16="http://schemas.microsoft.com/office/drawing/2014/main" id="{77308C6B-F7C5-4E2F-A1B1-97ED2460A64A}"/>
              </a:ext>
            </a:extLst>
          </p:cNvPr>
          <p:cNvSpPr>
            <a:spLocks xmlns:a="http://schemas.openxmlformats.org/drawingml/2006/main" noGrp="1"/>
          </p:cNvSpPr>
          <p:nvPr/>
        </p:nvSpPr>
        <p:spPr>
          <a:xfrm xmlns:a="http://schemas.openxmlformats.org/drawingml/2006/main">
            <a:off x="704850" y="3695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DCE8EF"/>
                </a:solidFill>
                <a:latin typeface="Helvetica Neue"/>
                <a:ea typeface="Helvetica Neue"/>
                <a:cs typeface="Helvetica Neue"/>
              </a:defRPr>
            </a:pPr>
            <a:r>
              <a:rPr sz="2250" b="0">
                <a:solidFill>
                  <a:srgbClr val="DCE8EF"/>
                </a:solidFill>
                <a:latin typeface="Helvetica Neue"/>
                <a:ea typeface="Helvetica Neue"/>
                <a:cs typeface="Helvetica Neue"/>
              </a:rPr>
              <a:t>Can better page selection reduce the labelled data needed</a:t>
            </a:r>
          </a:p>
          <a:p xmlns:a="http://schemas.openxmlformats.org/drawingml/2006/main">
            <a:pPr algn="l">
              <a:defRPr sz="2250" b="0">
                <a:solidFill>
                  <a:srgbClr val="DCE8EF"/>
                </a:solidFill>
                <a:latin typeface="Helvetica Neue"/>
                <a:ea typeface="Helvetica Neue"/>
                <a:cs typeface="Helvetica Neue"/>
              </a:defRPr>
            </a:pPr>
            <a:r>
              <a:rPr sz="2250" b="0">
                <a:solidFill>
                  <a:srgbClr val="DCE8EF"/>
                </a:solidFill>
                <a:latin typeface="Helvetica Neue"/>
                <a:ea typeface="Helvetica Neue"/>
                <a:cs typeface="Helvetica Neue"/>
              </a:rPr>
              <a:t>to adapt small vision-language models?</a:t>
            </a:r>
          </a:p>
        </p:txBody>
      </p:sp>
      <p:sp>
        <p:nvSpPr>
          <p:cNvPr id="4" name="">
            <a:extLst xmlns:a="http://schemas.openxmlformats.org/drawingml/2006/main">
              <a:ext uri="{FF2B5EF4-FFF2-40B4-BE49-F238E27FC236}">
                <a16:creationId xmlns:a16="http://schemas.microsoft.com/office/drawing/2014/main" id="{714B7E18-75FB-4053-921F-46B88F819382}"/>
              </a:ext>
            </a:extLst>
          </p:cNvPr>
          <p:cNvSpPr>
            <a:spLocks xmlns:a="http://schemas.openxmlformats.org/drawingml/2006/main" noGrp="1"/>
          </p:cNvSpPr>
          <p:nvPr/>
        </p:nvSpPr>
        <p:spPr>
          <a:xfrm xmlns:a="http://schemas.openxmlformats.org/drawingml/2006/main">
            <a:off x="704850" y="54292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A8BEC9"/>
                </a:solidFill>
                <a:latin typeface="Helvetica Neue"/>
                <a:ea typeface="Helvetica Neue"/>
                <a:cs typeface="Helvetica Neue"/>
              </a:defRPr>
            </a:pPr>
            <a:r>
              <a:rPr sz="1875" b="0">
                <a:solidFill>
                  <a:srgbClr val="A8BEC9"/>
                </a:solidFill>
                <a:latin typeface="Helvetica Neue"/>
                <a:ea typeface="Helvetica Neue"/>
                <a:cs typeface="Helvetica Neue"/>
              </a:rPr>
              <a:t>Evidence through EXP-013 · READ2016 / Bozen</a:t>
            </a:r>
          </a:p>
        </p:txBody>
      </p:sp>
    </p:spTree>
    <p:extLst>
      <p:ext uri="{BB962C8B-B14F-4D97-AF65-F5344CB8AC3E}">
        <p14:creationId xmlns:p14="http://schemas.microsoft.com/office/powerpoint/2010/main" val="1276396367"/>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781572-7D5C-49FD-86DE-8B2A5DD0BECF}"/>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RESEARCH SETUP</a:t>
            </a:r>
          </a:p>
        </p:txBody>
      </p:sp>
      <p:sp>
        <p:nvSpPr>
          <p:cNvPr id="2" name="">
            <a:extLst xmlns:a="http://schemas.openxmlformats.org/drawingml/2006/main">
              <a:ext uri="{FF2B5EF4-FFF2-40B4-BE49-F238E27FC236}">
                <a16:creationId xmlns:a16="http://schemas.microsoft.com/office/drawing/2014/main" id="{794660FA-E635-4134-A9E8-A2DAC48B3954}"/>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Dataset and the unit of annotation</a:t>
            </a:r>
          </a:p>
        </p:txBody>
      </p:sp>
      <p:sp>
        <p:nvSpPr>
          <p:cNvPr id="3" name="">
            <a:extLst xmlns:a="http://schemas.openxmlformats.org/drawingml/2006/main">
              <a:ext uri="{FF2B5EF4-FFF2-40B4-BE49-F238E27FC236}">
                <a16:creationId xmlns:a16="http://schemas.microsoft.com/office/drawing/2014/main" id="{A576519F-773C-4B6D-86CB-9C63C703BDF8}"/>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E24A50D7-5EFF-4915-8276-5764C179D8C8}"/>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Source: READ2016 / Bozen v1.2.0 · Toselli et al. · CC BY 4.0</a:t>
            </a:r>
          </a:p>
        </p:txBody>
      </p:sp>
      <p:sp>
        <p:nvSpPr>
          <p:cNvPr id="5" name="">
            <a:extLst xmlns:a="http://schemas.openxmlformats.org/drawingml/2006/main">
              <a:ext uri="{FF2B5EF4-FFF2-40B4-BE49-F238E27FC236}">
                <a16:creationId xmlns:a16="http://schemas.microsoft.com/office/drawing/2014/main" id="{86D9E194-BBE8-4FC7-85F0-C8E87F5E0183}"/>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980052d96ea4f39"/>
          <a:stretch xmlns:a="http://schemas.openxmlformats.org/drawingml/2006/main"/>
        </p:blipFill>
        <p:spPr>
          <a:xfrm xmlns:a="http://schemas.openxmlformats.org/drawingml/2006/main">
            <a:off x="635051" y="1552575"/>
            <a:ext cx="2873273" cy="43148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B3FE5A7-65B4-4FFD-BCD0-390DBBB231BA}"/>
              </a:ext>
            </a:extLst>
          </p:cNvPr>
          <p:cNvSpPr>
            <a:spLocks xmlns:a="http://schemas.openxmlformats.org/drawingml/2006/main" noGrp="1"/>
          </p:cNvSpPr>
          <p:nvPr/>
        </p:nvSpPr>
        <p:spPr>
          <a:xfrm xmlns:a="http://schemas.openxmlformats.org/drawingml/2006/main">
            <a:off x="3905250" y="158115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C40"/>
                </a:solidFill>
                <a:latin typeface="Helvetica Neue"/>
                <a:ea typeface="Helvetica Neue"/>
                <a:cs typeface="Helvetica Neue"/>
              </a:defRPr>
            </a:pPr>
            <a:r>
              <a:rPr sz="2100" b="1">
                <a:solidFill>
                  <a:srgbClr val="152C40"/>
                </a:solidFill>
                <a:latin typeface="Helvetica Neue"/>
                <a:ea typeface="Helvetica Neue"/>
                <a:cs typeface="Helvetica Neue"/>
              </a:rPr>
              <a:t>Historical German handwriting</a:t>
            </a:r>
          </a:p>
        </p:txBody>
      </p:sp>
      <p:graphicFrame>
        <p:nvGraphicFramePr>
          <p:cNvPr id="19" name=""/>
          <p:cNvGraphicFramePr/>
          <p:nvPr/>
        </p:nvGraphicFramePr>
        <p:xfrm>
          <a:off xmlns:a="http://schemas.openxmlformats.org/drawingml/2006/main" x="3905250" y="2181225"/>
          <a:ext xmlns:a="http://schemas.openxmlformats.org/drawingml/2006/main" cx="7524750" cy="1714500"/>
        </p:xfrm>
        <a:graphic xmlns:a="http://schemas.openxmlformats.org/drawingml/2006/main">
          <a:graphicData uri="http://schemas.openxmlformats.org/drawingml/2006/table">
            <a:tbl>
              <a:tblPr/>
              <a:tblGrid>
                <a:gridCol w="3714750"/>
                <a:gridCol w="1714500"/>
                <a:gridCol w="2095500"/>
              </a:tblGrid>
              <a:tr h="571500">
                <a:tc>
                  <a:txBody>
                    <a:bodyPr/>
                    <a:lstStyle/>
                    <a:p>
                      <a:r>
                        <a:rPr sz="1575" b="1">
                          <a:solidFill>
                            <a:srgbClr val="FFFFFF"/>
                          </a:solidFill>
                          <a:latin typeface="Helvetica Neue"/>
                          <a:ea typeface="Helvetica Neue"/>
                          <a:cs typeface="Helvetica Neue"/>
                        </a:rPr>
                        <a:t>Official split</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Pages</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Text lines</a:t>
                      </a:r>
                    </a:p>
                  </a:txBody>
                  <a:tcPr marL="114300" marR="114300" marT="28575" marB="28575" anchor="ctr">
                    <a:solidFill>
                      <a:srgbClr val="152C40"/>
                    </a:solidFill>
                  </a:tcPr>
                </a:tc>
              </a:tr>
              <a:tr h="571500">
                <a:tc>
                  <a:txBody>
                    <a:bodyPr/>
                    <a:lstStyle/>
                    <a:p>
                      <a:r>
                        <a:rPr sz="1650">
                          <a:solidFill>
                            <a:srgbClr val="152C40"/>
                          </a:solidFill>
                          <a:latin typeface="Helvetica Neue"/>
                          <a:ea typeface="Helvetica Neue"/>
                          <a:cs typeface="Helvetica Neue"/>
                        </a:rPr>
                        <a:t>TRAIN pool</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350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8,367</a:t>
                      </a:r>
                    </a:p>
                  </a:txBody>
                  <a:tcPr marL="114300" marR="114300" marT="28575" marB="28575" anchor="ctr">
                    <a:solidFill>
                      <a:srgbClr val="FFFFFF"/>
                    </a:solidFill>
                  </a:tcPr>
                </a:tc>
              </a:tr>
              <a:tr h="571500">
                <a:tc>
                  <a:txBody>
                    <a:bodyPr/>
                    <a:lstStyle/>
                    <a:p>
                      <a:r>
                        <a:rPr sz="1650">
                          <a:solidFill>
                            <a:srgbClr val="152C40"/>
                          </a:solidFill>
                          <a:latin typeface="Helvetica Neue"/>
                          <a:ea typeface="Helvetica Neue"/>
                          <a:cs typeface="Helvetica Neue"/>
                        </a:rPr>
                        <a:t>VAL</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50</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1,043</a:t>
                      </a:r>
                    </a:p>
                  </a:txBody>
                  <a:tcPr marL="114300" marR="114300" marT="28575" marB="28575" anchor="ctr">
                    <a:solidFill>
                      <a:srgbClr val="EEF3F5"/>
                    </a:solidFill>
                  </a:tcPr>
                </a:tc>
              </a:tr>
            </a:tbl>
          </a:graphicData>
        </a:graphic>
      </p:graphicFrame>
      <p:sp>
        <p:nvSpPr>
          <p:cNvPr id="9" name="">
            <a:extLst xmlns:a="http://schemas.openxmlformats.org/drawingml/2006/main">
              <a:ext uri="{FF2B5EF4-FFF2-40B4-BE49-F238E27FC236}">
                <a16:creationId xmlns:a16="http://schemas.microsoft.com/office/drawing/2014/main" id="{F83BC59F-2F00-41F4-8659-4C7683123CB8}"/>
              </a:ext>
            </a:extLst>
          </p:cNvPr>
          <p:cNvSpPr>
            <a:spLocks xmlns:a="http://schemas.openxmlformats.org/drawingml/2006/main" noGrp="1"/>
          </p:cNvSpPr>
          <p:nvPr/>
        </p:nvSpPr>
        <p:spPr>
          <a:xfrm xmlns:a="http://schemas.openxmlformats.org/drawingml/2006/main">
            <a:off x="3905250" y="4162425"/>
            <a:ext cx="752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8A87"/>
                </a:solidFill>
                <a:latin typeface="Helvetica Neue"/>
                <a:ea typeface="Helvetica Neue"/>
                <a:cs typeface="Helvetica Neue"/>
              </a:defRPr>
            </a:pPr>
            <a:r>
              <a:rPr sz="1950" b="1">
                <a:solidFill>
                  <a:srgbClr val="008A87"/>
                </a:solidFill>
                <a:latin typeface="Helvetica Neue"/>
                <a:ea typeface="Helvetica Neue"/>
                <a:cs typeface="Helvetica Neue"/>
              </a:rPr>
              <a:t>Select one TRAIN page → reveal every line transcript</a:t>
            </a:r>
          </a:p>
        </p:txBody>
      </p:sp>
      <p:sp>
        <p:nvSpPr>
          <p:cNvPr id="10" name="">
            <a:extLst xmlns:a="http://schemas.openxmlformats.org/drawingml/2006/main">
              <a:ext uri="{FF2B5EF4-FFF2-40B4-BE49-F238E27FC236}">
                <a16:creationId xmlns:a16="http://schemas.microsoft.com/office/drawing/2014/main" id="{3CA21BA7-5058-4626-B8D9-FF47FFA4F3BC}"/>
              </a:ext>
            </a:extLst>
          </p:cNvPr>
          <p:cNvSpPr>
            <a:spLocks xmlns:a="http://schemas.openxmlformats.org/drawingml/2006/main" noGrp="1"/>
          </p:cNvSpPr>
          <p:nvPr/>
        </p:nvSpPr>
        <p:spPr>
          <a:xfrm xmlns:a="http://schemas.openxmlformats.org/drawingml/2006/main">
            <a:off x="3905250" y="4895850"/>
            <a:ext cx="7524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Existing true labels simulate annotation.</a:t>
            </a:r>
          </a:p>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Model scoring sees images; VAL truth stays with the evaluator.</a:t>
            </a:r>
          </a:p>
        </p:txBody>
      </p:sp>
      <p:sp>
        <p:nvSpPr>
          <p:cNvPr id="11" name="">
            <a:extLst xmlns:a="http://schemas.openxmlformats.org/drawingml/2006/main">
              <a:ext uri="{FF2B5EF4-FFF2-40B4-BE49-F238E27FC236}">
                <a16:creationId xmlns:a16="http://schemas.microsoft.com/office/drawing/2014/main" id="{53585D8D-1232-406A-B9D4-0FAE229C6BAB}"/>
              </a:ext>
            </a:extLst>
          </p:cNvPr>
          <p:cNvSpPr>
            <a:spLocks xmlns:a="http://schemas.openxmlformats.org/drawingml/2006/main" noGrp="1"/>
          </p:cNvSpPr>
          <p:nvPr/>
        </p:nvSpPr>
        <p:spPr>
          <a:xfrm xmlns:a="http://schemas.openxmlformats.org/drawingml/2006/main">
            <a:off x="609600" y="58959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776"/>
                </a:solidFill>
                <a:latin typeface="Helvetica Neue"/>
                <a:ea typeface="Helvetica Neue"/>
                <a:cs typeface="Helvetica Neue"/>
              </a:defRPr>
            </a:pPr>
            <a:r>
              <a:rPr sz="1500" b="0">
                <a:solidFill>
                  <a:srgbClr val="526776"/>
                </a:solidFill>
                <a:latin typeface="Helvetica Neue"/>
                <a:ea typeface="Helvetica Neue"/>
                <a:cs typeface="Helvetica Neue"/>
              </a:rPr>
              <a:t>8 VAL pages for recipe checks · 42 fixed VAL pages for reported curves</a:t>
            </a:r>
          </a:p>
        </p:txBody>
      </p:sp>
    </p:spTree>
    <p:extLst>
      <p:ext uri="{BB962C8B-B14F-4D97-AF65-F5344CB8AC3E}">
        <p14:creationId xmlns:p14="http://schemas.microsoft.com/office/powerpoint/2010/main" val="1302673035"/>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E1E5AFD-3084-4456-9EEB-5FA07501F0B1}"/>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ENGINEERING STRUCTURE</a:t>
            </a:r>
          </a:p>
        </p:txBody>
      </p:sp>
      <p:sp>
        <p:nvSpPr>
          <p:cNvPr id="2" name="">
            <a:extLst xmlns:a="http://schemas.openxmlformats.org/drawingml/2006/main">
              <a:ext uri="{FF2B5EF4-FFF2-40B4-BE49-F238E27FC236}">
                <a16:creationId xmlns:a16="http://schemas.microsoft.com/office/drawing/2014/main" id="{EC0A16F1-251B-4CCC-8CA5-0F0E6012729F}"/>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The active-learning pipeline</a:t>
            </a:r>
          </a:p>
        </p:txBody>
      </p:sp>
      <p:sp>
        <p:nvSpPr>
          <p:cNvPr id="3" name="">
            <a:extLst xmlns:a="http://schemas.openxmlformats.org/drawingml/2006/main">
              <a:ext uri="{FF2B5EF4-FFF2-40B4-BE49-F238E27FC236}">
                <a16:creationId xmlns:a16="http://schemas.microsoft.com/office/drawing/2014/main" id="{5DEDCB1A-5FCA-4269-BB39-6FC9F91F4639}"/>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17A57A3F-CC3A-4275-A90D-34E44E593556}"/>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Maintained tools: Hugging Face Transformers + PyTorch + PEFT LoRA · Modal GPUs</a:t>
            </a:r>
          </a:p>
        </p:txBody>
      </p:sp>
      <p:sp>
        <p:nvSpPr>
          <p:cNvPr id="5" name="">
            <a:extLst xmlns:a="http://schemas.openxmlformats.org/drawingml/2006/main">
              <a:ext uri="{FF2B5EF4-FFF2-40B4-BE49-F238E27FC236}">
                <a16:creationId xmlns:a16="http://schemas.microsoft.com/office/drawing/2014/main" id="{82B23DAE-9C11-4AE7-BF4C-B9CCBC295069}"/>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1884D66A-3CE5-4F8B-BC6F-C4B396EC380B}"/>
              </a:ext>
            </a:extLst>
          </p:cNvPr>
          <p:cNvSpPr>
            <a:spLocks xmlns:a="http://schemas.openxmlformats.org/drawingml/2006/main" noGrp="1"/>
          </p:cNvSpPr>
          <p:nvPr/>
        </p:nvSpPr>
        <p:spPr>
          <a:xfrm xmlns:a="http://schemas.openxmlformats.org/drawingml/2006/main">
            <a:off x="628650" y="1724025"/>
            <a:ext cx="19240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Page images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fixed split</a:t>
            </a:r>
          </a:p>
        </p:txBody>
      </p:sp>
      <p:sp>
        <p:nvSpPr>
          <p:cNvPr id="7" name="">
            <a:extLst xmlns:a="http://schemas.openxmlformats.org/drawingml/2006/main">
              <a:ext uri="{FF2B5EF4-FFF2-40B4-BE49-F238E27FC236}">
                <a16:creationId xmlns:a16="http://schemas.microsoft.com/office/drawing/2014/main" id="{8B55094B-88CF-4988-A860-A1601FD1A7C7}"/>
              </a:ext>
            </a:extLst>
          </p:cNvPr>
          <p:cNvSpPr>
            <a:spLocks xmlns:a="http://schemas.openxmlformats.org/drawingml/2006/main" noGrp="1"/>
          </p:cNvSpPr>
          <p:nvPr/>
        </p:nvSpPr>
        <p:spPr>
          <a:xfrm xmlns:a="http://schemas.openxmlformats.org/drawingml/2006/main">
            <a:off x="2952750" y="1724025"/>
            <a:ext cx="20574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Score remaining</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TRAIN pages</a:t>
            </a:r>
          </a:p>
        </p:txBody>
      </p:sp>
      <p:sp>
        <p:nvSpPr>
          <p:cNvPr id="8" name="">
            <a:extLst xmlns:a="http://schemas.openxmlformats.org/drawingml/2006/main">
              <a:ext uri="{FF2B5EF4-FFF2-40B4-BE49-F238E27FC236}">
                <a16:creationId xmlns:a16="http://schemas.microsoft.com/office/drawing/2014/main" id="{822A3030-B19B-4DCB-842C-D7632B6E0F60}"/>
              </a:ext>
            </a:extLst>
          </p:cNvPr>
          <p:cNvSpPr>
            <a:spLocks xmlns:a="http://schemas.openxmlformats.org/drawingml/2006/main" noGrp="1"/>
          </p:cNvSpPr>
          <p:nvPr/>
        </p:nvSpPr>
        <p:spPr>
          <a:xfrm xmlns:a="http://schemas.openxmlformats.org/drawingml/2006/main">
            <a:off x="5419725" y="1724025"/>
            <a:ext cx="18478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Select page</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batch</a:t>
            </a:r>
          </a:p>
        </p:txBody>
      </p:sp>
      <p:sp>
        <p:nvSpPr>
          <p:cNvPr id="9" name="">
            <a:extLst xmlns:a="http://schemas.openxmlformats.org/drawingml/2006/main">
              <a:ext uri="{FF2B5EF4-FFF2-40B4-BE49-F238E27FC236}">
                <a16:creationId xmlns:a16="http://schemas.microsoft.com/office/drawing/2014/main" id="{3924AF68-5238-417F-923E-8A85D19A2977}"/>
              </a:ext>
            </a:extLst>
          </p:cNvPr>
          <p:cNvSpPr>
            <a:spLocks xmlns:a="http://schemas.openxmlformats.org/drawingml/2006/main" noGrp="1"/>
          </p:cNvSpPr>
          <p:nvPr/>
        </p:nvSpPr>
        <p:spPr>
          <a:xfrm xmlns:a="http://schemas.openxmlformats.org/drawingml/2006/main">
            <a:off x="7686675" y="1724025"/>
            <a:ext cx="2047875"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Reveal selected</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true transcripts</a:t>
            </a:r>
          </a:p>
        </p:txBody>
      </p: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2552700" y="2114550"/>
            <a:ext cx="40005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5010150" y="2114550"/>
            <a:ext cx="409575"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a:off x="7267575" y="2114550"/>
            <a:ext cx="419100"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3" name="">
            <a:extLst xmlns:a="http://schemas.openxmlformats.org/drawingml/2006/main">
              <a:ext uri="{FF2B5EF4-FFF2-40B4-BE49-F238E27FC236}">
                <a16:creationId xmlns:a16="http://schemas.microsoft.com/office/drawing/2014/main" id="{4E9B4463-C850-4F96-B8D6-8F3A7B06A2FD}"/>
              </a:ext>
            </a:extLst>
          </p:cNvPr>
          <p:cNvSpPr>
            <a:spLocks xmlns:a="http://schemas.openxmlformats.org/drawingml/2006/main" noGrp="1"/>
          </p:cNvSpPr>
          <p:nvPr/>
        </p:nvSpPr>
        <p:spPr>
          <a:xfrm xmlns:a="http://schemas.openxmlformats.org/drawingml/2006/main">
            <a:off x="7667625" y="3533775"/>
            <a:ext cx="206692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Fresh base model</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new LoRA fit</a:t>
            </a:r>
          </a:p>
        </p:txBody>
      </p:sp>
      <p:sp>
        <p:nvSpPr>
          <p:cNvPr id="14" name="">
            <a:extLst xmlns:a="http://schemas.openxmlformats.org/drawingml/2006/main">
              <a:ext uri="{FF2B5EF4-FFF2-40B4-BE49-F238E27FC236}">
                <a16:creationId xmlns:a16="http://schemas.microsoft.com/office/drawing/2014/main" id="{914EDB45-DFA3-4EDB-A84B-0F2282B6920D}"/>
              </a:ext>
            </a:extLst>
          </p:cNvPr>
          <p:cNvSpPr>
            <a:spLocks xmlns:a="http://schemas.openxmlformats.org/drawingml/2006/main" noGrp="1"/>
          </p:cNvSpPr>
          <p:nvPr/>
        </p:nvSpPr>
        <p:spPr>
          <a:xfrm xmlns:a="http://schemas.openxmlformats.org/drawingml/2006/main">
            <a:off x="4638675" y="3533775"/>
            <a:ext cx="231457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Evaluate fixed VAL</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save adapter</a:t>
            </a:r>
          </a:p>
        </p:txBody>
      </p:sp>
      <p:sp>
        <p:nvSpPr>
          <p:cNvPr id="15" name="">
            <a:extLst xmlns:a="http://schemas.openxmlformats.org/drawingml/2006/main">
              <a:ext uri="{FF2B5EF4-FFF2-40B4-BE49-F238E27FC236}">
                <a16:creationId xmlns:a16="http://schemas.microsoft.com/office/drawing/2014/main" id="{132CFFF0-3AC1-4C83-9142-831F3D5E4CED}"/>
              </a:ext>
            </a:extLst>
          </p:cNvPr>
          <p:cNvSpPr>
            <a:spLocks xmlns:a="http://schemas.openxmlformats.org/drawingml/2006/main" noGrp="1"/>
          </p:cNvSpPr>
          <p:nvPr/>
        </p:nvSpPr>
        <p:spPr>
          <a:xfrm xmlns:a="http://schemas.openxmlformats.org/drawingml/2006/main">
            <a:off x="1200150" y="3533775"/>
            <a:ext cx="261937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Record CER/WER</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 selections + hashes</a:t>
            </a:r>
          </a:p>
        </p:txBody>
      </p:sp>
      <p:cxnSp>
        <p:nvCxnSpPr>
          <p:cNvPr id="38" name=""/>
          <p:cNvCxnSpPr>
            <a:stCxn xmlns:a="http://schemas.openxmlformats.org/drawingml/2006/main" id="9" idx="2"/>
            <a:endCxn xmlns:a="http://schemas.openxmlformats.org/drawingml/2006/main" id="13" idx="0"/>
          </p:cNvCxnSpPr>
          <p:nvPr/>
        </p:nvCxnSpPr>
        <p:spPr>
          <a:xfrm xmlns:a="http://schemas.openxmlformats.org/drawingml/2006/main" flipH="1">
            <a:off x="8701088" y="2505075"/>
            <a:ext cx="9525" cy="102870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39" name=""/>
          <p:cNvCxnSpPr>
            <a:stCxn xmlns:a="http://schemas.openxmlformats.org/drawingml/2006/main" id="13" idx="1"/>
            <a:endCxn xmlns:a="http://schemas.openxmlformats.org/drawingml/2006/main" id="14" idx="3"/>
          </p:cNvCxnSpPr>
          <p:nvPr/>
        </p:nvCxnSpPr>
        <p:spPr>
          <a:xfrm xmlns:a="http://schemas.openxmlformats.org/drawingml/2006/main" flipH="1">
            <a:off x="6953250" y="3967163"/>
            <a:ext cx="714375"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40" name=""/>
          <p:cNvCxnSpPr>
            <a:stCxn xmlns:a="http://schemas.openxmlformats.org/drawingml/2006/main" id="14" idx="1"/>
            <a:endCxn xmlns:a="http://schemas.openxmlformats.org/drawingml/2006/main" id="15" idx="3"/>
          </p:cNvCxnSpPr>
          <p:nvPr/>
        </p:nvCxnSpPr>
        <p:spPr>
          <a:xfrm xmlns:a="http://schemas.openxmlformats.org/drawingml/2006/main" flipH="1">
            <a:off x="3819525" y="3967163"/>
            <a:ext cx="81915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41" name=""/>
          <p:cNvCxnSpPr>
            <a:stCxn xmlns:a="http://schemas.openxmlformats.org/drawingml/2006/main" id="14" idx="0"/>
            <a:endCxn xmlns:a="http://schemas.openxmlformats.org/drawingml/2006/main" id="7" idx="2"/>
          </p:cNvCxnSpPr>
          <p:nvPr/>
        </p:nvCxnSpPr>
        <p:spPr>
          <a:xfrm xmlns:a="http://schemas.openxmlformats.org/drawingml/2006/main" flipH="1" flipV="1">
            <a:off x="3981450" y="2505075"/>
            <a:ext cx="1814513" cy="1028700"/>
          </a:xfrm>
          <a:prstGeom xmlns:a="http://schemas.openxmlformats.org/drawingml/2006/main" prst="bentConnector4">
            <a:avLst>
              <a:gd name="adj1" fmla="val 0"/>
              <a:gd name="adj2" fmla="val 50000"/>
            </a:avLst>
          </a:prstGeom>
          <a:ln xmlns:a="http://schemas.openxmlformats.org/drawingml/2006/main" w="19050">
            <a:solidFill>
              <a:srgbClr val="008A87"/>
            </a:solidFill>
            <a:tailEnd type="triangle" w="med" len="med"/>
          </a:ln>
        </p:spPr>
      </p:cxnSp>
      <p:sp>
        <p:nvSpPr>
          <p:cNvPr id="20" name="">
            <a:extLst xmlns:a="http://schemas.openxmlformats.org/drawingml/2006/main">
              <a:ext uri="{FF2B5EF4-FFF2-40B4-BE49-F238E27FC236}">
                <a16:creationId xmlns:a16="http://schemas.microsoft.com/office/drawing/2014/main" id="{650AD972-EBB9-4844-9432-FBE3DC13F818}"/>
              </a:ext>
            </a:extLst>
          </p:cNvPr>
          <p:cNvSpPr>
            <a:spLocks xmlns:a="http://schemas.openxmlformats.org/drawingml/2006/main" noGrp="1"/>
          </p:cNvSpPr>
          <p:nvPr/>
        </p:nvSpPr>
        <p:spPr>
          <a:xfrm xmlns:a="http://schemas.openxmlformats.org/drawingml/2006/main">
            <a:off x="628650" y="27336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08A87"/>
                </a:solidFill>
                <a:latin typeface="Helvetica Neue"/>
                <a:ea typeface="Helvetica Neue"/>
                <a:cs typeface="Helvetica Neue"/>
              </a:defRPr>
            </a:pPr>
            <a:r>
              <a:rPr sz="1800" b="1">
                <a:solidFill>
                  <a:srgbClr val="008A87"/>
                </a:solidFill>
                <a:latin typeface="Helvetica Neue"/>
                <a:ea typeface="Helvetica Neue"/>
                <a:cs typeface="Helvetica Neue"/>
              </a:rPr>
              <a:t>Original model evaluated</a:t>
            </a:r>
          </a:p>
          <a:p xmlns:a="http://schemas.openxmlformats.org/drawingml/2006/main">
            <a:pPr algn="l">
              <a:defRPr sz="1800" b="1">
                <a:solidFill>
                  <a:srgbClr val="008A87"/>
                </a:solidFill>
                <a:latin typeface="Helvetica Neue"/>
                <a:ea typeface="Helvetica Neue"/>
                <a:cs typeface="Helvetica Neue"/>
              </a:defRPr>
            </a:pPr>
            <a:r>
              <a:rPr sz="1800" b="1">
                <a:solidFill>
                  <a:srgbClr val="008A87"/>
                </a:solidFill>
                <a:latin typeface="Helvetica Neue"/>
                <a:ea typeface="Helvetica Neue"/>
                <a:cs typeface="Helvetica Neue"/>
              </a:rPr>
              <a:t>at 0 labelled pages</a:t>
            </a:r>
          </a:p>
        </p:txBody>
      </p:sp>
      <p:sp>
        <p:nvSpPr>
          <p:cNvPr id="21" name="">
            <a:extLst xmlns:a="http://schemas.openxmlformats.org/drawingml/2006/main">
              <a:ext uri="{FF2B5EF4-FFF2-40B4-BE49-F238E27FC236}">
                <a16:creationId xmlns:a16="http://schemas.microsoft.com/office/drawing/2014/main" id="{AFE286B6-3EFE-4346-85CB-F984EA06BBF7}"/>
              </a:ext>
            </a:extLst>
          </p:cNvPr>
          <p:cNvSpPr>
            <a:spLocks xmlns:a="http://schemas.openxmlformats.org/drawingml/2006/main" noGrp="1"/>
          </p:cNvSpPr>
          <p:nvPr/>
        </p:nvSpPr>
        <p:spPr>
          <a:xfrm xmlns:a="http://schemas.openxmlformats.org/drawingml/2006/main">
            <a:off x="609600" y="48768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Each round fits all acquired labels; later uncertainty uses that arm’s preceding adapter.</a:t>
            </a:r>
          </a:p>
        </p:txBody>
      </p:sp>
      <p:sp>
        <p:nvSpPr>
          <p:cNvPr id="22" name="">
            <a:extLst xmlns:a="http://schemas.openxmlformats.org/drawingml/2006/main">
              <a:ext uri="{FF2B5EF4-FFF2-40B4-BE49-F238E27FC236}">
                <a16:creationId xmlns:a16="http://schemas.microsoft.com/office/drawing/2014/main" id="{2279C4CF-8504-4FBE-AFEA-F0E7E3CB993C}"/>
              </a:ext>
            </a:extLst>
          </p:cNvPr>
          <p:cNvSpPr>
            <a:spLocks xmlns:a="http://schemas.openxmlformats.org/drawingml/2006/main" noGrp="1"/>
          </p:cNvSpPr>
          <p:nvPr/>
        </p:nvSpPr>
        <p:spPr>
          <a:xfrm xmlns:a="http://schemas.openxmlformats.org/drawingml/2006/main">
            <a:off x="609600" y="56102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6"/>
                </a:solidFill>
                <a:latin typeface="Helvetica Neue"/>
                <a:ea typeface="Helvetica Neue"/>
                <a:cs typeface="Helvetica Neue"/>
              </a:defRPr>
            </a:pPr>
            <a:r>
              <a:rPr sz="1725" b="0">
                <a:solidFill>
                  <a:srgbClr val="526776"/>
                </a:solidFill>
                <a:latin typeface="Helvetica Neue"/>
                <a:ea typeface="Helvetica Neue"/>
                <a:cs typeface="Helvetica Neue"/>
              </a:rPr>
              <a:t>TRAIN oracle ≠ VAL evaluator · Random skips scoring · Stop after 3 fixed rounds</a:t>
            </a:r>
          </a:p>
        </p:txBody>
      </p:sp>
    </p:spTree>
    <p:extLst>
      <p:ext uri="{BB962C8B-B14F-4D97-AF65-F5344CB8AC3E}">
        <p14:creationId xmlns:p14="http://schemas.microsoft.com/office/powerpoint/2010/main" val="607957322"/>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DBFCB3C-0C27-47CF-8F97-64C8870EA744}"/>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EXP-001–008 · ENGINEERING CHECKS, NOT SELECTION EVIDENCE</a:t>
            </a:r>
          </a:p>
        </p:txBody>
      </p:sp>
      <p:sp>
        <p:nvSpPr>
          <p:cNvPr id="2" name="">
            <a:extLst xmlns:a="http://schemas.openxmlformats.org/drawingml/2006/main">
              <a:ext uri="{FF2B5EF4-FFF2-40B4-BE49-F238E27FC236}">
                <a16:creationId xmlns:a16="http://schemas.microsoft.com/office/drawing/2014/main" id="{D1DB8994-B684-4874-A843-5118E5067AE5}"/>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Why the first joint OCR recipe was paused</a:t>
            </a:r>
          </a:p>
        </p:txBody>
      </p:sp>
      <p:sp>
        <p:nvSpPr>
          <p:cNvPr id="3" name="">
            <a:extLst xmlns:a="http://schemas.openxmlformats.org/drawingml/2006/main">
              <a:ext uri="{FF2B5EF4-FFF2-40B4-BE49-F238E27FC236}">
                <a16:creationId xmlns:a16="http://schemas.microsoft.com/office/drawing/2014/main" id="{10B5679A-2A73-4A7F-AB4B-A04DFC878D2E}"/>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1095D2E4-425E-4B64-822D-2C4820F3DC6A}"/>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Evidence: grouped reader reports in results/EXP-001-002.md, EXP-003-005.md, EXP-006-008.md</a:t>
            </a:r>
          </a:p>
        </p:txBody>
      </p:sp>
      <p:sp>
        <p:nvSpPr>
          <p:cNvPr id="5" name="">
            <a:extLst xmlns:a="http://schemas.openxmlformats.org/drawingml/2006/main">
              <a:ext uri="{FF2B5EF4-FFF2-40B4-BE49-F238E27FC236}">
                <a16:creationId xmlns:a16="http://schemas.microsoft.com/office/drawing/2014/main" id="{13E0A695-0B1A-4E67-B5A9-C9E7F5A53E66}"/>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4ADC1A09-869C-42AE-98CD-C91E63EE8194}"/>
              </a:ext>
            </a:extLst>
          </p:cNvPr>
          <p:cNvSpPr>
            <a:spLocks xmlns:a="http://schemas.openxmlformats.org/drawingml/2006/main" noGrp="1"/>
          </p:cNvSpPr>
          <p:nvPr/>
        </p:nvSpPr>
        <p:spPr>
          <a:xfrm xmlns:a="http://schemas.openxmlformats.org/drawingml/2006/main">
            <a:off x="628650" y="1743075"/>
            <a:ext cx="200025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Page image</a:t>
            </a:r>
          </a:p>
        </p:txBody>
      </p:sp>
      <p:sp>
        <p:nvSpPr>
          <p:cNvPr id="7" name="">
            <a:extLst xmlns:a="http://schemas.openxmlformats.org/drawingml/2006/main">
              <a:ext uri="{FF2B5EF4-FFF2-40B4-BE49-F238E27FC236}">
                <a16:creationId xmlns:a16="http://schemas.microsoft.com/office/drawing/2014/main" id="{B03AE2F8-3362-4DD1-97B0-BB09DBA93BB1}"/>
              </a:ext>
            </a:extLst>
          </p:cNvPr>
          <p:cNvSpPr>
            <a:spLocks xmlns:a="http://schemas.openxmlformats.org/drawingml/2006/main" noGrp="1"/>
          </p:cNvSpPr>
          <p:nvPr/>
        </p:nvSpPr>
        <p:spPr>
          <a:xfrm xmlns:a="http://schemas.openxmlformats.org/drawingml/2006/main">
            <a:off x="3267075" y="1743075"/>
            <a:ext cx="30099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Qwen generates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line boxes + text</a:t>
            </a:r>
          </a:p>
        </p:txBody>
      </p:sp>
      <p:sp>
        <p:nvSpPr>
          <p:cNvPr id="8" name="">
            <a:extLst xmlns:a="http://schemas.openxmlformats.org/drawingml/2006/main">
              <a:ext uri="{FF2B5EF4-FFF2-40B4-BE49-F238E27FC236}">
                <a16:creationId xmlns:a16="http://schemas.microsoft.com/office/drawing/2014/main" id="{7A5CD63A-3BE8-4603-913A-1934ACAB585D}"/>
              </a:ext>
            </a:extLst>
          </p:cNvPr>
          <p:cNvSpPr>
            <a:spLocks xmlns:a="http://schemas.openxmlformats.org/drawingml/2006/main" noGrp="1"/>
          </p:cNvSpPr>
          <p:nvPr/>
        </p:nvSpPr>
        <p:spPr>
          <a:xfrm xmlns:a="http://schemas.openxmlformats.org/drawingml/2006/main">
            <a:off x="6991350" y="174307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Parse structured</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OCR and evaluate</a:t>
            </a:r>
          </a:p>
        </p:txBody>
      </p: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2628900" y="2171700"/>
            <a:ext cx="638175"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6276975" y="2171700"/>
            <a:ext cx="714375"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1" name="">
            <a:extLst xmlns:a="http://schemas.openxmlformats.org/drawingml/2006/main">
              <a:ext uri="{FF2B5EF4-FFF2-40B4-BE49-F238E27FC236}">
                <a16:creationId xmlns:a16="http://schemas.microsoft.com/office/drawing/2014/main" id="{D6E3F2D4-4B8B-4AA9-B71E-46192988BC87}"/>
              </a:ext>
            </a:extLst>
          </p:cNvPr>
          <p:cNvSpPr>
            <a:spLocks xmlns:a="http://schemas.openxmlformats.org/drawingml/2006/main" noGrp="1"/>
          </p:cNvSpPr>
          <p:nvPr/>
        </p:nvSpPr>
        <p:spPr>
          <a:xfrm xmlns:a="http://schemas.openxmlformats.org/drawingml/2006/main">
            <a:off x="609600" y="3133725"/>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2C40"/>
                </a:solidFill>
                <a:latin typeface="Helvetica Neue"/>
                <a:ea typeface="Helvetica Neue"/>
                <a:cs typeface="Helvetica Neue"/>
              </a:defRPr>
            </a:pPr>
            <a:r>
              <a:rPr sz="2175" b="1">
                <a:solidFill>
                  <a:srgbClr val="152C40"/>
                </a:solidFill>
                <a:latin typeface="Helvetica Neue"/>
                <a:ea typeface="Helvetica Neue"/>
                <a:cs typeface="Helvetica Neue"/>
              </a:rPr>
              <a:t>What we established</a:t>
            </a:r>
          </a:p>
        </p:txBody>
      </p:sp>
      <p:sp>
        <p:nvSpPr>
          <p:cNvPr id="12" name="">
            <a:extLst xmlns:a="http://schemas.openxmlformats.org/drawingml/2006/main">
              <a:ext uri="{FF2B5EF4-FFF2-40B4-BE49-F238E27FC236}">
                <a16:creationId xmlns:a16="http://schemas.microsoft.com/office/drawing/2014/main" id="{B76A8618-D133-4F48-88AD-517F14684FDB}"/>
              </a:ext>
            </a:extLst>
          </p:cNvPr>
          <p:cNvSpPr>
            <a:spLocks xmlns:a="http://schemas.openxmlformats.org/drawingml/2006/main" noGrp="1"/>
          </p:cNvSpPr>
          <p:nvPr/>
        </p:nvSpPr>
        <p:spPr>
          <a:xfrm xmlns:a="http://schemas.openxmlformats.org/drawingml/2006/main">
            <a:off x="609600" y="3676650"/>
            <a:ext cx="52673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Training, checkpoint reload and evaluation</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eventually completed. We also tried</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stronger fitting and simpler box/text output.</a:t>
            </a:r>
          </a:p>
        </p:txBody>
      </p:sp>
      <p:sp>
        <p:nvSpPr>
          <p:cNvPr id="13" name="">
            <a:extLst xmlns:a="http://schemas.openxmlformats.org/drawingml/2006/main">
              <a:ext uri="{FF2B5EF4-FFF2-40B4-BE49-F238E27FC236}">
                <a16:creationId xmlns:a16="http://schemas.microsoft.com/office/drawing/2014/main" id="{BA74C734-4061-47AF-8CAD-093BC794077B}"/>
              </a:ext>
            </a:extLst>
          </p:cNvPr>
          <p:cNvSpPr>
            <a:spLocks xmlns:a="http://schemas.openxmlformats.org/drawingml/2006/main" noGrp="1"/>
          </p:cNvSpPr>
          <p:nvPr/>
        </p:nvSpPr>
        <p:spPr>
          <a:xfrm xmlns:a="http://schemas.openxmlformats.org/drawingml/2006/main">
            <a:off x="6572250" y="31337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2C40"/>
                </a:solidFill>
                <a:latin typeface="Helvetica Neue"/>
                <a:ea typeface="Helvetica Neue"/>
                <a:cs typeface="Helvetica Neue"/>
              </a:defRPr>
            </a:pPr>
            <a:r>
              <a:rPr sz="2175" b="1">
                <a:solidFill>
                  <a:srgbClr val="152C40"/>
                </a:solidFill>
                <a:latin typeface="Helvetica Neue"/>
                <a:ea typeface="Helvetica Neue"/>
                <a:cs typeface="Helvetica Neue"/>
              </a:rPr>
              <a:t>What prevented a useful comparison</a:t>
            </a:r>
          </a:p>
        </p:txBody>
      </p:sp>
      <p:sp>
        <p:nvSpPr>
          <p:cNvPr id="14" name="">
            <a:extLst xmlns:a="http://schemas.openxmlformats.org/drawingml/2006/main">
              <a:ext uri="{FF2B5EF4-FFF2-40B4-BE49-F238E27FC236}">
                <a16:creationId xmlns:a16="http://schemas.microsoft.com/office/drawing/2014/main" id="{F3A1443B-7725-4B2C-9EBC-734BE856059C}"/>
              </a:ext>
            </a:extLst>
          </p:cNvPr>
          <p:cNvSpPr>
            <a:spLocks xmlns:a="http://schemas.openxmlformats.org/drawingml/2006/main" noGrp="1"/>
          </p:cNvSpPr>
          <p:nvPr/>
        </p:nvSpPr>
        <p:spPr>
          <a:xfrm xmlns:a="http://schemas.openxmlformats.org/drawingml/2006/main">
            <a:off x="6572250" y="3676650"/>
            <a:ext cx="4981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Outputs stayed invalid, repetitive or capped.</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CER stayed near 1; line-box F1 stayed at 0.</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Simplifying JSON alone did not fix recognition.</a:t>
            </a:r>
          </a:p>
        </p:txBody>
      </p:sp>
      <p:sp>
        <p:nvSpPr>
          <p:cNvPr id="15" name="">
            <a:extLst xmlns:a="http://schemas.openxmlformats.org/drawingml/2006/main">
              <a:ext uri="{FF2B5EF4-FFF2-40B4-BE49-F238E27FC236}">
                <a16:creationId xmlns:a16="http://schemas.microsoft.com/office/drawing/2014/main" id="{0FDCAAA7-39E2-49C7-813E-4D732EF15D19}"/>
              </a:ext>
            </a:extLst>
          </p:cNvPr>
          <p:cNvSpPr>
            <a:spLocks xmlns:a="http://schemas.openxmlformats.org/drawingml/2006/main" noGrp="1"/>
          </p:cNvSpPr>
          <p:nvPr/>
        </p:nvSpPr>
        <p:spPr>
          <a:xfrm xmlns:a="http://schemas.openxmlformats.org/drawingml/2006/main">
            <a:off x="609600" y="518160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16" name="">
            <a:extLst xmlns:a="http://schemas.openxmlformats.org/drawingml/2006/main">
              <a:ext uri="{FF2B5EF4-FFF2-40B4-BE49-F238E27FC236}">
                <a16:creationId xmlns:a16="http://schemas.microsoft.com/office/drawing/2014/main" id="{84D89399-5AC8-40C2-8FDA-E265F88CFD3F}"/>
              </a:ext>
            </a:extLst>
          </p:cNvPr>
          <p:cNvSpPr>
            <a:spLocks xmlns:a="http://schemas.openxmlformats.org/drawingml/2006/main" noGrp="1"/>
          </p:cNvSpPr>
          <p:nvPr/>
        </p:nvSpPr>
        <p:spPr>
          <a:xfrm xmlns:a="http://schemas.openxmlformats.org/drawingml/2006/main">
            <a:off x="609600" y="54197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8A87"/>
                </a:solidFill>
                <a:latin typeface="Helvetica Neue"/>
                <a:ea typeface="Helvetica Neue"/>
                <a:cs typeface="Helvetica Neue"/>
              </a:defRPr>
            </a:pPr>
            <a:r>
              <a:rPr sz="2100" b="1">
                <a:solidFill>
                  <a:srgbClr val="008A87"/>
                </a:solidFill>
                <a:latin typeface="Helvetica Neue"/>
                <a:ea typeface="Helvetica Neue"/>
                <a:cs typeface="Helvetica Neue"/>
              </a:rPr>
              <a:t>Research decision: isolate transcription before testing selection</a:t>
            </a:r>
          </a:p>
        </p:txBody>
      </p:sp>
      <p:sp>
        <p:nvSpPr>
          <p:cNvPr id="17" name="">
            <a:extLst xmlns:a="http://schemas.openxmlformats.org/drawingml/2006/main">
              <a:ext uri="{FF2B5EF4-FFF2-40B4-BE49-F238E27FC236}">
                <a16:creationId xmlns:a16="http://schemas.microsoft.com/office/drawing/2014/main" id="{CDC22B10-688E-40FE-913B-D1C6509A3FC9}"/>
              </a:ext>
            </a:extLst>
          </p:cNvPr>
          <p:cNvSpPr>
            <a:spLocks xmlns:a="http://schemas.openxmlformats.org/drawingml/2006/main" noGrp="1"/>
          </p:cNvSpPr>
          <p:nvPr/>
        </p:nvSpPr>
        <p:spPr>
          <a:xfrm xmlns:a="http://schemas.openxmlformats.org/drawingml/2006/main">
            <a:off x="609600" y="58769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Poor usable OCR masks acquisition effects. This rejects the tested recipe, not all joint OCR.</a:t>
            </a:r>
          </a:p>
        </p:txBody>
      </p:sp>
    </p:spTree>
    <p:extLst>
      <p:ext uri="{BB962C8B-B14F-4D97-AF65-F5344CB8AC3E}">
        <p14:creationId xmlns:p14="http://schemas.microsoft.com/office/powerpoint/2010/main" val="896436921"/>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1343AD0-BB49-4DBC-B761-435C5FFFE3DF}"/>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EXP-009–010 · PURPOSE AND MODEL CHOICE</a:t>
            </a:r>
          </a:p>
        </p:txBody>
      </p:sp>
      <p:sp>
        <p:nvSpPr>
          <p:cNvPr id="2" name="">
            <a:extLst xmlns:a="http://schemas.openxmlformats.org/drawingml/2006/main">
              <a:ext uri="{FF2B5EF4-FFF2-40B4-BE49-F238E27FC236}">
                <a16:creationId xmlns:a16="http://schemas.microsoft.com/office/drawing/2014/main" id="{B8AB568A-1836-4754-ABCB-E70757D22ACD}"/>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Can historical page transcription learn?</a:t>
            </a:r>
          </a:p>
        </p:txBody>
      </p:sp>
      <p:sp>
        <p:nvSpPr>
          <p:cNvPr id="3" name="">
            <a:extLst xmlns:a="http://schemas.openxmlformats.org/drawingml/2006/main">
              <a:ext uri="{FF2B5EF4-FFF2-40B4-BE49-F238E27FC236}">
                <a16:creationId xmlns:a16="http://schemas.microsoft.com/office/drawing/2014/main" id="{3DC3ABD5-902C-4276-8D06-97C5D27EE1B2}"/>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1F4C8301-9530-49E4-8854-D4B87ADF7022}"/>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Model sources: LightOnOCR base card / report · Qwen3-VL-4B-Instruct card / report</a:t>
            </a:r>
          </a:p>
        </p:txBody>
      </p:sp>
      <p:sp>
        <p:nvSpPr>
          <p:cNvPr id="5" name="">
            <a:extLst xmlns:a="http://schemas.openxmlformats.org/drawingml/2006/main">
              <a:ext uri="{FF2B5EF4-FFF2-40B4-BE49-F238E27FC236}">
                <a16:creationId xmlns:a16="http://schemas.microsoft.com/office/drawing/2014/main" id="{D4783636-8BE6-4622-B1D1-9D61AF6A3B73}"/>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A2628E63-0588-4CFB-A89A-EDEE457F2A37}"/>
              </a:ext>
            </a:extLst>
          </p:cNvPr>
          <p:cNvSpPr>
            <a:spLocks xmlns:a="http://schemas.openxmlformats.org/drawingml/2006/main" noGrp="1"/>
          </p:cNvSpPr>
          <p:nvPr/>
        </p:nvSpPr>
        <p:spPr>
          <a:xfrm xmlns:a="http://schemas.openxmlformats.org/drawingml/2006/main">
            <a:off x="609600" y="15811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8A87"/>
                </a:solidFill>
                <a:latin typeface="Helvetica Neue"/>
                <a:ea typeface="Helvetica Neue"/>
                <a:cs typeface="Helvetica Neue"/>
              </a:defRPr>
            </a:pPr>
            <a:r>
              <a:rPr sz="2100" b="1">
                <a:solidFill>
                  <a:srgbClr val="008A87"/>
                </a:solidFill>
                <a:latin typeface="Helvetica Neue"/>
                <a:ea typeface="Helvetica Neue"/>
                <a:cs typeface="Helvetica Neue"/>
              </a:rPr>
              <a:t>Question: does plain page text learn before we compare selectors?</a:t>
            </a:r>
          </a:p>
        </p:txBody>
      </p:sp>
      <p:sp>
        <p:nvSpPr>
          <p:cNvPr id="7" name="">
            <a:extLst xmlns:a="http://schemas.openxmlformats.org/drawingml/2006/main">
              <a:ext uri="{FF2B5EF4-FFF2-40B4-BE49-F238E27FC236}">
                <a16:creationId xmlns:a16="http://schemas.microsoft.com/office/drawing/2014/main" id="{115C0559-A5BB-448D-9E49-B6B100F9C0A9}"/>
              </a:ext>
            </a:extLst>
          </p:cNvPr>
          <p:cNvSpPr>
            <a:spLocks xmlns:a="http://schemas.openxmlformats.org/drawingml/2006/main" noGrp="1"/>
          </p:cNvSpPr>
          <p:nvPr/>
        </p:nvSpPr>
        <p:spPr>
          <a:xfrm xmlns:a="http://schemas.openxmlformats.org/drawingml/2006/main">
            <a:off x="609600" y="2390775"/>
            <a:ext cx="5267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3265AF"/>
                </a:solidFill>
                <a:latin typeface="Helvetica Neue"/>
                <a:ea typeface="Helvetica Neue"/>
                <a:cs typeface="Helvetica Neue"/>
              </a:defRPr>
            </a:pPr>
            <a:r>
              <a:rPr sz="2175" b="1">
                <a:solidFill>
                  <a:srgbClr val="3265AF"/>
                </a:solidFill>
                <a:latin typeface="Helvetica Neue"/>
                <a:ea typeface="Helvetica Neue"/>
                <a:cs typeface="Helvetica Neue"/>
              </a:rPr>
              <a:t>EXP-009 · LightOnOCR-2-1B-base</a:t>
            </a:r>
          </a:p>
        </p:txBody>
      </p:sp>
      <p:sp>
        <p:nvSpPr>
          <p:cNvPr id="8" name="">
            <a:extLst xmlns:a="http://schemas.openxmlformats.org/drawingml/2006/main">
              <a:ext uri="{FF2B5EF4-FFF2-40B4-BE49-F238E27FC236}">
                <a16:creationId xmlns:a16="http://schemas.microsoft.com/office/drawing/2014/main" id="{C045E6B4-D19C-4FEC-B54A-B82A1C8892A3}"/>
              </a:ext>
            </a:extLst>
          </p:cNvPr>
          <p:cNvSpPr>
            <a:spLocks xmlns:a="http://schemas.openxmlformats.org/drawingml/2006/main" noGrp="1"/>
          </p:cNvSpPr>
          <p:nvPr/>
        </p:nvSpPr>
        <p:spPr>
          <a:xfrm xmlns:a="http://schemas.openxmlformats.org/drawingml/2006/main">
            <a:off x="609600" y="3000375"/>
            <a:ext cx="51244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Compact OCR specialist</a:t>
            </a:r>
          </a:p>
          <a:p xmlns:a="http://schemas.openxmlformats.org/drawingml/2006/main">
            <a:r>
              <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Built for page-image transcription;</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the author recommends this base</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variant for domain fine-tuning.</a:t>
            </a:r>
          </a:p>
        </p:txBody>
      </p:sp>
      <p:sp>
        <p:nvSpPr>
          <p:cNvPr id="9" name="">
            <a:extLst xmlns:a="http://schemas.openxmlformats.org/drawingml/2006/main">
              <a:ext uri="{FF2B5EF4-FFF2-40B4-BE49-F238E27FC236}">
                <a16:creationId xmlns:a16="http://schemas.microsoft.com/office/drawing/2014/main" id="{19FFABF1-B25A-4A72-A814-662B281C8B1C}"/>
              </a:ext>
            </a:extLst>
          </p:cNvPr>
          <p:cNvSpPr>
            <a:spLocks xmlns:a="http://schemas.openxmlformats.org/drawingml/2006/main" noGrp="1"/>
          </p:cNvSpPr>
          <p:nvPr/>
        </p:nvSpPr>
        <p:spPr>
          <a:xfrm xmlns:a="http://schemas.openxmlformats.org/drawingml/2006/main">
            <a:off x="6553200" y="2390775"/>
            <a:ext cx="502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8A87"/>
                </a:solidFill>
                <a:latin typeface="Helvetica Neue"/>
                <a:ea typeface="Helvetica Neue"/>
                <a:cs typeface="Helvetica Neue"/>
              </a:defRPr>
            </a:pPr>
            <a:r>
              <a:rPr sz="2175" b="1">
                <a:solidFill>
                  <a:srgbClr val="008A87"/>
                </a:solidFill>
                <a:latin typeface="Helvetica Neue"/>
                <a:ea typeface="Helvetica Neue"/>
                <a:cs typeface="Helvetica Neue"/>
              </a:rPr>
              <a:t>EXP-010 · Qwen3-VL-4B-Instruct</a:t>
            </a:r>
          </a:p>
        </p:txBody>
      </p:sp>
      <p:sp>
        <p:nvSpPr>
          <p:cNvPr id="10" name="">
            <a:extLst xmlns:a="http://schemas.openxmlformats.org/drawingml/2006/main">
              <a:ext uri="{FF2B5EF4-FFF2-40B4-BE49-F238E27FC236}">
                <a16:creationId xmlns:a16="http://schemas.microsoft.com/office/drawing/2014/main" id="{C35D2F53-6954-484F-ABB5-7C1DC13E3A55}"/>
              </a:ext>
            </a:extLst>
          </p:cNvPr>
          <p:cNvSpPr>
            <a:spLocks xmlns:a="http://schemas.openxmlformats.org/drawingml/2006/main" noGrp="1"/>
          </p:cNvSpPr>
          <p:nvPr/>
        </p:nvSpPr>
        <p:spPr>
          <a:xfrm xmlns:a="http://schemas.openxmlformats.org/drawingml/2006/main">
            <a:off x="6553200" y="3000375"/>
            <a:ext cx="50292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Small general-purpose VLM</a:t>
            </a:r>
          </a:p>
          <a:p xmlns:a="http://schemas.openxmlformats.org/drawingml/2006/main">
            <a:r>
              <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Advertises document OCR capability.</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Keeping Qwen tests whether simplifying</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the output task can unlock learning.</a:t>
            </a:r>
          </a:p>
        </p:txBody>
      </p:sp>
      <p:sp>
        <p:nvSpPr>
          <p:cNvPr id="11" name="">
            <a:extLst xmlns:a="http://schemas.openxmlformats.org/drawingml/2006/main">
              <a:ext uri="{FF2B5EF4-FFF2-40B4-BE49-F238E27FC236}">
                <a16:creationId xmlns:a16="http://schemas.microsoft.com/office/drawing/2014/main" id="{5F6D6B71-4178-4AA6-A649-5586AE1ADEAF}"/>
              </a:ext>
            </a:extLst>
          </p:cNvPr>
          <p:cNvSpPr>
            <a:spLocks xmlns:a="http://schemas.openxmlformats.org/drawingml/2006/main" noGrp="1"/>
          </p:cNvSpPr>
          <p:nvPr/>
        </p:nvSpPr>
        <p:spPr>
          <a:xfrm xmlns:a="http://schemas.openxmlformats.org/drawingml/2006/main">
            <a:off x="609600" y="4905375"/>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12" name="">
            <a:extLst xmlns:a="http://schemas.openxmlformats.org/drawingml/2006/main">
              <a:ext uri="{FF2B5EF4-FFF2-40B4-BE49-F238E27FC236}">
                <a16:creationId xmlns:a16="http://schemas.microsoft.com/office/drawing/2014/main" id="{FA1F43AE-CF29-4B53-8E28-9BF4A7E04578}"/>
              </a:ext>
            </a:extLst>
          </p:cNvPr>
          <p:cNvSpPr>
            <a:spLocks xmlns:a="http://schemas.openxmlformats.org/drawingml/2006/main" noGrp="1"/>
          </p:cNvSpPr>
          <p:nvPr/>
        </p:nvSpPr>
        <p:spPr>
          <a:xfrm xmlns:a="http://schemas.openxmlformats.org/drawingml/2006/main">
            <a:off x="609600" y="5124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52C40"/>
                </a:solidFill>
                <a:latin typeface="Helvetica Neue"/>
                <a:ea typeface="Helvetica Neue"/>
                <a:cs typeface="Helvetica Neue"/>
              </a:defRPr>
            </a:pPr>
            <a:r>
              <a:rPr sz="1875" b="1">
                <a:solidFill>
                  <a:srgbClr val="152C40"/>
                </a:solidFill>
                <a:latin typeface="Helvetica Neue"/>
                <a:ea typeface="Helvetica Neue"/>
                <a:cs typeface="Helvetica Neue"/>
              </a:rPr>
              <a:t>Shared numeric recipe: random 0 → 64 → 128 → 192 pages; seed 824</a:t>
            </a:r>
          </a:p>
        </p:txBody>
      </p:sp>
      <p:sp>
        <p:nvSpPr>
          <p:cNvPr id="13" name="">
            <a:extLst xmlns:a="http://schemas.openxmlformats.org/drawingml/2006/main">
              <a:ext uri="{FF2B5EF4-FFF2-40B4-BE49-F238E27FC236}">
                <a16:creationId xmlns:a16="http://schemas.microsoft.com/office/drawing/2014/main" id="{7F3825C8-9681-4A01-B45B-02BAB4808FB0}"/>
              </a:ext>
            </a:extLst>
          </p:cNvPr>
          <p:cNvSpPr>
            <a:spLocks xmlns:a="http://schemas.openxmlformats.org/drawingml/2006/main" noGrp="1"/>
          </p:cNvSpPr>
          <p:nvPr/>
        </p:nvSpPr>
        <p:spPr>
          <a:xfrm xmlns:a="http://schemas.openxmlformats.org/drawingml/2006/main">
            <a:off x="609600" y="5553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52C40"/>
                </a:solidFill>
                <a:latin typeface="Helvetica Neue"/>
                <a:ea typeface="Helvetica Neue"/>
                <a:cs typeface="Helvetica Neue"/>
              </a:defRPr>
            </a:pPr>
            <a:r>
              <a:rPr sz="1725" b="0">
                <a:solidFill>
                  <a:srgbClr val="152C40"/>
                </a:solidFill>
                <a:latin typeface="Helvetica Neue"/>
                <a:ea typeface="Helvetica Neue"/>
                <a:cs typeface="Helvetica Neue"/>
              </a:rPr>
              <a:t>3 epochs per fresh cumulative fit · LoRA r8 / α16 · LR 10⁻⁴ · HF Transformers + PEFT</a:t>
            </a:r>
          </a:p>
        </p:txBody>
      </p:sp>
      <p:sp>
        <p:nvSpPr>
          <p:cNvPr id="14" name="">
            <a:extLst xmlns:a="http://schemas.openxmlformats.org/drawingml/2006/main">
              <a:ext uri="{FF2B5EF4-FFF2-40B4-BE49-F238E27FC236}">
                <a16:creationId xmlns:a16="http://schemas.microsoft.com/office/drawing/2014/main" id="{D740CFAD-17BD-443F-8565-C922DEEC29BE}"/>
              </a:ext>
            </a:extLst>
          </p:cNvPr>
          <p:cNvSpPr>
            <a:spLocks xmlns:a="http://schemas.openxmlformats.org/drawingml/2006/main" noGrp="1"/>
          </p:cNvSpPr>
          <p:nvPr/>
        </p:nvSpPr>
        <p:spPr>
          <a:xfrm xmlns:a="http://schemas.openxmlformats.org/drawingml/2006/main">
            <a:off x="609600" y="59531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776"/>
                </a:solidFill>
                <a:latin typeface="Helvetica Neue"/>
                <a:ea typeface="Helvetica Neue"/>
                <a:cs typeface="Helvetica Neue"/>
              </a:defRPr>
            </a:pPr>
            <a:r>
              <a:rPr sz="1500" b="0">
                <a:solidFill>
                  <a:srgbClr val="526776"/>
                </a:solidFill>
                <a:latin typeface="Helvetica Neue"/>
                <a:ea typeface="Helvetica Neue"/>
                <a:cs typeface="Helvetica Neue"/>
              </a:rPr>
              <a:t>Specialist versus general VLM is an engineering comparison; processors and prompts differ.</a:t>
            </a:r>
          </a:p>
        </p:txBody>
      </p:sp>
    </p:spTree>
    <p:extLst>
      <p:ext uri="{BB962C8B-B14F-4D97-AF65-F5344CB8AC3E}">
        <p14:creationId xmlns:p14="http://schemas.microsoft.com/office/powerpoint/2010/main" val="881101387"/>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4AF1B8-49C5-4841-8D9D-8DFCE67034BB}"/>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EXP-009–010 · WHOLE-PAGE RANDOM CONTROLS</a:t>
            </a:r>
          </a:p>
        </p:txBody>
      </p:sp>
      <p:sp>
        <p:nvSpPr>
          <p:cNvPr id="2" name="">
            <a:extLst xmlns:a="http://schemas.openxmlformats.org/drawingml/2006/main">
              <a:ext uri="{FF2B5EF4-FFF2-40B4-BE49-F238E27FC236}">
                <a16:creationId xmlns:a16="http://schemas.microsoft.com/office/drawing/2014/main" id="{809FE68C-7AA3-418E-A9CC-53875728CED8}"/>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Both models learn under random selection</a:t>
            </a:r>
          </a:p>
        </p:txBody>
      </p:sp>
      <p:sp>
        <p:nvSpPr>
          <p:cNvPr id="3" name="">
            <a:extLst xmlns:a="http://schemas.openxmlformats.org/drawingml/2006/main">
              <a:ext uri="{FF2B5EF4-FFF2-40B4-BE49-F238E27FC236}">
                <a16:creationId xmlns:a16="http://schemas.microsoft.com/office/drawing/2014/main" id="{06A75769-5E45-43D4-BA67-87B6D3B164B0}"/>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B806ECA5-DE6F-44BC-8D35-33331AD03F45}"/>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Same fixed VAL42 · CER/WER are edit counts divided by reference length; lower is better</a:t>
            </a:r>
          </a:p>
        </p:txBody>
      </p:sp>
      <p:sp>
        <p:nvSpPr>
          <p:cNvPr id="5" name="">
            <a:extLst xmlns:a="http://schemas.openxmlformats.org/drawingml/2006/main">
              <a:ext uri="{FF2B5EF4-FFF2-40B4-BE49-F238E27FC236}">
                <a16:creationId xmlns:a16="http://schemas.microsoft.com/office/drawing/2014/main" id="{D3AC3C4C-3291-4C52-B959-C234564252B4}"/>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06</a:t>
            </a:r>
          </a:p>
        </p:txBody>
      </p:sp>
      <p:graphicFrame>
        <p:nvGraphicFramePr>
          <p:cNvPr id="15" name="Chart"/>
          <p:cNvGraphicFramePr/>
          <p:nvPr/>
        </p:nvGraphicFramePr>
        <p:xfrm>
          <a:off xmlns:a="http://schemas.openxmlformats.org/drawingml/2006/main" x="400050" y="1495425"/>
          <a:ext xmlns:a="http://schemas.openxmlformats.org/drawingml/2006/main" cx="5600700" cy="2266950"/>
        </p:xfrm>
        <a:graphic xmlns:a="http://schemas.openxmlformats.org/drawingml/2006/main">
          <a:graphicData uri="http://schemas.openxmlformats.org/drawingml/2006/chart">
            <c:chart xmlns:r="http://schemas.openxmlformats.org/officeDocument/2006/relationships" xmlns:c="http://schemas.openxmlformats.org/drawingml/2006/chart" r:id="R4930e66121134530"/>
          </a:graphicData>
        </a:graphic>
      </p:graphicFrame>
      <p:graphicFrame>
        <p:nvGraphicFramePr>
          <p:cNvPr id="16" name="Chart"/>
          <p:cNvGraphicFramePr/>
          <p:nvPr/>
        </p:nvGraphicFramePr>
        <p:xfrm>
          <a:off xmlns:a="http://schemas.openxmlformats.org/drawingml/2006/main" x="6191250" y="1495425"/>
          <a:ext xmlns:a="http://schemas.openxmlformats.org/drawingml/2006/main" cx="5600700" cy="2266950"/>
        </p:xfrm>
        <a:graphic xmlns:a="http://schemas.openxmlformats.org/drawingml/2006/main">
          <a:graphicData uri="http://schemas.openxmlformats.org/drawingml/2006/chart">
            <c:chart xmlns:r="http://schemas.openxmlformats.org/officeDocument/2006/relationships" xmlns:c="http://schemas.openxmlformats.org/drawingml/2006/chart" r:id="R17106fa85be2497c"/>
          </a:graphicData>
        </a:graphic>
      </p:graphicFrame>
      <p:graphicFrame>
        <p:nvGraphicFramePr>
          <p:cNvPr id="17" name=""/>
          <p:cNvGraphicFramePr/>
          <p:nvPr/>
        </p:nvGraphicFramePr>
        <p:xfrm>
          <a:off xmlns:a="http://schemas.openxmlformats.org/drawingml/2006/main" x="609600" y="3829050"/>
          <a:ext xmlns:a="http://schemas.openxmlformats.org/drawingml/2006/main" cx="10972800" cy="2009775"/>
        </p:xfrm>
        <a:graphic xmlns:a="http://schemas.openxmlformats.org/drawingml/2006/main">
          <a:graphicData uri="http://schemas.openxmlformats.org/drawingml/2006/table">
            <a:tbl>
              <a:tblPr/>
              <a:tblGrid>
                <a:gridCol w="1257300"/>
                <a:gridCol w="2428875"/>
                <a:gridCol w="2428875"/>
                <a:gridCol w="2428875"/>
                <a:gridCol w="2428875"/>
              </a:tblGrid>
              <a:tr h="401955">
                <a:tc>
                  <a:txBody>
                    <a:bodyPr/>
                    <a:lstStyle/>
                    <a:p>
                      <a:r>
                        <a:rPr sz="1575" b="1">
                          <a:solidFill>
                            <a:srgbClr val="FFFFFF"/>
                          </a:solidFill>
                          <a:latin typeface="Helvetica Neue"/>
                          <a:ea typeface="Helvetica Neue"/>
                          <a:cs typeface="Helvetica Neue"/>
                        </a:rPr>
                        <a:t>Pages</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LightOn CER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LightOn WER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Qwen CER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Qwen WER</a:t>
                      </a:r>
                    </a:p>
                  </a:txBody>
                  <a:tcPr marL="114300" marR="114300" marT="28575" marB="28575" anchor="ctr">
                    <a:solidFill>
                      <a:srgbClr val="152C40"/>
                    </a:solidFill>
                  </a:tcPr>
                </a:tc>
              </a:tr>
              <a:tr h="401955">
                <a:tc>
                  <a:txBody>
                    <a:bodyPr/>
                    <a:lstStyle/>
                    <a:p>
                      <a:r>
                        <a:rPr sz="1650">
                          <a:solidFill>
                            <a:srgbClr val="152C40"/>
                          </a:solidFill>
                          <a:latin typeface="Helvetica Neue"/>
                          <a:ea typeface="Helvetica Neue"/>
                          <a:cs typeface="Helvetica Neue"/>
                        </a:rPr>
                        <a:t>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0.7812</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1.1155</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0.7902</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1.0019</a:t>
                      </a:r>
                    </a:p>
                  </a:txBody>
                  <a:tcPr marL="114300" marR="114300" marT="28575" marB="28575" anchor="ctr">
                    <a:solidFill>
                      <a:srgbClr val="FFFFFF"/>
                    </a:solidFill>
                  </a:tcPr>
                </a:tc>
              </a:tr>
              <a:tr h="401955">
                <a:tc>
                  <a:txBody>
                    <a:bodyPr/>
                    <a:lstStyle/>
                    <a:p>
                      <a:r>
                        <a:rPr sz="1650">
                          <a:solidFill>
                            <a:srgbClr val="152C40"/>
                          </a:solidFill>
                          <a:latin typeface="Helvetica Neue"/>
                          <a:ea typeface="Helvetica Neue"/>
                          <a:cs typeface="Helvetica Neue"/>
                        </a:rPr>
                        <a:t>64</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0.5683</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0.9720</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0.5025</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0.8643</a:t>
                      </a:r>
                    </a:p>
                  </a:txBody>
                  <a:tcPr marL="114300" marR="114300" marT="28575" marB="28575" anchor="ctr">
                    <a:solidFill>
                      <a:srgbClr val="EEF3F5"/>
                    </a:solidFill>
                  </a:tcPr>
                </a:tc>
              </a:tr>
              <a:tr h="401955">
                <a:tc>
                  <a:txBody>
                    <a:bodyPr/>
                    <a:lstStyle/>
                    <a:p>
                      <a:r>
                        <a:rPr sz="1650">
                          <a:solidFill>
                            <a:srgbClr val="152C40"/>
                          </a:solidFill>
                          <a:latin typeface="Helvetica Neue"/>
                          <a:ea typeface="Helvetica Neue"/>
                          <a:cs typeface="Helvetica Neue"/>
                        </a:rPr>
                        <a:t>128</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0.3625</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0.8164</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0.2946</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0.6841</a:t>
                      </a:r>
                    </a:p>
                  </a:txBody>
                  <a:tcPr marL="114300" marR="114300" marT="28575" marB="28575" anchor="ctr">
                    <a:solidFill>
                      <a:srgbClr val="FFFFFF"/>
                    </a:solidFill>
                  </a:tcPr>
                </a:tc>
              </a:tr>
              <a:tr h="401955">
                <a:tc>
                  <a:txBody>
                    <a:bodyPr/>
                    <a:lstStyle/>
                    <a:p>
                      <a:r>
                        <a:rPr sz="1650">
                          <a:solidFill>
                            <a:srgbClr val="152C40"/>
                          </a:solidFill>
                          <a:latin typeface="Helvetica Neue"/>
                          <a:ea typeface="Helvetica Neue"/>
                          <a:cs typeface="Helvetica Neue"/>
                        </a:rPr>
                        <a:t>192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0.2161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0.6179</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0.2112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0.5589</a:t>
                      </a:r>
                    </a:p>
                  </a:txBody>
                  <a:tcPr marL="114300" marR="114300" marT="28575" marB="28575" anchor="ctr">
                    <a:solidFill>
                      <a:srgbClr val="EEF3F5"/>
                    </a:solidFill>
                  </a:tcPr>
                </a:tc>
              </a:tr>
            </a:tbl>
          </a:graphicData>
        </a:graphic>
      </p:graphicFrame>
      <p:sp>
        <p:nvSpPr>
          <p:cNvPr id="9" name="">
            <a:extLst xmlns:a="http://schemas.openxmlformats.org/drawingml/2006/main">
              <a:ext uri="{FF2B5EF4-FFF2-40B4-BE49-F238E27FC236}">
                <a16:creationId xmlns:a16="http://schemas.microsoft.com/office/drawing/2014/main" id="{ED033F8D-99F5-4E8A-8B82-158C0CDC1EAE}"/>
              </a:ext>
            </a:extLst>
          </p:cNvPr>
          <p:cNvSpPr>
            <a:spLocks xmlns:a="http://schemas.openxmlformats.org/drawingml/2006/main" noGrp="1"/>
          </p:cNvSpPr>
          <p:nvPr/>
        </p:nvSpPr>
        <p:spPr>
          <a:xfrm xmlns:a="http://schemas.openxmlformats.org/drawingml/2006/main">
            <a:off x="609600" y="600075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08A87"/>
                </a:solidFill>
                <a:latin typeface="Helvetica Neue"/>
                <a:ea typeface="Helvetica Neue"/>
                <a:cs typeface="Helvetica Neue"/>
              </a:defRPr>
            </a:pPr>
            <a:r>
              <a:rPr sz="1575" b="1">
                <a:solidFill>
                  <a:srgbClr val="008A87"/>
                </a:solidFill>
                <a:latin typeface="Helvetica Neue"/>
                <a:ea typeface="Helvetica Neue"/>
                <a:cs typeface="Helvetica Neue"/>
              </a:rPr>
              <a:t>~72–73% relative CER reduction at 192 pages; substantial word errors remain.</a:t>
            </a:r>
          </a:p>
        </p:txBody>
      </p:sp>
    </p:spTree>
    <p:extLst>
      <p:ext uri="{BB962C8B-B14F-4D97-AF65-F5344CB8AC3E}">
        <p14:creationId xmlns:p14="http://schemas.microsoft.com/office/powerpoint/2010/main" val="1058747261"/>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A035956-377A-4A78-9BBF-CA7ABCF071AF}"/>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METHODS · RANDOM, ENTROPY AND LEAST CONFIDENCE</a:t>
            </a:r>
          </a:p>
        </p:txBody>
      </p:sp>
      <p:sp>
        <p:nvSpPr>
          <p:cNvPr id="2" name="">
            <a:extLst xmlns:a="http://schemas.openxmlformats.org/drawingml/2006/main">
              <a:ext uri="{FF2B5EF4-FFF2-40B4-BE49-F238E27FC236}">
                <a16:creationId xmlns:a16="http://schemas.microsoft.com/office/drawing/2014/main" id="{FB56DF1D-6301-4940-B25F-DD14A2A173AE}"/>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Entropy and confidence estimate OCR uncertainty</a:t>
            </a:r>
          </a:p>
        </p:txBody>
      </p:sp>
      <p:sp>
        <p:nvSpPr>
          <p:cNvPr id="3" name="">
            <a:extLst xmlns:a="http://schemas.openxmlformats.org/drawingml/2006/main">
              <a:ext uri="{FF2B5EF4-FFF2-40B4-BE49-F238E27FC236}">
                <a16:creationId xmlns:a16="http://schemas.microsoft.com/office/drawing/2014/main" id="{342D821C-81C2-49FD-90DE-5AFF8C7ED550}"/>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6316DA82-865E-41CB-9F4D-B91B68B5AD2F}"/>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Uncertainty motivation: Settles (2009), §3.1 · formulas below are our generated-token adaptation</a:t>
            </a:r>
          </a:p>
        </p:txBody>
      </p:sp>
      <p:sp>
        <p:nvSpPr>
          <p:cNvPr id="5" name="">
            <a:extLst xmlns:a="http://schemas.openxmlformats.org/drawingml/2006/main">
              <a:ext uri="{FF2B5EF4-FFF2-40B4-BE49-F238E27FC236}">
                <a16:creationId xmlns:a16="http://schemas.microsoft.com/office/drawing/2014/main" id="{2D5C788E-17D7-4FDF-ADC0-13DE5D2D33D7}"/>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A927822E-A083-46D7-A7D9-922B296A33A5}"/>
              </a:ext>
            </a:extLst>
          </p:cNvPr>
          <p:cNvSpPr>
            <a:spLocks xmlns:a="http://schemas.openxmlformats.org/drawingml/2006/main" noGrp="1"/>
          </p:cNvSpPr>
          <p:nvPr/>
        </p:nvSpPr>
        <p:spPr>
          <a:xfrm xmlns:a="http://schemas.openxmlformats.org/drawingml/2006/main">
            <a:off x="609600" y="1571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pₜ(v): raw next-token probability · yₜ: generated token · T: tokens · V: vocabulary size</a:t>
            </a:r>
          </a:p>
        </p:txBody>
      </p:sp>
      <p:sp>
        <p:nvSpPr>
          <p:cNvPr id="7" name="">
            <a:extLst xmlns:a="http://schemas.openxmlformats.org/drawingml/2006/main">
              <a:ext uri="{FF2B5EF4-FFF2-40B4-BE49-F238E27FC236}">
                <a16:creationId xmlns:a16="http://schemas.microsoft.com/office/drawing/2014/main" id="{4120A76B-774D-4D7F-B799-97F43FD1B9ED}"/>
              </a:ext>
            </a:extLst>
          </p:cNvPr>
          <p:cNvSpPr>
            <a:spLocks xmlns:a="http://schemas.openxmlformats.org/drawingml/2006/main" noGrp="1"/>
          </p:cNvSpPr>
          <p:nvPr/>
        </p:nvSpPr>
        <p:spPr>
          <a:xfrm xmlns:a="http://schemas.openxmlformats.org/drawingml/2006/main">
            <a:off x="609600" y="2200275"/>
            <a:ext cx="2152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8A87"/>
                </a:solidFill>
                <a:latin typeface="Helvetica Neue"/>
                <a:ea typeface="Helvetica Neue"/>
                <a:cs typeface="Helvetica Neue"/>
              </a:defRPr>
            </a:pPr>
            <a:r>
              <a:rPr sz="2175" b="1">
                <a:solidFill>
                  <a:srgbClr val="008A87"/>
                </a:solidFill>
                <a:latin typeface="Helvetica Neue"/>
                <a:ea typeface="Helvetica Neue"/>
                <a:cs typeface="Helvetica Neue"/>
              </a:rPr>
              <a:t>Entropy</a:t>
            </a:r>
          </a:p>
        </p:txBody>
      </p:sp>
      <p:sp>
        <p:nvSpPr>
          <p:cNvPr id="8" name="">
            <a:extLst xmlns:a="http://schemas.openxmlformats.org/drawingml/2006/main">
              <a:ext uri="{FF2B5EF4-FFF2-40B4-BE49-F238E27FC236}">
                <a16:creationId xmlns:a16="http://schemas.microsoft.com/office/drawing/2014/main" id="{0F92B979-A45D-4873-9AFF-DB710B0B4969}"/>
              </a:ext>
            </a:extLst>
          </p:cNvPr>
          <p:cNvSpPr>
            <a:spLocks xmlns:a="http://schemas.openxmlformats.org/drawingml/2006/main" noGrp="1"/>
          </p:cNvSpPr>
          <p:nvPr/>
        </p:nvSpPr>
        <p:spPr>
          <a:xfrm xmlns:a="http://schemas.openxmlformats.org/drawingml/2006/main">
            <a:off x="3000375" y="2200275"/>
            <a:ext cx="85820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C40"/>
                </a:solidFill>
                <a:latin typeface="Helvetica Neue"/>
                <a:ea typeface="Helvetica Neue"/>
                <a:cs typeface="Helvetica Neue"/>
              </a:defRPr>
            </a:pPr>
            <a:r>
              <a:rPr sz="2100" b="1">
                <a:solidFill>
                  <a:srgbClr val="152C40"/>
                </a:solidFill>
                <a:latin typeface="Helvetica Neue"/>
                <a:ea typeface="Helvetica Neue"/>
                <a:cs typeface="Helvetica Neue"/>
              </a:rPr>
              <a:t>H(line) = − Σₜ Σᵥ pₜ(v) log pₜ(v) / (T log V)</a:t>
            </a:r>
          </a:p>
        </p:txBody>
      </p:sp>
      <p:sp>
        <p:nvSpPr>
          <p:cNvPr id="9" name="">
            <a:extLst xmlns:a="http://schemas.openxmlformats.org/drawingml/2006/main">
              <a:ext uri="{FF2B5EF4-FFF2-40B4-BE49-F238E27FC236}">
                <a16:creationId xmlns:a16="http://schemas.microsoft.com/office/drawing/2014/main" id="{B3EEE7F7-DF5F-4B6C-9B20-1B47F7896679}"/>
              </a:ext>
            </a:extLst>
          </p:cNvPr>
          <p:cNvSpPr>
            <a:spLocks xmlns:a="http://schemas.openxmlformats.org/drawingml/2006/main" noGrp="1"/>
          </p:cNvSpPr>
          <p:nvPr/>
        </p:nvSpPr>
        <p:spPr>
          <a:xfrm xmlns:a="http://schemas.openxmlformats.org/drawingml/2006/main">
            <a:off x="3000375" y="272415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Select the highest page H: token distributions have more competing possibilities.</a:t>
            </a:r>
          </a:p>
        </p:txBody>
      </p:sp>
      <p:sp>
        <p:nvSpPr>
          <p:cNvPr id="10" name="">
            <a:extLst xmlns:a="http://schemas.openxmlformats.org/drawingml/2006/main">
              <a:ext uri="{FF2B5EF4-FFF2-40B4-BE49-F238E27FC236}">
                <a16:creationId xmlns:a16="http://schemas.microsoft.com/office/drawing/2014/main" id="{FD6A4697-353B-411C-AFEF-7CEC8F28A31A}"/>
              </a:ext>
            </a:extLst>
          </p:cNvPr>
          <p:cNvSpPr>
            <a:spLocks xmlns:a="http://schemas.openxmlformats.org/drawingml/2006/main" noGrp="1"/>
          </p:cNvSpPr>
          <p:nvPr/>
        </p:nvSpPr>
        <p:spPr>
          <a:xfrm xmlns:a="http://schemas.openxmlformats.org/drawingml/2006/main">
            <a:off x="609600" y="34099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11" name="">
            <a:extLst xmlns:a="http://schemas.openxmlformats.org/drawingml/2006/main">
              <a:ext uri="{FF2B5EF4-FFF2-40B4-BE49-F238E27FC236}">
                <a16:creationId xmlns:a16="http://schemas.microsoft.com/office/drawing/2014/main" id="{40117F53-B17D-4C3B-AB91-1812C354B2B1}"/>
              </a:ext>
            </a:extLst>
          </p:cNvPr>
          <p:cNvSpPr>
            <a:spLocks xmlns:a="http://schemas.openxmlformats.org/drawingml/2006/main" noGrp="1"/>
          </p:cNvSpPr>
          <p:nvPr/>
        </p:nvSpPr>
        <p:spPr>
          <a:xfrm xmlns:a="http://schemas.openxmlformats.org/drawingml/2006/main">
            <a:off x="609600" y="3667125"/>
            <a:ext cx="2276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8552A0"/>
                </a:solidFill>
                <a:latin typeface="Helvetica Neue"/>
                <a:ea typeface="Helvetica Neue"/>
                <a:cs typeface="Helvetica Neue"/>
              </a:defRPr>
            </a:pPr>
            <a:r>
              <a:rPr sz="2175" b="1">
                <a:solidFill>
                  <a:srgbClr val="8552A0"/>
                </a:solidFill>
                <a:latin typeface="Helvetica Neue"/>
                <a:ea typeface="Helvetica Neue"/>
                <a:cs typeface="Helvetica Neue"/>
              </a:rPr>
              <a:t>Least confidence</a:t>
            </a:r>
          </a:p>
        </p:txBody>
      </p:sp>
      <p:sp>
        <p:nvSpPr>
          <p:cNvPr id="12" name="">
            <a:extLst xmlns:a="http://schemas.openxmlformats.org/drawingml/2006/main">
              <a:ext uri="{FF2B5EF4-FFF2-40B4-BE49-F238E27FC236}">
                <a16:creationId xmlns:a16="http://schemas.microsoft.com/office/drawing/2014/main" id="{B268B906-12DC-4D34-A1AA-FCD0DE01931E}"/>
              </a:ext>
            </a:extLst>
          </p:cNvPr>
          <p:cNvSpPr>
            <a:spLocks xmlns:a="http://schemas.openxmlformats.org/drawingml/2006/main" noGrp="1"/>
          </p:cNvSpPr>
          <p:nvPr/>
        </p:nvSpPr>
        <p:spPr>
          <a:xfrm xmlns:a="http://schemas.openxmlformats.org/drawingml/2006/main">
            <a:off x="3000375" y="3667125"/>
            <a:ext cx="8582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C40"/>
                </a:solidFill>
                <a:latin typeface="Helvetica Neue"/>
                <a:ea typeface="Helvetica Neue"/>
                <a:cs typeface="Helvetica Neue"/>
              </a:defRPr>
            </a:pPr>
            <a:r>
              <a:rPr sz="2100" b="1">
                <a:solidFill>
                  <a:srgbClr val="152C40"/>
                </a:solidFill>
                <a:latin typeface="Helvetica Neue"/>
                <a:ea typeface="Helvetica Neue"/>
                <a:cs typeface="Helvetica Neue"/>
              </a:rPr>
              <a:t>C(line) = exp[ Σₜ log pₜ(yₜ) / T ]</a:t>
            </a:r>
          </a:p>
        </p:txBody>
      </p:sp>
      <p:sp>
        <p:nvSpPr>
          <p:cNvPr id="13" name="">
            <a:extLst xmlns:a="http://schemas.openxmlformats.org/drawingml/2006/main">
              <a:ext uri="{FF2B5EF4-FFF2-40B4-BE49-F238E27FC236}">
                <a16:creationId xmlns:a16="http://schemas.microsoft.com/office/drawing/2014/main" id="{F0BE18FD-67D2-4012-9982-E5EC572245DF}"/>
              </a:ext>
            </a:extLst>
          </p:cNvPr>
          <p:cNvSpPr>
            <a:spLocks xmlns:a="http://schemas.openxmlformats.org/drawingml/2006/main" noGrp="1"/>
          </p:cNvSpPr>
          <p:nvPr/>
        </p:nvSpPr>
        <p:spPr>
          <a:xfrm xmlns:a="http://schemas.openxmlformats.org/drawingml/2006/main">
            <a:off x="3000375" y="4191000"/>
            <a:ext cx="838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Select the lowest page C: the generated transcription has lower token confidence.</a:t>
            </a:r>
          </a:p>
        </p:txBody>
      </p:sp>
      <p:sp>
        <p:nvSpPr>
          <p:cNvPr id="14" name="">
            <a:extLst xmlns:a="http://schemas.openxmlformats.org/drawingml/2006/main">
              <a:ext uri="{FF2B5EF4-FFF2-40B4-BE49-F238E27FC236}">
                <a16:creationId xmlns:a16="http://schemas.microsoft.com/office/drawing/2014/main" id="{686ED4DD-F766-4A98-9028-74290898F0C3}"/>
              </a:ext>
            </a:extLst>
          </p:cNvPr>
          <p:cNvSpPr>
            <a:spLocks xmlns:a="http://schemas.openxmlformats.org/drawingml/2006/main" noGrp="1"/>
          </p:cNvSpPr>
          <p:nvPr/>
        </p:nvSpPr>
        <p:spPr>
          <a:xfrm xmlns:a="http://schemas.openxmlformats.org/drawingml/2006/main">
            <a:off x="609600" y="48577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15" name="">
            <a:extLst xmlns:a="http://schemas.openxmlformats.org/drawingml/2006/main">
              <a:ext uri="{FF2B5EF4-FFF2-40B4-BE49-F238E27FC236}">
                <a16:creationId xmlns:a16="http://schemas.microsoft.com/office/drawing/2014/main" id="{73E40C95-EFA5-413E-8106-B70EF269BADD}"/>
              </a:ext>
            </a:extLst>
          </p:cNvPr>
          <p:cNvSpPr>
            <a:spLocks xmlns:a="http://schemas.openxmlformats.org/drawingml/2006/main" noGrp="1"/>
          </p:cNvSpPr>
          <p:nvPr/>
        </p:nvSpPr>
        <p:spPr>
          <a:xfrm xmlns:a="http://schemas.openxmlformats.org/drawingml/2006/main">
            <a:off x="609600" y="5105400"/>
            <a:ext cx="2276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3F5263"/>
                </a:solidFill>
                <a:latin typeface="Helvetica Neue"/>
                <a:ea typeface="Helvetica Neue"/>
                <a:cs typeface="Helvetica Neue"/>
              </a:defRPr>
            </a:pPr>
            <a:r>
              <a:rPr sz="2100" b="1">
                <a:solidFill>
                  <a:srgbClr val="3F5263"/>
                </a:solidFill>
                <a:latin typeface="Helvetica Neue"/>
                <a:ea typeface="Helvetica Neue"/>
                <a:cs typeface="Helvetica Neue"/>
              </a:rPr>
              <a:t>Random control</a:t>
            </a:r>
          </a:p>
        </p:txBody>
      </p:sp>
      <p:sp>
        <p:nvSpPr>
          <p:cNvPr id="16" name="">
            <a:extLst xmlns:a="http://schemas.openxmlformats.org/drawingml/2006/main">
              <a:ext uri="{FF2B5EF4-FFF2-40B4-BE49-F238E27FC236}">
                <a16:creationId xmlns:a16="http://schemas.microsoft.com/office/drawing/2014/main" id="{EF973142-4826-462B-94B6-C1FFC0FB0F9F}"/>
              </a:ext>
            </a:extLst>
          </p:cNvPr>
          <p:cNvSpPr>
            <a:spLocks xmlns:a="http://schemas.openxmlformats.org/drawingml/2006/main" noGrp="1"/>
          </p:cNvSpPr>
          <p:nvPr/>
        </p:nvSpPr>
        <p:spPr>
          <a:xfrm xmlns:a="http://schemas.openxmlformats.org/drawingml/2006/main">
            <a:off x="3000375" y="5143500"/>
            <a:ext cx="8582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Seeded uniform page selection without replacement; no model score.</a:t>
            </a:r>
          </a:p>
        </p:txBody>
      </p:sp>
      <p:sp>
        <p:nvSpPr>
          <p:cNvPr id="17" name="">
            <a:extLst xmlns:a="http://schemas.openxmlformats.org/drawingml/2006/main">
              <a:ext uri="{FF2B5EF4-FFF2-40B4-BE49-F238E27FC236}">
                <a16:creationId xmlns:a16="http://schemas.microsoft.com/office/drawing/2014/main" id="{B7C137F2-2D4C-4275-8ADD-51113BD3F4E2}"/>
              </a:ext>
            </a:extLst>
          </p:cNvPr>
          <p:cNvSpPr>
            <a:spLocks xmlns:a="http://schemas.openxmlformats.org/drawingml/2006/main" noGrp="1"/>
          </p:cNvSpPr>
          <p:nvPr/>
        </p:nvSpPr>
        <p:spPr>
          <a:xfrm xmlns:a="http://schemas.openxmlformats.org/drawingml/2006/main">
            <a:off x="609600" y="5734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8A87"/>
                </a:solidFill>
                <a:latin typeface="Helvetica Neue"/>
                <a:ea typeface="Helvetica Neue"/>
                <a:cs typeface="Helvetica Neue"/>
              </a:defRPr>
            </a:pPr>
            <a:r>
              <a:rPr sz="1650" b="1">
                <a:solidFill>
                  <a:srgbClr val="008A87"/>
                </a:solidFill>
                <a:latin typeface="Helvetica Neue"/>
                <a:ea typeface="Helvetica Neue"/>
                <a:cs typeface="Helvetica Neue"/>
              </a:rPr>
              <a:t>EXP-011: one page sequence. EXP-013: average 3 fixed line scores into each page score.</a:t>
            </a:r>
          </a:p>
        </p:txBody>
      </p:sp>
    </p:spTree>
    <p:extLst>
      <p:ext uri="{BB962C8B-B14F-4D97-AF65-F5344CB8AC3E}">
        <p14:creationId xmlns:p14="http://schemas.microsoft.com/office/powerpoint/2010/main" val="953372006"/>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3CBA1E2-9602-43AE-8629-A258D75FB304}"/>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METHODS · DIVERSITY BASELINE</a:t>
            </a:r>
          </a:p>
        </p:txBody>
      </p:sp>
      <p:sp>
        <p:nvSpPr>
          <p:cNvPr id="2" name="">
            <a:extLst xmlns:a="http://schemas.openxmlformats.org/drawingml/2006/main">
              <a:ext uri="{FF2B5EF4-FFF2-40B4-BE49-F238E27FC236}">
                <a16:creationId xmlns:a16="http://schemas.microsoft.com/office/drawing/2014/main" id="{05CD7370-40F1-4872-92EA-BE19931FE327}"/>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K-center expands frozen visual coverage</a:t>
            </a:r>
          </a:p>
        </p:txBody>
      </p:sp>
      <p:sp>
        <p:nvSpPr>
          <p:cNvPr id="3" name="">
            <a:extLst xmlns:a="http://schemas.openxmlformats.org/drawingml/2006/main">
              <a:ext uri="{FF2B5EF4-FFF2-40B4-BE49-F238E27FC236}">
                <a16:creationId xmlns:a16="http://schemas.microsoft.com/office/drawing/2014/main" id="{7D4382F1-1B6D-4BF9-B94D-B43A2BA5E835}"/>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22731B81-A332-4CC2-96DF-205DA5F08B14}"/>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Coverage motivation: Sener &amp; Savarese, ICLR 2018 · greedy Euclidean coverage in frozen features</a:t>
            </a:r>
          </a:p>
        </p:txBody>
      </p:sp>
      <p:sp>
        <p:nvSpPr>
          <p:cNvPr id="5" name="">
            <a:extLst xmlns:a="http://schemas.openxmlformats.org/drawingml/2006/main">
              <a:ext uri="{FF2B5EF4-FFF2-40B4-BE49-F238E27FC236}">
                <a16:creationId xmlns:a16="http://schemas.microsoft.com/office/drawing/2014/main" id="{C7FE1E23-08A9-4674-A81C-AD16FC554C9E}"/>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AC5BE2DB-637B-4BED-ACD3-FFD360AFDF7A}"/>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776"/>
                </a:solidFill>
                <a:latin typeface="Helvetica Neue"/>
                <a:ea typeface="Helvetica Neue"/>
                <a:cs typeface="Helvetica Neue"/>
              </a:defRPr>
            </a:pPr>
            <a:r>
              <a:rPr sz="1875" b="0">
                <a:solidFill>
                  <a:srgbClr val="526776"/>
                </a:solidFill>
                <a:latin typeface="Helvetica Neue"/>
                <a:ea typeface="Helvetica Neue"/>
                <a:cs typeface="Helvetica Neue"/>
              </a:rPr>
              <a:t>z: frozen normalized page feature · L: acquired pages · U: remaining pages</a:t>
            </a:r>
          </a:p>
        </p:txBody>
      </p:sp>
      <p:sp>
        <p:nvSpPr>
          <p:cNvPr id="7" name="">
            <a:extLst xmlns:a="http://schemas.openxmlformats.org/drawingml/2006/main">
              <a:ext uri="{FF2B5EF4-FFF2-40B4-BE49-F238E27FC236}">
                <a16:creationId xmlns:a16="http://schemas.microsoft.com/office/drawing/2014/main" id="{0B30353E-F45C-4671-BA75-659DC53B034D}"/>
              </a:ext>
            </a:extLst>
          </p:cNvPr>
          <p:cNvSpPr>
            <a:spLocks xmlns:a="http://schemas.openxmlformats.org/drawingml/2006/main" noGrp="1"/>
          </p:cNvSpPr>
          <p:nvPr/>
        </p:nvSpPr>
        <p:spPr>
          <a:xfrm xmlns:a="http://schemas.openxmlformats.org/drawingml/2006/main">
            <a:off x="609600" y="22098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C77920"/>
                </a:solidFill>
                <a:latin typeface="Helvetica Neue"/>
                <a:ea typeface="Helvetica Neue"/>
                <a:cs typeface="Helvetica Neue"/>
              </a:defRPr>
            </a:pPr>
            <a:r>
              <a:rPr sz="2400" b="1">
                <a:solidFill>
                  <a:srgbClr val="C77920"/>
                </a:solidFill>
                <a:latin typeface="Helvetica Neue"/>
                <a:ea typeface="Helvetica Neue"/>
                <a:cs typeface="Helvetica Neue"/>
              </a:rPr>
              <a:t>d(x, L) = minₗ∈L ‖z(x) − z(l)‖₂</a:t>
            </a:r>
          </a:p>
        </p:txBody>
      </p:sp>
      <p:sp>
        <p:nvSpPr>
          <p:cNvPr id="8" name="">
            <a:extLst xmlns:a="http://schemas.openxmlformats.org/drawingml/2006/main">
              <a:ext uri="{FF2B5EF4-FFF2-40B4-BE49-F238E27FC236}">
                <a16:creationId xmlns:a16="http://schemas.microsoft.com/office/drawing/2014/main" id="{8B02D208-B6FF-4FD3-9C92-BDDCD369C29D}"/>
              </a:ext>
            </a:extLst>
          </p:cNvPr>
          <p:cNvSpPr>
            <a:spLocks xmlns:a="http://schemas.openxmlformats.org/drawingml/2006/main" noGrp="1"/>
          </p:cNvSpPr>
          <p:nvPr/>
        </p:nvSpPr>
        <p:spPr>
          <a:xfrm xmlns:a="http://schemas.openxmlformats.org/drawingml/2006/main">
            <a:off x="609600" y="28860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52C40"/>
                </a:solidFill>
                <a:latin typeface="Helvetica Neue"/>
                <a:ea typeface="Helvetica Neue"/>
                <a:cs typeface="Helvetica Neue"/>
              </a:defRPr>
            </a:pPr>
            <a:r>
              <a:rPr sz="2025" b="1">
                <a:solidFill>
                  <a:srgbClr val="152C40"/>
                </a:solidFill>
                <a:latin typeface="Helvetica Neue"/>
                <a:ea typeface="Helvetica Neue"/>
                <a:cs typeface="Helvetica Neue"/>
              </a:rPr>
              <a:t>Choose x* = argmaxₓ∈U d(x, L); add x* to L; update distances; repeat.</a:t>
            </a:r>
          </a:p>
        </p:txBody>
      </p:sp>
      <p:sp>
        <p:nvSpPr>
          <p:cNvPr id="9" name="">
            <a:extLst xmlns:a="http://schemas.openxmlformats.org/drawingml/2006/main">
              <a:ext uri="{FF2B5EF4-FFF2-40B4-BE49-F238E27FC236}">
                <a16:creationId xmlns:a16="http://schemas.microsoft.com/office/drawing/2014/main" id="{9F79617D-9625-46FE-9B4A-A50A0C6196C5}"/>
              </a:ext>
            </a:extLst>
          </p:cNvPr>
          <p:cNvSpPr>
            <a:spLocks xmlns:a="http://schemas.openxmlformats.org/drawingml/2006/main" noGrp="1"/>
          </p:cNvSpPr>
          <p:nvPr/>
        </p:nvSpPr>
        <p:spPr>
          <a:xfrm xmlns:a="http://schemas.openxmlformats.org/drawingml/2006/main">
            <a:off x="609600" y="3819525"/>
            <a:ext cx="24384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C77920"/>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Frozen page</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features</a:t>
            </a:r>
          </a:p>
        </p:txBody>
      </p:sp>
      <p:sp>
        <p:nvSpPr>
          <p:cNvPr id="10" name="">
            <a:extLst xmlns:a="http://schemas.openxmlformats.org/drawingml/2006/main">
              <a:ext uri="{FF2B5EF4-FFF2-40B4-BE49-F238E27FC236}">
                <a16:creationId xmlns:a16="http://schemas.microsoft.com/office/drawing/2014/main" id="{527C21B1-DC03-4EA7-9FD2-3626ED1A2DF1}"/>
              </a:ext>
            </a:extLst>
          </p:cNvPr>
          <p:cNvSpPr>
            <a:spLocks xmlns:a="http://schemas.openxmlformats.org/drawingml/2006/main" noGrp="1"/>
          </p:cNvSpPr>
          <p:nvPr/>
        </p:nvSpPr>
        <p:spPr>
          <a:xfrm xmlns:a="http://schemas.openxmlformats.org/drawingml/2006/main">
            <a:off x="3838575" y="3819525"/>
            <a:ext cx="29908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C77920"/>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Farthest from</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selected pages</a:t>
            </a:r>
          </a:p>
        </p:txBody>
      </p:sp>
      <p:sp>
        <p:nvSpPr>
          <p:cNvPr id="11" name="">
            <a:extLst xmlns:a="http://schemas.openxmlformats.org/drawingml/2006/main">
              <a:ext uri="{FF2B5EF4-FFF2-40B4-BE49-F238E27FC236}">
                <a16:creationId xmlns:a16="http://schemas.microsoft.com/office/drawing/2014/main" id="{D9E62F00-CA1F-4FC3-8B8D-43AECD25CB52}"/>
              </a:ext>
            </a:extLst>
          </p:cNvPr>
          <p:cNvSpPr>
            <a:spLocks xmlns:a="http://schemas.openxmlformats.org/drawingml/2006/main" noGrp="1"/>
          </p:cNvSpPr>
          <p:nvPr/>
        </p:nvSpPr>
        <p:spPr>
          <a:xfrm xmlns:a="http://schemas.openxmlformats.org/drawingml/2006/main">
            <a:off x="7734300" y="3819525"/>
            <a:ext cx="38481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C77920"/>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Add centre and</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update coverage</a:t>
            </a:r>
          </a:p>
        </p:txBody>
      </p:sp>
      <p:cxnSp>
        <p:nvCxnSpPr>
          <p:cNvPr id="28" name=""/>
          <p:cNvCxnSpPr>
            <a:stCxn xmlns:a="http://schemas.openxmlformats.org/drawingml/2006/main" id="9" idx="3"/>
            <a:endCxn xmlns:a="http://schemas.openxmlformats.org/drawingml/2006/main" id="10" idx="1"/>
          </p:cNvCxnSpPr>
          <p:nvPr/>
        </p:nvCxnSpPr>
        <p:spPr>
          <a:xfrm xmlns:a="http://schemas.openxmlformats.org/drawingml/2006/main">
            <a:off x="3048000" y="4200525"/>
            <a:ext cx="790575"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29" name=""/>
          <p:cNvCxnSpPr>
            <a:stCxn xmlns:a="http://schemas.openxmlformats.org/drawingml/2006/main" id="10" idx="3"/>
            <a:endCxn xmlns:a="http://schemas.openxmlformats.org/drawingml/2006/main" id="11" idx="1"/>
          </p:cNvCxnSpPr>
          <p:nvPr/>
        </p:nvCxnSpPr>
        <p:spPr>
          <a:xfrm xmlns:a="http://schemas.openxmlformats.org/drawingml/2006/main">
            <a:off x="6829425" y="4200525"/>
            <a:ext cx="904875"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4" name="">
            <a:extLst xmlns:a="http://schemas.openxmlformats.org/drawingml/2006/main">
              <a:ext uri="{FF2B5EF4-FFF2-40B4-BE49-F238E27FC236}">
                <a16:creationId xmlns:a16="http://schemas.microsoft.com/office/drawing/2014/main" id="{D60C4B79-A22D-4CC1-B437-3C4168895A1D}"/>
              </a:ext>
            </a:extLst>
          </p:cNvPr>
          <p:cNvSpPr>
            <a:spLocks xmlns:a="http://schemas.openxmlformats.org/drawingml/2006/main" noGrp="1"/>
          </p:cNvSpPr>
          <p:nvPr/>
        </p:nvSpPr>
        <p:spPr>
          <a:xfrm xmlns:a="http://schemas.openxmlformats.org/drawingml/2006/main">
            <a:off x="609600" y="49149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EXP-011: begin from the shared 64 selected pages.</a:t>
            </a:r>
          </a:p>
        </p:txBody>
      </p:sp>
      <p:sp>
        <p:nvSpPr>
          <p:cNvPr id="15" name="">
            <a:extLst xmlns:a="http://schemas.openxmlformats.org/drawingml/2006/main">
              <a:ext uri="{FF2B5EF4-FFF2-40B4-BE49-F238E27FC236}">
                <a16:creationId xmlns:a16="http://schemas.microsoft.com/office/drawing/2014/main" id="{04995C98-1DF9-4B99-8F05-79648E338096}"/>
              </a:ext>
            </a:extLst>
          </p:cNvPr>
          <p:cNvSpPr>
            <a:spLocks xmlns:a="http://schemas.openxmlformats.org/drawingml/2006/main" noGrp="1"/>
          </p:cNvSpPr>
          <p:nvPr/>
        </p:nvSpPr>
        <p:spPr>
          <a:xfrm xmlns:a="http://schemas.openxmlformats.org/drawingml/2006/main">
            <a:off x="609600" y="534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EXP-013: with L empty, first choose the page nearest the pool’s mean feature.</a:t>
            </a:r>
          </a:p>
        </p:txBody>
      </p:sp>
      <p:sp>
        <p:nvSpPr>
          <p:cNvPr id="16" name="">
            <a:extLst xmlns:a="http://schemas.openxmlformats.org/drawingml/2006/main">
              <a:ext uri="{FF2B5EF4-FFF2-40B4-BE49-F238E27FC236}">
                <a16:creationId xmlns:a16="http://schemas.microsoft.com/office/drawing/2014/main" id="{9EF4B0AD-A142-49D7-88E3-F2C86B5C6899}"/>
              </a:ext>
            </a:extLst>
          </p:cNvPr>
          <p:cNvSpPr>
            <a:spLocks xmlns:a="http://schemas.openxmlformats.org/drawingml/2006/main" noGrp="1"/>
          </p:cNvSpPr>
          <p:nvPr/>
        </p:nvSpPr>
        <p:spPr>
          <a:xfrm xmlns:a="http://schemas.openxmlformats.org/drawingml/2006/main">
            <a:off x="609600" y="58864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776"/>
                </a:solidFill>
                <a:latin typeface="Helvetica Neue"/>
                <a:ea typeface="Helvetica Neue"/>
                <a:cs typeface="Helvetica Neue"/>
              </a:defRPr>
            </a:pPr>
            <a:r>
              <a:rPr sz="1575" b="0">
                <a:solidFill>
                  <a:srgbClr val="526776"/>
                </a:solidFill>
                <a:latin typeface="Helvetica Neue"/>
                <a:ea typeface="Helvetica Neue"/>
                <a:cs typeface="Helvetica Neue"/>
              </a:rPr>
              <a:t>Why: cover different inputs without relying on text confidence; visual distance may miss OCR difficulty.</a:t>
            </a:r>
          </a:p>
        </p:txBody>
      </p:sp>
    </p:spTree>
    <p:extLst>
      <p:ext uri="{BB962C8B-B14F-4D97-AF65-F5344CB8AC3E}">
        <p14:creationId xmlns:p14="http://schemas.microsoft.com/office/powerpoint/2010/main" val="1955326693"/>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FF00B4-19A9-4BD9-B732-F83FBE80D652}"/>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WHOLE-PAGE SELECTION · THREE PAIRED SEEDS, 824–826</a:t>
            </a:r>
          </a:p>
        </p:txBody>
      </p:sp>
      <p:sp>
        <p:nvSpPr>
          <p:cNvPr id="2" name="">
            <a:extLst xmlns:a="http://schemas.openxmlformats.org/drawingml/2006/main">
              <a:ext uri="{FF2B5EF4-FFF2-40B4-BE49-F238E27FC236}">
                <a16:creationId xmlns:a16="http://schemas.microsoft.com/office/drawing/2014/main" id="{532F6AE1-7ABE-410C-876B-7F6BAE8692AE}"/>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Whole-page selection after a shared warm start</a:t>
            </a:r>
          </a:p>
        </p:txBody>
      </p:sp>
      <p:sp>
        <p:nvSpPr>
          <p:cNvPr id="3" name="">
            <a:extLst xmlns:a="http://schemas.openxmlformats.org/drawingml/2006/main">
              <a:ext uri="{FF2B5EF4-FFF2-40B4-BE49-F238E27FC236}">
                <a16:creationId xmlns:a16="http://schemas.microsoft.com/office/drawing/2014/main" id="{5DA34567-0B0C-4F97-BE6E-1E428EABEA4C}"/>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34E74427-4138-4720-A42F-0B089D10A725}"/>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Qwen3-VL-4B · 3 epochs per fit · VAL42 · table values are arithmetic means across three seeds</a:t>
            </a:r>
          </a:p>
        </p:txBody>
      </p:sp>
      <p:sp>
        <p:nvSpPr>
          <p:cNvPr id="5" name="">
            <a:extLst xmlns:a="http://schemas.openxmlformats.org/drawingml/2006/main">
              <a:ext uri="{FF2B5EF4-FFF2-40B4-BE49-F238E27FC236}">
                <a16:creationId xmlns:a16="http://schemas.microsoft.com/office/drawing/2014/main" id="{98F330B1-2DDC-4B08-B34E-7433417B0F69}"/>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96E32D2C-D25E-4EE3-B6CC-206A2939C77E}"/>
              </a:ext>
            </a:extLst>
          </p:cNvPr>
          <p:cNvSpPr>
            <a:spLocks xmlns:a="http://schemas.openxmlformats.org/drawingml/2006/main" noGrp="1"/>
          </p:cNvSpPr>
          <p:nvPr/>
        </p:nvSpPr>
        <p:spPr>
          <a:xfrm xmlns:a="http://schemas.openxmlformats.org/drawingml/2006/main">
            <a:off x="609600" y="1571625"/>
            <a:ext cx="24193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3F5263"/>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0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Original Qwen</a:t>
            </a:r>
          </a:p>
        </p:txBody>
      </p:sp>
      <p:sp>
        <p:nvSpPr>
          <p:cNvPr id="7" name="">
            <a:extLst xmlns:a="http://schemas.openxmlformats.org/drawingml/2006/main">
              <a:ext uri="{FF2B5EF4-FFF2-40B4-BE49-F238E27FC236}">
                <a16:creationId xmlns:a16="http://schemas.microsoft.com/office/drawing/2014/main" id="{0F486E9A-ADEB-4DBE-9666-0CE88715CFEF}"/>
              </a:ext>
            </a:extLst>
          </p:cNvPr>
          <p:cNvSpPr>
            <a:spLocks xmlns:a="http://schemas.openxmlformats.org/drawingml/2006/main" noGrp="1"/>
          </p:cNvSpPr>
          <p:nvPr/>
        </p:nvSpPr>
        <p:spPr>
          <a:xfrm xmlns:a="http://schemas.openxmlformats.org/drawingml/2006/main">
            <a:off x="3867150" y="1571625"/>
            <a:ext cx="309562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3F5263"/>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64 random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Shared within seed</a:t>
            </a:r>
          </a:p>
        </p:txBody>
      </p:sp>
      <p:sp>
        <p:nvSpPr>
          <p:cNvPr id="8" name="">
            <a:extLst xmlns:a="http://schemas.openxmlformats.org/drawingml/2006/main">
              <a:ext uri="{FF2B5EF4-FFF2-40B4-BE49-F238E27FC236}">
                <a16:creationId xmlns:a16="http://schemas.microsoft.com/office/drawing/2014/main" id="{5A5D0A48-AEE8-492C-9168-13EFE507AD84}"/>
              </a:ext>
            </a:extLst>
          </p:cNvPr>
          <p:cNvSpPr>
            <a:spLocks xmlns:a="http://schemas.openxmlformats.org/drawingml/2006/main" noGrp="1"/>
          </p:cNvSpPr>
          <p:nvPr/>
        </p:nvSpPr>
        <p:spPr>
          <a:xfrm xmlns:a="http://schemas.openxmlformats.org/drawingml/2006/main">
            <a:off x="7848600" y="1571625"/>
            <a:ext cx="37147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128 → 192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Four arms diverge</a:t>
            </a:r>
          </a:p>
        </p:txBody>
      </p: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3028950" y="1914525"/>
            <a:ext cx="83820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6962775" y="1914525"/>
            <a:ext cx="885825"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1" name="">
            <a:extLst xmlns:a="http://schemas.openxmlformats.org/drawingml/2006/main">
              <a:ext uri="{FF2B5EF4-FFF2-40B4-BE49-F238E27FC236}">
                <a16:creationId xmlns:a16="http://schemas.microsoft.com/office/drawing/2014/main" id="{FDE2B726-EEE6-4177-BB47-D03BBB6BDABB}"/>
              </a:ext>
            </a:extLst>
          </p:cNvPr>
          <p:cNvSpPr>
            <a:spLocks xmlns:a="http://schemas.openxmlformats.org/drawingml/2006/main" noGrp="1"/>
          </p:cNvSpPr>
          <p:nvPr/>
        </p:nvSpPr>
        <p:spPr>
          <a:xfrm xmlns:a="http://schemas.openxmlformats.org/drawingml/2006/main">
            <a:off x="609600" y="25336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Purpose: test which remaining pages help, after the same initial supervision.</a:t>
            </a:r>
          </a:p>
        </p:txBody>
      </p:sp>
      <p:graphicFrame>
        <p:nvGraphicFramePr>
          <p:cNvPr id="26" name=""/>
          <p:cNvGraphicFramePr/>
          <p:nvPr/>
        </p:nvGraphicFramePr>
        <p:xfrm>
          <a:off xmlns:a="http://schemas.openxmlformats.org/drawingml/2006/main" x="609600" y="3067050"/>
          <a:ext xmlns:a="http://schemas.openxmlformats.org/drawingml/2006/main" cx="10972800" cy="2152650"/>
        </p:xfrm>
        <a:graphic xmlns:a="http://schemas.openxmlformats.org/drawingml/2006/main">
          <a:graphicData uri="http://schemas.openxmlformats.org/drawingml/2006/table">
            <a:tbl>
              <a:tblPr/>
              <a:tblGrid>
                <a:gridCol w="2667000"/>
                <a:gridCol w="2076450"/>
                <a:gridCol w="2076450"/>
                <a:gridCol w="2076450"/>
                <a:gridCol w="2076450"/>
              </a:tblGrid>
              <a:tr h="430530">
                <a:tc>
                  <a:txBody>
                    <a:bodyPr/>
                    <a:lstStyle/>
                    <a:p>
                      <a:r>
                        <a:rPr sz="1575" b="1">
                          <a:solidFill>
                            <a:srgbClr val="FFFFFF"/>
                          </a:solidFill>
                          <a:latin typeface="Helvetica Neue"/>
                          <a:ea typeface="Helvetica Neue"/>
                          <a:cs typeface="Helvetica Neue"/>
                        </a:rPr>
                        <a:t>Strategy</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128 CER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128 WER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192 CER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192 WER</a:t>
                      </a:r>
                    </a:p>
                  </a:txBody>
                  <a:tcPr marL="114300" marR="114300" marT="28575" marB="28575" anchor="ctr">
                    <a:solidFill>
                      <a:srgbClr val="152C40"/>
                    </a:solidFill>
                  </a:tcPr>
                </a:tc>
              </a:tr>
              <a:tr h="430530">
                <a:tc>
                  <a:txBody>
                    <a:bodyPr/>
                    <a:lstStyle/>
                    <a:p>
                      <a:r>
                        <a:rPr sz="1650">
                          <a:solidFill>
                            <a:srgbClr val="152C40"/>
                          </a:solidFill>
                          <a:latin typeface="Helvetica Neue"/>
                          <a:ea typeface="Helvetica Neue"/>
                          <a:cs typeface="Helvetica Neue"/>
                        </a:rPr>
                        <a:t>Random</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0.2856</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0.6720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0.2096</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0.5550</a:t>
                      </a:r>
                    </a:p>
                  </a:txBody>
                  <a:tcPr marL="114300" marR="114300" marT="28575" marB="28575" anchor="ctr">
                    <a:solidFill>
                      <a:srgbClr val="FFFFFF"/>
                    </a:solidFill>
                  </a:tcPr>
                </a:tc>
              </a:tr>
              <a:tr h="430530">
                <a:tc>
                  <a:txBody>
                    <a:bodyPr/>
                    <a:lstStyle/>
                    <a:p>
                      <a:r>
                        <a:rPr sz="1650">
                          <a:solidFill>
                            <a:srgbClr val="152C40"/>
                          </a:solidFill>
                          <a:latin typeface="Helvetica Neue"/>
                          <a:ea typeface="Helvetica Neue"/>
                          <a:cs typeface="Helvetica Neue"/>
                        </a:rPr>
                        <a:t>K-center</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0.2917</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0.6865</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0.2051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0.5554</a:t>
                      </a:r>
                    </a:p>
                  </a:txBody>
                  <a:tcPr marL="114300" marR="114300" marT="28575" marB="28575" anchor="ctr">
                    <a:solidFill>
                      <a:srgbClr val="EEF3F5"/>
                    </a:solidFill>
                  </a:tcPr>
                </a:tc>
              </a:tr>
              <a:tr h="430530">
                <a:tc>
                  <a:txBody>
                    <a:bodyPr/>
                    <a:lstStyle/>
                    <a:p>
                      <a:r>
                        <a:rPr sz="1650">
                          <a:solidFill>
                            <a:srgbClr val="152C40"/>
                          </a:solidFill>
                          <a:latin typeface="Helvetica Neue"/>
                          <a:ea typeface="Helvetica Neue"/>
                          <a:cs typeface="Helvetica Neue"/>
                        </a:rPr>
                        <a:t>Entropy</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0.2753</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0.6709</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0.2104</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0.5533</a:t>
                      </a:r>
                    </a:p>
                  </a:txBody>
                  <a:tcPr marL="114300" marR="114300" marT="28575" marB="28575" anchor="ctr">
                    <a:solidFill>
                      <a:srgbClr val="FFFFFF"/>
                    </a:solidFill>
                  </a:tcPr>
                </a:tc>
              </a:tr>
              <a:tr h="430530">
                <a:tc>
                  <a:txBody>
                    <a:bodyPr/>
                    <a:lstStyle/>
                    <a:p>
                      <a:r>
                        <a:rPr sz="1650">
                          <a:solidFill>
                            <a:srgbClr val="152C40"/>
                          </a:solidFill>
                          <a:latin typeface="Helvetica Neue"/>
                          <a:ea typeface="Helvetica Neue"/>
                          <a:cs typeface="Helvetica Neue"/>
                        </a:rPr>
                        <a:t>Least conf.</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0.2991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0.6834</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0.2055</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0.5543</a:t>
                      </a:r>
                    </a:p>
                  </a:txBody>
                  <a:tcPr marL="114300" marR="114300" marT="28575" marB="28575" anchor="ctr">
                    <a:solidFill>
                      <a:srgbClr val="EEF3F5"/>
                    </a:solidFill>
                  </a:tcPr>
                </a:tc>
              </a:tr>
            </a:tbl>
          </a:graphicData>
        </a:graphic>
      </p:graphicFrame>
      <p:sp>
        <p:nvSpPr>
          <p:cNvPr id="13" name="">
            <a:extLst xmlns:a="http://schemas.openxmlformats.org/drawingml/2006/main">
              <a:ext uri="{FF2B5EF4-FFF2-40B4-BE49-F238E27FC236}">
                <a16:creationId xmlns:a16="http://schemas.microsoft.com/office/drawing/2014/main" id="{F682D8FC-551D-489E-9294-DDA50E0EEF91}"/>
              </a:ext>
            </a:extLst>
          </p:cNvPr>
          <p:cNvSpPr>
            <a:spLocks xmlns:a="http://schemas.openxmlformats.org/drawingml/2006/main" noGrp="1"/>
          </p:cNvSpPr>
          <p:nvPr/>
        </p:nvSpPr>
        <p:spPr>
          <a:xfrm xmlns:a="http://schemas.openxmlformats.org/drawingml/2006/main">
            <a:off x="609600" y="54197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52C40"/>
                </a:solidFill>
                <a:latin typeface="Helvetica Neue"/>
                <a:ea typeface="Helvetica Neue"/>
                <a:cs typeface="Helvetica Neue"/>
              </a:defRPr>
            </a:pPr>
            <a:r>
              <a:rPr sz="1725" b="0">
                <a:solidFill>
                  <a:srgbClr val="152C40"/>
                </a:solidFill>
                <a:latin typeface="Helvetica Neue"/>
                <a:ea typeface="Helvetica Neue"/>
                <a:cs typeface="Helvetica Neue"/>
              </a:rPr>
              <a:t>All arms: 0-page CER/WER 0.7902 / 1.0019; mean at 64: 0.4996 / 0.8637.</a:t>
            </a:r>
          </a:p>
        </p:txBody>
      </p:sp>
      <p:sp>
        <p:nvSpPr>
          <p:cNvPr id="14" name="">
            <a:extLst xmlns:a="http://schemas.openxmlformats.org/drawingml/2006/main">
              <a:ext uri="{FF2B5EF4-FFF2-40B4-BE49-F238E27FC236}">
                <a16:creationId xmlns:a16="http://schemas.microsoft.com/office/drawing/2014/main" id="{13FC76A7-1E77-46A8-8568-5274195862BD}"/>
              </a:ext>
            </a:extLst>
          </p:cNvPr>
          <p:cNvSpPr>
            <a:spLocks xmlns:a="http://schemas.openxmlformats.org/drawingml/2006/main" noGrp="1"/>
          </p:cNvSpPr>
          <p:nvPr/>
        </p:nvSpPr>
        <p:spPr>
          <a:xfrm xmlns:a="http://schemas.openxmlformats.org/drawingml/2006/main">
            <a:off x="609600" y="58864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776"/>
                </a:solidFill>
                <a:latin typeface="Helvetica Neue"/>
                <a:ea typeface="Helvetica Neue"/>
                <a:cs typeface="Helvetica Neue"/>
              </a:defRPr>
            </a:pPr>
            <a:r>
              <a:rPr sz="1575" b="0">
                <a:solidFill>
                  <a:srgbClr val="526776"/>
                </a:solidFill>
                <a:latin typeface="Helvetica Neue"/>
                <a:ea typeface="Helvetica Neue"/>
                <a:cs typeface="Helvetica Neue"/>
              </a:rPr>
              <a:t>Entropy leads mean CER at 128, but the later ranking changes; paired gaps tell the fuller story.</a:t>
            </a:r>
          </a:p>
        </p:txBody>
      </p:sp>
    </p:spTree>
    <p:extLst>
      <p:ext uri="{BB962C8B-B14F-4D97-AF65-F5344CB8AC3E}">
        <p14:creationId xmlns:p14="http://schemas.microsoft.com/office/powerpoint/2010/main" val="1452217909"/>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9DAF91-CDB0-4E4D-8A65-AA85F6CB1CE2}"/>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EXP-011 FINDINGS · MATCHED DIFFERENCES FROM RANDOM</a:t>
            </a:r>
          </a:p>
        </p:txBody>
      </p:sp>
      <p:sp>
        <p:nvSpPr>
          <p:cNvPr id="2" name="">
            <a:extLst xmlns:a="http://schemas.openxmlformats.org/drawingml/2006/main">
              <a:ext uri="{FF2B5EF4-FFF2-40B4-BE49-F238E27FC236}">
                <a16:creationId xmlns:a16="http://schemas.microsoft.com/office/drawing/2014/main" id="{0EFD4399-AD50-4FE7-91D5-5154F481CAB7}"/>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Whole-page selection gains vary across seeds</a:t>
            </a:r>
          </a:p>
        </p:txBody>
      </p:sp>
      <p:sp>
        <p:nvSpPr>
          <p:cNvPr id="3" name="">
            <a:extLst xmlns:a="http://schemas.openxmlformats.org/drawingml/2006/main">
              <a:ext uri="{FF2B5EF4-FFF2-40B4-BE49-F238E27FC236}">
                <a16:creationId xmlns:a16="http://schemas.microsoft.com/office/drawing/2014/main" id="{63BB1A4A-47D6-4174-9819-2F99B80FD228}"/>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F090FC75-5D44-4B3E-BF45-495D617D0E91}"/>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Δ = selector − same-seed random · percentage points · negative values favour the selector</a:t>
            </a:r>
          </a:p>
        </p:txBody>
      </p:sp>
      <p:sp>
        <p:nvSpPr>
          <p:cNvPr id="5" name="">
            <a:extLst xmlns:a="http://schemas.openxmlformats.org/drawingml/2006/main">
              <a:ext uri="{FF2B5EF4-FFF2-40B4-BE49-F238E27FC236}">
                <a16:creationId xmlns:a16="http://schemas.microsoft.com/office/drawing/2014/main" id="{5949F978-0C11-493C-A4DA-ADD617C9F04E}"/>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10</a:t>
            </a:r>
          </a:p>
        </p:txBody>
      </p:sp>
      <p:graphicFrame>
        <p:nvGraphicFramePr>
          <p:cNvPr id="15" name="Chart"/>
          <p:cNvGraphicFramePr/>
          <p:nvPr/>
        </p:nvGraphicFramePr>
        <p:xfrm>
          <a:off xmlns:a="http://schemas.openxmlformats.org/drawingml/2006/main" x="371475" y="1562100"/>
          <a:ext xmlns:a="http://schemas.openxmlformats.org/drawingml/2006/main" cx="5334000" cy="2905125"/>
        </p:xfrm>
        <a:graphic xmlns:a="http://schemas.openxmlformats.org/drawingml/2006/main">
          <a:graphicData uri="http://schemas.openxmlformats.org/drawingml/2006/chart">
            <c:chart xmlns:r="http://schemas.openxmlformats.org/officeDocument/2006/relationships" xmlns:c="http://schemas.openxmlformats.org/drawingml/2006/chart" r:id="R342f0f22458a4713"/>
          </a:graphicData>
        </a:graphic>
      </p:graphicFrame>
      <p:graphicFrame>
        <p:nvGraphicFramePr>
          <p:cNvPr id="16" name=""/>
          <p:cNvGraphicFramePr/>
          <p:nvPr/>
        </p:nvGraphicFramePr>
        <p:xfrm>
          <a:off xmlns:a="http://schemas.openxmlformats.org/drawingml/2006/main" x="5915025" y="1628775"/>
          <a:ext xmlns:a="http://schemas.openxmlformats.org/drawingml/2006/main" cx="5667375" cy="2876550"/>
        </p:xfrm>
        <a:graphic xmlns:a="http://schemas.openxmlformats.org/drawingml/2006/main">
          <a:graphicData uri="http://schemas.openxmlformats.org/drawingml/2006/table">
            <a:tbl>
              <a:tblPr/>
              <a:tblGrid>
                <a:gridCol w="2095500"/>
                <a:gridCol w="1785938"/>
                <a:gridCol w="1785938"/>
              </a:tblGrid>
              <a:tr h="410936">
                <a:tc>
                  <a:txBody>
                    <a:bodyPr/>
                    <a:lstStyle/>
                    <a:p>
                      <a:r>
                        <a:rPr sz="1575" b="1">
                          <a:solidFill>
                            <a:srgbClr val="FFFFFF"/>
                          </a:solidFill>
                          <a:latin typeface="Helvetica Neue"/>
                          <a:ea typeface="Helvetica Neue"/>
                          <a:cs typeface="Helvetica Neue"/>
                        </a:rPr>
                        <a:t>Method / pages</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ΔCER ± SD</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ΔWER ± SD</a:t>
                      </a:r>
                    </a:p>
                  </a:txBody>
                  <a:tcPr marL="114300" marR="114300" marT="28575" marB="28575" anchor="ctr">
                    <a:solidFill>
                      <a:srgbClr val="152C40"/>
                    </a:solidFill>
                  </a:tcPr>
                </a:tc>
              </a:tr>
              <a:tr h="410936">
                <a:tc>
                  <a:txBody>
                    <a:bodyPr/>
                    <a:lstStyle/>
                    <a:p>
                      <a:r>
                        <a:rPr sz="1650">
                          <a:solidFill>
                            <a:srgbClr val="152C40"/>
                          </a:solidFill>
                          <a:latin typeface="Helvetica Neue"/>
                          <a:ea typeface="Helvetica Neue"/>
                          <a:cs typeface="Helvetica Neue"/>
                        </a:rPr>
                        <a:t>K-center 128</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+0.60 ± 1.07</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+1.45 ± 0.21</a:t>
                      </a:r>
                    </a:p>
                  </a:txBody>
                  <a:tcPr marL="114300" marR="114300" marT="28575" marB="28575" anchor="ctr">
                    <a:solidFill>
                      <a:srgbClr val="FFFFFF"/>
                    </a:solidFill>
                  </a:tcPr>
                </a:tc>
              </a:tr>
              <a:tr h="410936">
                <a:tc>
                  <a:txBody>
                    <a:bodyPr/>
                    <a:lstStyle/>
                    <a:p>
                      <a:r>
                        <a:rPr sz="1650">
                          <a:solidFill>
                            <a:srgbClr val="152C40"/>
                          </a:solidFill>
                          <a:latin typeface="Helvetica Neue"/>
                          <a:ea typeface="Helvetica Neue"/>
                          <a:cs typeface="Helvetica Neue"/>
                        </a:rPr>
                        <a:t>K-center 192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−0.45 ± 0.85</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+0.04 ± 1.00</a:t>
                      </a:r>
                    </a:p>
                  </a:txBody>
                  <a:tcPr marL="114300" marR="114300" marT="28575" marB="28575" anchor="ctr">
                    <a:solidFill>
                      <a:srgbClr val="EEF3F5"/>
                    </a:solidFill>
                  </a:tcPr>
                </a:tc>
              </a:tr>
              <a:tr h="410936">
                <a:tc>
                  <a:txBody>
                    <a:bodyPr/>
                    <a:lstStyle/>
                    <a:p>
                      <a:r>
                        <a:rPr sz="1650">
                          <a:solidFill>
                            <a:srgbClr val="152C40"/>
                          </a:solidFill>
                          <a:latin typeface="Helvetica Neue"/>
                          <a:ea typeface="Helvetica Neue"/>
                          <a:cs typeface="Helvetica Neue"/>
                        </a:rPr>
                        <a:t>Entropy 128</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−1.03 ± 0.69</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−0.11 ± 0.82</a:t>
                      </a:r>
                    </a:p>
                  </a:txBody>
                  <a:tcPr marL="114300" marR="114300" marT="28575" marB="28575" anchor="ctr">
                    <a:solidFill>
                      <a:srgbClr val="FFFFFF"/>
                    </a:solidFill>
                  </a:tcPr>
                </a:tc>
              </a:tr>
              <a:tr h="410936">
                <a:tc>
                  <a:txBody>
                    <a:bodyPr/>
                    <a:lstStyle/>
                    <a:p>
                      <a:r>
                        <a:rPr sz="1650">
                          <a:solidFill>
                            <a:srgbClr val="152C40"/>
                          </a:solidFill>
                          <a:latin typeface="Helvetica Neue"/>
                          <a:ea typeface="Helvetica Neue"/>
                          <a:cs typeface="Helvetica Neue"/>
                        </a:rPr>
                        <a:t>Entropy 192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+0.08 ± 2.18</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−0.17 ± 1.44</a:t>
                      </a:r>
                    </a:p>
                  </a:txBody>
                  <a:tcPr marL="114300" marR="114300" marT="28575" marB="28575" anchor="ctr">
                    <a:solidFill>
                      <a:srgbClr val="EEF3F5"/>
                    </a:solidFill>
                  </a:tcPr>
                </a:tc>
              </a:tr>
              <a:tr h="410936">
                <a:tc>
                  <a:txBody>
                    <a:bodyPr/>
                    <a:lstStyle/>
                    <a:p>
                      <a:r>
                        <a:rPr sz="1650">
                          <a:solidFill>
                            <a:srgbClr val="152C40"/>
                          </a:solidFill>
                          <a:latin typeface="Helvetica Neue"/>
                          <a:ea typeface="Helvetica Neue"/>
                          <a:cs typeface="Helvetica Neue"/>
                        </a:rPr>
                        <a:t>Least conf. 128</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+1.34 ± 3.85</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+1.13 ± 1.58</a:t>
                      </a:r>
                    </a:p>
                  </a:txBody>
                  <a:tcPr marL="114300" marR="114300" marT="28575" marB="28575" anchor="ctr">
                    <a:solidFill>
                      <a:srgbClr val="FFFFFF"/>
                    </a:solidFill>
                  </a:tcPr>
                </a:tc>
              </a:tr>
              <a:tr h="410936">
                <a:tc>
                  <a:txBody>
                    <a:bodyPr/>
                    <a:lstStyle/>
                    <a:p>
                      <a:r>
                        <a:rPr sz="1650">
                          <a:solidFill>
                            <a:srgbClr val="152C40"/>
                          </a:solidFill>
                          <a:latin typeface="Helvetica Neue"/>
                          <a:ea typeface="Helvetica Neue"/>
                          <a:cs typeface="Helvetica Neue"/>
                        </a:rPr>
                        <a:t>Least conf. 192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−0.41 ± 2.48</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−0.07 ± 1.31</a:t>
                      </a:r>
                    </a:p>
                  </a:txBody>
                  <a:tcPr marL="114300" marR="114300" marT="28575" marB="28575" anchor="ctr">
                    <a:solidFill>
                      <a:srgbClr val="EEF3F5"/>
                    </a:solidFill>
                  </a:tcPr>
                </a:tc>
              </a:tr>
            </a:tbl>
          </a:graphicData>
        </a:graphic>
      </p:graphicFrame>
      <p:sp>
        <p:nvSpPr>
          <p:cNvPr id="8" name="">
            <a:extLst xmlns:a="http://schemas.openxmlformats.org/drawingml/2006/main">
              <a:ext uri="{FF2B5EF4-FFF2-40B4-BE49-F238E27FC236}">
                <a16:creationId xmlns:a16="http://schemas.microsoft.com/office/drawing/2014/main" id="{D651A762-1C9F-4195-B6AC-AEFED140FCBD}"/>
              </a:ext>
            </a:extLst>
          </p:cNvPr>
          <p:cNvSpPr>
            <a:spLocks xmlns:a="http://schemas.openxmlformats.org/drawingml/2006/main" noGrp="1"/>
          </p:cNvSpPr>
          <p:nvPr/>
        </p:nvSpPr>
        <p:spPr>
          <a:xfrm xmlns:a="http://schemas.openxmlformats.org/drawingml/2006/main">
            <a:off x="609600" y="48101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8A87"/>
                </a:solidFill>
                <a:latin typeface="Helvetica Neue"/>
                <a:ea typeface="Helvetica Neue"/>
                <a:cs typeface="Helvetica Neue"/>
              </a:defRPr>
            </a:pPr>
            <a:r>
              <a:rPr sz="2025" b="1">
                <a:solidFill>
                  <a:srgbClr val="008A87"/>
                </a:solidFill>
                <a:latin typeface="Helvetica Neue"/>
                <a:ea typeface="Helvetica Neue"/>
                <a:cs typeface="Helvetica Neue"/>
              </a:rPr>
              <a:t>No selector consistently wins both budgets across CER and WER.</a:t>
            </a:r>
          </a:p>
        </p:txBody>
      </p:sp>
      <p:sp>
        <p:nvSpPr>
          <p:cNvPr id="9" name="">
            <a:extLst xmlns:a="http://schemas.openxmlformats.org/drawingml/2006/main">
              <a:ext uri="{FF2B5EF4-FFF2-40B4-BE49-F238E27FC236}">
                <a16:creationId xmlns:a16="http://schemas.microsoft.com/office/drawing/2014/main" id="{DCBEF377-884F-423B-BC67-C0235609E62B}"/>
              </a:ext>
            </a:extLst>
          </p:cNvPr>
          <p:cNvSpPr>
            <a:spLocks xmlns:a="http://schemas.openxmlformats.org/drawingml/2006/main" noGrp="1"/>
          </p:cNvSpPr>
          <p:nvPr/>
        </p:nvSpPr>
        <p:spPr>
          <a:xfrm xmlns:a="http://schemas.openxmlformats.org/drawingml/2006/main">
            <a:off x="609600" y="5353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Seed 824: 26 pool outputs hit the cap yet had low entropy / high confidence.</a:t>
            </a:r>
          </a:p>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Uncertainty can miss repetitive failures; uncapped-page checks changed some rankings.</a:t>
            </a:r>
          </a:p>
        </p:txBody>
      </p:sp>
    </p:spTree>
    <p:extLst>
      <p:ext uri="{BB962C8B-B14F-4D97-AF65-F5344CB8AC3E}">
        <p14:creationId xmlns:p14="http://schemas.microsoft.com/office/powerpoint/2010/main" val="1964441261"/>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918F78C-74C7-4549-A031-C5C5C4CEB89F}"/>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METHOD CHANGE · WHY EXP-012–013</a:t>
            </a:r>
          </a:p>
        </p:txBody>
      </p:sp>
      <p:sp>
        <p:nvSpPr>
          <p:cNvPr id="2" name="">
            <a:extLst xmlns:a="http://schemas.openxmlformats.org/drawingml/2006/main">
              <a:ext uri="{FF2B5EF4-FFF2-40B4-BE49-F238E27FC236}">
                <a16:creationId xmlns:a16="http://schemas.microsoft.com/office/drawing/2014/main" id="{E8287271-01E1-4C44-811D-B70EF130DE11}"/>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Known boxes isolate text recognition</a:t>
            </a:r>
          </a:p>
        </p:txBody>
      </p:sp>
      <p:sp>
        <p:nvSpPr>
          <p:cNvPr id="3" name="">
            <a:extLst xmlns:a="http://schemas.openxmlformats.org/drawingml/2006/main">
              <a:ext uri="{FF2B5EF4-FFF2-40B4-BE49-F238E27FC236}">
                <a16:creationId xmlns:a16="http://schemas.microsoft.com/office/drawing/2014/main" id="{28D2523D-876C-49F7-AFAF-0DBC62955123}"/>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E8560F30-125D-4051-8E49-106AF8FF4CDB}"/>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Known locations, not detection · few-label historical recognition: Aradillas et al. (2020)</a:t>
            </a:r>
          </a:p>
        </p:txBody>
      </p:sp>
      <p:sp>
        <p:nvSpPr>
          <p:cNvPr id="5" name="">
            <a:extLst xmlns:a="http://schemas.openxmlformats.org/drawingml/2006/main">
              <a:ext uri="{FF2B5EF4-FFF2-40B4-BE49-F238E27FC236}">
                <a16:creationId xmlns:a16="http://schemas.microsoft.com/office/drawing/2014/main" id="{FDD94B79-0913-44A0-93A1-B686A20871D0}"/>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11</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6675e23edb24279"/>
          <a:stretch xmlns:a="http://schemas.openxmlformats.org/drawingml/2006/main"/>
        </p:blipFill>
        <p:spPr>
          <a:xfrm xmlns:a="http://schemas.openxmlformats.org/drawingml/2006/main">
            <a:off x="609600" y="1591141"/>
            <a:ext cx="2238375" cy="3361392"/>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5e65bf2aee9415d"/>
          <a:stretch xmlns:a="http://schemas.openxmlformats.org/drawingml/2006/main"/>
        </p:blipFill>
        <p:spPr>
          <a:xfrm xmlns:a="http://schemas.openxmlformats.org/drawingml/2006/main">
            <a:off x="3603739" y="2495550"/>
            <a:ext cx="4184422" cy="59252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C76490B-AC68-47BF-9870-49DCDE58A1D2}"/>
              </a:ext>
            </a:extLst>
          </p:cNvPr>
          <p:cNvSpPr>
            <a:spLocks xmlns:a="http://schemas.openxmlformats.org/drawingml/2006/main" noGrp="1"/>
          </p:cNvSpPr>
          <p:nvPr/>
        </p:nvSpPr>
        <p:spPr>
          <a:xfrm xmlns:a="http://schemas.openxmlformats.org/drawingml/2006/main">
            <a:off x="1289346" y="2324501"/>
            <a:ext cx="1095253" cy="141694"/>
          </a:xfrm>
          <a:prstGeom xmlns:a="http://schemas.openxmlformats.org/drawingml/2006/main" prst="rect">
            <a:avLst/>
          </a:prstGeom>
          <a:noFill xmlns:a="http://schemas.openxmlformats.org/drawingml/2006/main"/>
          <a:ln xmlns:a="http://schemas.openxmlformats.org/drawingml/2006/main" w="19050">
            <a:solidFill>
              <a:srgbClr val="008A87"/>
            </a:solidFill>
          </a:ln>
        </p:spPr>
      </p:sp>
      <p:sp>
        <p:nvSpPr>
          <p:cNvPr id="9" name="">
            <a:extLst xmlns:a="http://schemas.openxmlformats.org/drawingml/2006/main">
              <a:ext uri="{FF2B5EF4-FFF2-40B4-BE49-F238E27FC236}">
                <a16:creationId xmlns:a16="http://schemas.microsoft.com/office/drawing/2014/main" id="{F85DDED7-AB62-432B-ADF3-88EC9CE23333}"/>
              </a:ext>
            </a:extLst>
          </p:cNvPr>
          <p:cNvSpPr>
            <a:spLocks xmlns:a="http://schemas.openxmlformats.org/drawingml/2006/main" noGrp="1"/>
          </p:cNvSpPr>
          <p:nvPr/>
        </p:nvSpPr>
        <p:spPr>
          <a:xfrm xmlns:a="http://schemas.openxmlformats.org/drawingml/2006/main">
            <a:off x="3143250" y="3705225"/>
            <a:ext cx="1905000"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Supplied</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line box</a:t>
            </a:r>
          </a:p>
        </p:txBody>
      </p:sp>
      <p:sp>
        <p:nvSpPr>
          <p:cNvPr id="10" name="">
            <a:extLst xmlns:a="http://schemas.openxmlformats.org/drawingml/2006/main">
              <a:ext uri="{FF2B5EF4-FFF2-40B4-BE49-F238E27FC236}">
                <a16:creationId xmlns:a16="http://schemas.microsoft.com/office/drawing/2014/main" id="{6EC58A12-0E08-407E-9A48-2ED0B637AA37}"/>
              </a:ext>
            </a:extLst>
          </p:cNvPr>
          <p:cNvSpPr>
            <a:spLocks xmlns:a="http://schemas.openxmlformats.org/drawingml/2006/main" noGrp="1"/>
          </p:cNvSpPr>
          <p:nvPr/>
        </p:nvSpPr>
        <p:spPr>
          <a:xfrm xmlns:a="http://schemas.openxmlformats.org/drawingml/2006/main">
            <a:off x="5543550" y="3705225"/>
            <a:ext cx="2476500"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Qwen transcribes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only this crop</a:t>
            </a:r>
          </a:p>
        </p:txBody>
      </p:sp>
      <p:cxnSp>
        <p:nvCxnSpPr>
          <p:cNvPr id="27" name=""/>
          <p:cNvCxnSpPr>
            <a:stCxn xmlns:a="http://schemas.openxmlformats.org/drawingml/2006/main" id="9" idx="3"/>
            <a:endCxn xmlns:a="http://schemas.openxmlformats.org/drawingml/2006/main" id="10" idx="1"/>
          </p:cNvCxnSpPr>
          <p:nvPr/>
        </p:nvCxnSpPr>
        <p:spPr>
          <a:xfrm xmlns:a="http://schemas.openxmlformats.org/drawingml/2006/main">
            <a:off x="5048250" y="4038600"/>
            <a:ext cx="495300"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2" name="">
            <a:extLst xmlns:a="http://schemas.openxmlformats.org/drawingml/2006/main">
              <a:ext uri="{FF2B5EF4-FFF2-40B4-BE49-F238E27FC236}">
                <a16:creationId xmlns:a16="http://schemas.microsoft.com/office/drawing/2014/main" id="{FC3EB142-C79F-4B10-9C8E-D04C0AF38B52}"/>
              </a:ext>
            </a:extLst>
          </p:cNvPr>
          <p:cNvSpPr>
            <a:spLocks xmlns:a="http://schemas.openxmlformats.org/drawingml/2006/main" noGrp="1"/>
          </p:cNvSpPr>
          <p:nvPr/>
        </p:nvSpPr>
        <p:spPr>
          <a:xfrm xmlns:a="http://schemas.openxmlformats.org/drawingml/2006/main">
            <a:off x="714375" y="50863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52C40"/>
                </a:solidFill>
                <a:latin typeface="Helvetica Neue"/>
                <a:ea typeface="Helvetica Neue"/>
                <a:cs typeface="Helvetica Neue"/>
              </a:defRPr>
            </a:pPr>
            <a:r>
              <a:rPr sz="1875" b="1">
                <a:solidFill>
                  <a:srgbClr val="152C40"/>
                </a:solidFill>
                <a:latin typeface="Helvetica Neue"/>
                <a:ea typeface="Helvetica Neue"/>
                <a:cs typeface="Helvetica Neue"/>
              </a:rPr>
              <a:t>Whole page</a:t>
            </a:r>
          </a:p>
        </p:txBody>
      </p:sp>
      <p:sp>
        <p:nvSpPr>
          <p:cNvPr id="13" name="">
            <a:extLst xmlns:a="http://schemas.openxmlformats.org/drawingml/2006/main">
              <a:ext uri="{FF2B5EF4-FFF2-40B4-BE49-F238E27FC236}">
                <a16:creationId xmlns:a16="http://schemas.microsoft.com/office/drawing/2014/main" id="{5CF425E7-D65E-4AF8-A3AF-EA8EE454BC93}"/>
              </a:ext>
            </a:extLst>
          </p:cNvPr>
          <p:cNvSpPr>
            <a:spLocks xmlns:a="http://schemas.openxmlformats.org/drawingml/2006/main" noGrp="1"/>
          </p:cNvSpPr>
          <p:nvPr/>
        </p:nvSpPr>
        <p:spPr>
          <a:xfrm xmlns:a="http://schemas.openxmlformats.org/drawingml/2006/main">
            <a:off x="3600450" y="4638675"/>
            <a:ext cx="4429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Short text outputs in source reading order</a:t>
            </a:r>
          </a:p>
        </p:txBody>
      </p:sp>
      <p:sp>
        <p:nvSpPr>
          <p:cNvPr id="14" name="">
            <a:extLst xmlns:a="http://schemas.openxmlformats.org/drawingml/2006/main">
              <a:ext uri="{FF2B5EF4-FFF2-40B4-BE49-F238E27FC236}">
                <a16:creationId xmlns:a16="http://schemas.microsoft.com/office/drawing/2014/main" id="{F50B9ED7-087D-49E6-B444-0C0016B2AB0B}"/>
              </a:ext>
            </a:extLst>
          </p:cNvPr>
          <p:cNvSpPr>
            <a:spLocks xmlns:a="http://schemas.openxmlformats.org/drawingml/2006/main" noGrp="1"/>
          </p:cNvSpPr>
          <p:nvPr/>
        </p:nvSpPr>
        <p:spPr>
          <a:xfrm xmlns:a="http://schemas.openxmlformats.org/drawingml/2006/main">
            <a:off x="8562975" y="1695450"/>
            <a:ext cx="2905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52C40"/>
                </a:solidFill>
                <a:latin typeface="Helvetica Neue"/>
                <a:ea typeface="Helvetica Neue"/>
                <a:cs typeface="Helvetica Neue"/>
              </a:defRPr>
            </a:pPr>
            <a:r>
              <a:rPr sz="2250" b="1">
                <a:solidFill>
                  <a:srgbClr val="152C40"/>
                </a:solidFill>
                <a:latin typeface="Helvetica Neue"/>
                <a:ea typeface="Helvetica Neue"/>
                <a:cs typeface="Helvetica Neue"/>
              </a:rPr>
              <a:t>Why this helps</a:t>
            </a:r>
          </a:p>
        </p:txBody>
      </p:sp>
      <p:sp>
        <p:nvSpPr>
          <p:cNvPr id="15" name="">
            <a:extLst xmlns:a="http://schemas.openxmlformats.org/drawingml/2006/main">
              <a:ext uri="{FF2B5EF4-FFF2-40B4-BE49-F238E27FC236}">
                <a16:creationId xmlns:a16="http://schemas.microsoft.com/office/drawing/2014/main" id="{0EA5B61B-656F-411B-89EC-3A30E06EC562}"/>
              </a:ext>
            </a:extLst>
          </p:cNvPr>
          <p:cNvSpPr>
            <a:spLocks xmlns:a="http://schemas.openxmlformats.org/drawingml/2006/main" noGrp="1"/>
          </p:cNvSpPr>
          <p:nvPr/>
        </p:nvSpPr>
        <p:spPr>
          <a:xfrm xmlns:a="http://schemas.openxmlformats.org/drawingml/2006/main">
            <a:off x="8562975" y="2362200"/>
            <a:ext cx="2905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Separate recognition</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from localization.</a:t>
            </a:r>
          </a:p>
          <a:p xmlns:a="http://schemas.openxmlformats.org/drawingml/2006/main">
            <a:r>
              <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Reduce long-output</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failures.</a:t>
            </a:r>
          </a:p>
          <a:p xmlns:a="http://schemas.openxmlformats.org/drawingml/2006/main">
            <a:r>
              <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Study selection with</a:t>
            </a:r>
          </a:p>
          <a:p xmlns:a="http://schemas.openxmlformats.org/drawingml/2006/main">
            <a:pPr algn="l">
              <a:defRPr sz="1875" b="0">
                <a:solidFill>
                  <a:srgbClr val="152C40"/>
                </a:solidFill>
                <a:latin typeface="Helvetica Neue"/>
                <a:ea typeface="Helvetica Neue"/>
                <a:cs typeface="Helvetica Neue"/>
              </a:defRPr>
            </a:pPr>
            <a:r>
              <a:rPr sz="1875" b="0">
                <a:solidFill>
                  <a:srgbClr val="152C40"/>
                </a:solidFill>
                <a:latin typeface="Helvetica Neue"/>
                <a:ea typeface="Helvetica Neue"/>
                <a:cs typeface="Helvetica Neue"/>
              </a:rPr>
              <a:t>usable OCR.</a:t>
            </a:r>
          </a:p>
        </p:txBody>
      </p:sp>
      <p:sp>
        <p:nvSpPr>
          <p:cNvPr id="16" name="">
            <a:extLst xmlns:a="http://schemas.openxmlformats.org/drawingml/2006/main">
              <a:ext uri="{FF2B5EF4-FFF2-40B4-BE49-F238E27FC236}">
                <a16:creationId xmlns:a16="http://schemas.microsoft.com/office/drawing/2014/main" id="{6E5A4E71-1D36-4B2A-91C8-9439D192AC52}"/>
              </a:ext>
            </a:extLst>
          </p:cNvPr>
          <p:cNvSpPr>
            <a:spLocks xmlns:a="http://schemas.openxmlformats.org/drawingml/2006/main" noGrp="1"/>
          </p:cNvSpPr>
          <p:nvPr/>
        </p:nvSpPr>
        <p:spPr>
          <a:xfrm xmlns:a="http://schemas.openxmlformats.org/drawingml/2006/main">
            <a:off x="609600" y="58197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This is a different task and recipe; its CER is not a fair head-to-head gain over whole-page OCR.</a:t>
            </a:r>
          </a:p>
        </p:txBody>
      </p:sp>
    </p:spTree>
    <p:extLst>
      <p:ext uri="{BB962C8B-B14F-4D97-AF65-F5344CB8AC3E}">
        <p14:creationId xmlns:p14="http://schemas.microsoft.com/office/powerpoint/2010/main" val="1562751228"/>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8F10FF-AD73-48FD-B304-107416843555}"/>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EXP-012 · ONE SEED, 824 · L4 GPU</a:t>
            </a:r>
          </a:p>
        </p:txBody>
      </p:sp>
      <p:sp>
        <p:nvSpPr>
          <p:cNvPr id="2" name="">
            <a:extLst xmlns:a="http://schemas.openxmlformats.org/drawingml/2006/main">
              <a:ext uri="{FF2B5EF4-FFF2-40B4-BE49-F238E27FC236}">
                <a16:creationId xmlns:a16="http://schemas.microsoft.com/office/drawing/2014/main" id="{BB7B39ED-DBD3-4B54-A065-A89962EDC5C2}"/>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Random selection establishes a known-box baseline</a:t>
            </a:r>
          </a:p>
        </p:txBody>
      </p:sp>
      <p:sp>
        <p:nvSpPr>
          <p:cNvPr id="3" name="">
            <a:extLst xmlns:a="http://schemas.openxmlformats.org/drawingml/2006/main">
              <a:ext uri="{FF2B5EF4-FFF2-40B4-BE49-F238E27FC236}">
                <a16:creationId xmlns:a16="http://schemas.microsoft.com/office/drawing/2014/main" id="{A07D0B05-EAFF-405F-A4E4-247934BB0E86}"/>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CF35FEDA-4AA3-4C20-A835-704626D0D191}"/>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Source: results/EXP-012.md · same 42 VAL pages / 861 lines at every checkpoint</a:t>
            </a:r>
          </a:p>
        </p:txBody>
      </p:sp>
      <p:sp>
        <p:nvSpPr>
          <p:cNvPr id="5" name="">
            <a:extLst xmlns:a="http://schemas.openxmlformats.org/drawingml/2006/main">
              <a:ext uri="{FF2B5EF4-FFF2-40B4-BE49-F238E27FC236}">
                <a16:creationId xmlns:a16="http://schemas.microsoft.com/office/drawing/2014/main" id="{29FCEAA0-D30F-4EB0-8A65-28EF9879D183}"/>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12</a:t>
            </a:r>
          </a:p>
        </p:txBody>
      </p:sp>
      <p:graphicFrame>
        <p:nvGraphicFramePr>
          <p:cNvPr id="16" name="Chart"/>
          <p:cNvGraphicFramePr/>
          <p:nvPr/>
        </p:nvGraphicFramePr>
        <p:xfrm>
          <a:off xmlns:a="http://schemas.openxmlformats.org/drawingml/2006/main" x="447675" y="1657350"/>
          <a:ext xmlns:a="http://schemas.openxmlformats.org/drawingml/2006/main" cx="5991225" cy="3486150"/>
        </p:xfrm>
        <a:graphic xmlns:a="http://schemas.openxmlformats.org/drawingml/2006/main">
          <a:graphicData uri="http://schemas.openxmlformats.org/drawingml/2006/chart">
            <c:chart xmlns:r="http://schemas.openxmlformats.org/officeDocument/2006/relationships" xmlns:c="http://schemas.openxmlformats.org/drawingml/2006/chart" r:id="Rced8ab231df049a6"/>
          </a:graphicData>
        </a:graphic>
      </p:graphicFrame>
      <p:graphicFrame>
        <p:nvGraphicFramePr>
          <p:cNvPr id="17" name=""/>
          <p:cNvGraphicFramePr/>
          <p:nvPr/>
        </p:nvGraphicFramePr>
        <p:xfrm>
          <a:off xmlns:a="http://schemas.openxmlformats.org/drawingml/2006/main" x="6800850" y="1714500"/>
          <a:ext xmlns:a="http://schemas.openxmlformats.org/drawingml/2006/main" cx="4857750" cy="2705100"/>
        </p:xfrm>
        <a:graphic xmlns:a="http://schemas.openxmlformats.org/drawingml/2006/main">
          <a:graphicData uri="http://schemas.openxmlformats.org/drawingml/2006/table">
            <a:tbl>
              <a:tblPr/>
              <a:tblGrid>
                <a:gridCol w="990600"/>
                <a:gridCol w="1390650"/>
                <a:gridCol w="1238250"/>
                <a:gridCol w="1238250"/>
              </a:tblGrid>
              <a:tr h="541020">
                <a:tc>
                  <a:txBody>
                    <a:bodyPr/>
                    <a:lstStyle/>
                    <a:p>
                      <a:r>
                        <a:rPr sz="1575" b="1">
                          <a:solidFill>
                            <a:srgbClr val="FFFFFF"/>
                          </a:solidFill>
                          <a:latin typeface="Helvetica Neue"/>
                          <a:ea typeface="Helvetica Neue"/>
                          <a:cs typeface="Helvetica Neue"/>
                        </a:rPr>
                        <a:t>Pages</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Train lines</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CER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WER</a:t>
                      </a:r>
                    </a:p>
                  </a:txBody>
                  <a:tcPr marL="114300" marR="114300" marT="28575" marB="28575" anchor="ctr">
                    <a:solidFill>
                      <a:srgbClr val="152C40"/>
                    </a:solidFill>
                  </a:tcPr>
                </a:tc>
              </a:tr>
              <a:tr h="541020">
                <a:tc>
                  <a:txBody>
                    <a:bodyPr/>
                    <a:lstStyle/>
                    <a:p>
                      <a:r>
                        <a:rPr sz="1650">
                          <a:solidFill>
                            <a:srgbClr val="152C40"/>
                          </a:solidFill>
                          <a:latin typeface="Helvetica Neue"/>
                          <a:ea typeface="Helvetica Neue"/>
                          <a:cs typeface="Helvetica Neue"/>
                        </a:rPr>
                        <a:t>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0.804</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1.087</a:t>
                      </a:r>
                    </a:p>
                  </a:txBody>
                  <a:tcPr marL="114300" marR="114300" marT="28575" marB="28575" anchor="ctr">
                    <a:solidFill>
                      <a:srgbClr val="FFFFFF"/>
                    </a:solidFill>
                  </a:tcPr>
                </a:tc>
              </a:tr>
              <a:tr h="541020">
                <a:tc>
                  <a:txBody>
                    <a:bodyPr/>
                    <a:lstStyle/>
                    <a:p>
                      <a:r>
                        <a:rPr sz="1650">
                          <a:solidFill>
                            <a:srgbClr val="152C40"/>
                          </a:solidFill>
                          <a:latin typeface="Helvetica Neue"/>
                          <a:ea typeface="Helvetica Neue"/>
                          <a:cs typeface="Helvetica Neue"/>
                        </a:rPr>
                        <a:t>64</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1,537</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0.190</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0.581</a:t>
                      </a:r>
                    </a:p>
                  </a:txBody>
                  <a:tcPr marL="114300" marR="114300" marT="28575" marB="28575" anchor="ctr">
                    <a:solidFill>
                      <a:srgbClr val="EEF3F5"/>
                    </a:solidFill>
                  </a:tcPr>
                </a:tc>
              </a:tr>
              <a:tr h="541020">
                <a:tc>
                  <a:txBody>
                    <a:bodyPr/>
                    <a:lstStyle/>
                    <a:p>
                      <a:r>
                        <a:rPr sz="1650">
                          <a:solidFill>
                            <a:srgbClr val="152C40"/>
                          </a:solidFill>
                          <a:latin typeface="Helvetica Neue"/>
                          <a:ea typeface="Helvetica Neue"/>
                          <a:cs typeface="Helvetica Neue"/>
                        </a:rPr>
                        <a:t>128</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3,037</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0.123</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0.452</a:t>
                      </a:r>
                    </a:p>
                  </a:txBody>
                  <a:tcPr marL="114300" marR="114300" marT="28575" marB="28575" anchor="ctr">
                    <a:solidFill>
                      <a:srgbClr val="FFFFFF"/>
                    </a:solidFill>
                  </a:tcPr>
                </a:tc>
              </a:tr>
              <a:tr h="541020">
                <a:tc>
                  <a:txBody>
                    <a:bodyPr/>
                    <a:lstStyle/>
                    <a:p>
                      <a:r>
                        <a:rPr sz="1650">
                          <a:solidFill>
                            <a:srgbClr val="152C40"/>
                          </a:solidFill>
                          <a:latin typeface="Helvetica Neue"/>
                          <a:ea typeface="Helvetica Neue"/>
                          <a:cs typeface="Helvetica Neue"/>
                        </a:rPr>
                        <a:t>192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4,567</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0.094</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0.370</a:t>
                      </a:r>
                    </a:p>
                  </a:txBody>
                  <a:tcPr marL="114300" marR="114300" marT="28575" marB="28575" anchor="ctr">
                    <a:solidFill>
                      <a:srgbClr val="EEF3F5"/>
                    </a:solidFill>
                  </a:tcPr>
                </a:tc>
              </a:tr>
            </a:tbl>
          </a:graphicData>
        </a:graphic>
      </p:graphicFrame>
      <p:sp>
        <p:nvSpPr>
          <p:cNvPr id="8" name="">
            <a:extLst xmlns:a="http://schemas.openxmlformats.org/drawingml/2006/main">
              <a:ext uri="{FF2B5EF4-FFF2-40B4-BE49-F238E27FC236}">
                <a16:creationId xmlns:a16="http://schemas.microsoft.com/office/drawing/2014/main" id="{A20A8B98-DD49-46DD-934A-9C1BE69B6158}"/>
              </a:ext>
            </a:extLst>
          </p:cNvPr>
          <p:cNvSpPr>
            <a:spLocks xmlns:a="http://schemas.openxmlformats.org/drawingml/2006/main" noGrp="1"/>
          </p:cNvSpPr>
          <p:nvPr/>
        </p:nvSpPr>
        <p:spPr>
          <a:xfrm xmlns:a="http://schemas.openxmlformats.org/drawingml/2006/main">
            <a:off x="6829425" y="46958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8A87"/>
                </a:solidFill>
                <a:latin typeface="Helvetica Neue"/>
                <a:ea typeface="Helvetica Neue"/>
                <a:cs typeface="Helvetica Neue"/>
              </a:defRPr>
            </a:pPr>
            <a:r>
              <a:rPr sz="2250" b="1">
                <a:solidFill>
                  <a:srgbClr val="008A87"/>
                </a:solidFill>
                <a:latin typeface="Helvetica Neue"/>
                <a:ea typeface="Helvetica Neue"/>
                <a:cs typeface="Helvetica Neue"/>
              </a:rPr>
              <a:t>The largest drop comes</a:t>
            </a:r>
          </a:p>
          <a:p xmlns:a="http://schemas.openxmlformats.org/drawingml/2006/main">
            <a:pPr algn="l">
              <a:defRPr sz="2250" b="1">
                <a:solidFill>
                  <a:srgbClr val="008A87"/>
                </a:solidFill>
                <a:latin typeface="Helvetica Neue"/>
                <a:ea typeface="Helvetica Neue"/>
                <a:cs typeface="Helvetica Neue"/>
              </a:defRPr>
            </a:pPr>
            <a:r>
              <a:rPr sz="2250" b="1">
                <a:solidFill>
                  <a:srgbClr val="008A87"/>
                </a:solidFill>
                <a:latin typeface="Helvetica Neue"/>
                <a:ea typeface="Helvetica Neue"/>
                <a:cs typeface="Helvetica Neue"/>
              </a:rPr>
              <a:t>with the first 64 pages</a:t>
            </a:r>
          </a:p>
        </p:txBody>
      </p:sp>
      <p:sp>
        <p:nvSpPr>
          <p:cNvPr id="9" name="">
            <a:extLst xmlns:a="http://schemas.openxmlformats.org/drawingml/2006/main">
              <a:ext uri="{FF2B5EF4-FFF2-40B4-BE49-F238E27FC236}">
                <a16:creationId xmlns:a16="http://schemas.microsoft.com/office/drawing/2014/main" id="{11EB6DBB-39A9-4ABE-918E-2366E7B8FEF1}"/>
              </a:ext>
            </a:extLst>
          </p:cNvPr>
          <p:cNvSpPr>
            <a:spLocks xmlns:a="http://schemas.openxmlformats.org/drawingml/2006/main" noGrp="1"/>
          </p:cNvSpPr>
          <p:nvPr/>
        </p:nvSpPr>
        <p:spPr>
          <a:xfrm xmlns:a="http://schemas.openxmlformats.org/drawingml/2006/main">
            <a:off x="609600" y="54483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1 epoch per fresh fit · 3 fixed rounds · capped VAL regions: 2 → 0 → 0 → 0</a:t>
            </a:r>
          </a:p>
        </p:txBody>
      </p:sp>
      <p:sp>
        <p:nvSpPr>
          <p:cNvPr id="10" name="">
            <a:extLst xmlns:a="http://schemas.openxmlformats.org/drawingml/2006/main">
              <a:ext uri="{FF2B5EF4-FFF2-40B4-BE49-F238E27FC236}">
                <a16:creationId xmlns:a16="http://schemas.microsoft.com/office/drawing/2014/main" id="{FF421A88-5858-46E1-9186-5D4D96319475}"/>
              </a:ext>
            </a:extLst>
          </p:cNvPr>
          <p:cNvSpPr>
            <a:spLocks xmlns:a="http://schemas.openxmlformats.org/drawingml/2006/main" noGrp="1"/>
          </p:cNvSpPr>
          <p:nvPr/>
        </p:nvSpPr>
        <p:spPr>
          <a:xfrm xmlns:a="http://schemas.openxmlformats.org/drawingml/2006/main">
            <a:off x="609600" y="591502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776"/>
                </a:solidFill>
                <a:latin typeface="Helvetica Neue"/>
                <a:ea typeface="Helvetica Neue"/>
                <a:cs typeface="Helvetica Neue"/>
              </a:defRPr>
            </a:pPr>
            <a:r>
              <a:rPr sz="1575" b="0">
                <a:solidFill>
                  <a:srgbClr val="526776"/>
                </a:solidFill>
                <a:latin typeface="Helvetica Neue"/>
                <a:ea typeface="Helvetica Neue"/>
                <a:cs typeface="Helvetica Neue"/>
              </a:rPr>
              <a:t>Establishes adaptation and a control curve; no model-informed selection comparison yet.</a:t>
            </a:r>
          </a:p>
        </p:txBody>
      </p:sp>
    </p:spTree>
    <p:extLst>
      <p:ext uri="{BB962C8B-B14F-4D97-AF65-F5344CB8AC3E}">
        <p14:creationId xmlns:p14="http://schemas.microsoft.com/office/powerpoint/2010/main" val="1357873649"/>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EE703E0-AD10-42A6-B948-8D7FD7CD4037}"/>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KNOWN-BOX RESEARCH · 0 → 24 → 48 → 72 PAGES · SEED 824</a:t>
            </a:r>
          </a:p>
        </p:txBody>
      </p:sp>
      <p:sp>
        <p:nvSpPr>
          <p:cNvPr id="2" name="">
            <a:extLst xmlns:a="http://schemas.openxmlformats.org/drawingml/2006/main">
              <a:ext uri="{FF2B5EF4-FFF2-40B4-BE49-F238E27FC236}">
                <a16:creationId xmlns:a16="http://schemas.microsoft.com/office/drawing/2014/main" id="{B5C33408-E5EA-4124-A03D-7C4E381FE450}"/>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Strategy-first selection at smaller page budgets</a:t>
            </a:r>
          </a:p>
        </p:txBody>
      </p:sp>
      <p:sp>
        <p:nvSpPr>
          <p:cNvPr id="3" name="">
            <a:extLst xmlns:a="http://schemas.openxmlformats.org/drawingml/2006/main">
              <a:ext uri="{FF2B5EF4-FFF2-40B4-BE49-F238E27FC236}">
                <a16:creationId xmlns:a16="http://schemas.microsoft.com/office/drawing/2014/main" id="{4DE5FFBD-EDA3-45EE-9A39-0A34FE60AE3A}"/>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40887D1B-1963-43A4-B376-37194A7E81BE}"/>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Same Qwen revision and crop/training/decoding recipe as EXP-012 · three fixed rounds</a:t>
            </a:r>
          </a:p>
        </p:txBody>
      </p:sp>
      <p:sp>
        <p:nvSpPr>
          <p:cNvPr id="5" name="">
            <a:extLst xmlns:a="http://schemas.openxmlformats.org/drawingml/2006/main">
              <a:ext uri="{FF2B5EF4-FFF2-40B4-BE49-F238E27FC236}">
                <a16:creationId xmlns:a16="http://schemas.microsoft.com/office/drawing/2014/main" id="{7EBE6617-F89C-4EE5-8FC1-1BCC9632D758}"/>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183D3DE0-C65D-422F-B25D-6525AE596B87}"/>
              </a:ext>
            </a:extLst>
          </p:cNvPr>
          <p:cNvSpPr>
            <a:spLocks xmlns:a="http://schemas.openxmlformats.org/drawingml/2006/main" noGrp="1"/>
          </p:cNvSpPr>
          <p:nvPr/>
        </p:nvSpPr>
        <p:spPr>
          <a:xfrm xmlns:a="http://schemas.openxmlformats.org/drawingml/2006/main">
            <a:off x="609600" y="1647825"/>
            <a:ext cx="5219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52C40"/>
                </a:solidFill>
                <a:latin typeface="Helvetica Neue"/>
                <a:ea typeface="Helvetica Neue"/>
                <a:cs typeface="Helvetica Neue"/>
              </a:defRPr>
            </a:pPr>
            <a:r>
              <a:rPr sz="2325" b="1">
                <a:solidFill>
                  <a:srgbClr val="152C40"/>
                </a:solidFill>
                <a:latin typeface="Helvetica Neue"/>
                <a:ea typeface="Helvetica Neue"/>
                <a:cs typeface="Helvetica Neue"/>
              </a:rPr>
              <a:t>Why smaller budgets?</a:t>
            </a:r>
          </a:p>
        </p:txBody>
      </p:sp>
      <p:sp>
        <p:nvSpPr>
          <p:cNvPr id="7" name="">
            <a:extLst xmlns:a="http://schemas.openxmlformats.org/drawingml/2006/main">
              <a:ext uri="{FF2B5EF4-FFF2-40B4-BE49-F238E27FC236}">
                <a16:creationId xmlns:a16="http://schemas.microsoft.com/office/drawing/2014/main" id="{554AC9EA-05EB-4931-BCAE-5C1813DC4FE5}"/>
              </a:ext>
            </a:extLst>
          </p:cNvPr>
          <p:cNvSpPr>
            <a:spLocks xmlns:a="http://schemas.openxmlformats.org/drawingml/2006/main" noGrp="1"/>
          </p:cNvSpPr>
          <p:nvPr/>
        </p:nvSpPr>
        <p:spPr>
          <a:xfrm xmlns:a="http://schemas.openxmlformats.org/drawingml/2006/main">
            <a:off x="609600" y="2286000"/>
            <a:ext cx="51625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EXP-012’s largest gain came early.</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24-page batches leave more headroom</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to test the earliest selection effects.</a:t>
            </a:r>
          </a:p>
        </p:txBody>
      </p:sp>
      <p:sp>
        <p:nvSpPr>
          <p:cNvPr id="8" name="">
            <a:extLst xmlns:a="http://schemas.openxmlformats.org/drawingml/2006/main">
              <a:ext uri="{FF2B5EF4-FFF2-40B4-BE49-F238E27FC236}">
                <a16:creationId xmlns:a16="http://schemas.microsoft.com/office/drawing/2014/main" id="{24DF8258-74F5-4BC9-8D4F-E50C5D9ED18C}"/>
              </a:ext>
            </a:extLst>
          </p:cNvPr>
          <p:cNvSpPr>
            <a:spLocks xmlns:a="http://schemas.openxmlformats.org/drawingml/2006/main" noGrp="1"/>
          </p:cNvSpPr>
          <p:nvPr/>
        </p:nvSpPr>
        <p:spPr>
          <a:xfrm xmlns:a="http://schemas.openxmlformats.org/drawingml/2006/main">
            <a:off x="6553200" y="1647825"/>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52C40"/>
                </a:solidFill>
                <a:latin typeface="Helvetica Neue"/>
                <a:ea typeface="Helvetica Neue"/>
                <a:cs typeface="Helvetica Neue"/>
              </a:defRPr>
            </a:pPr>
            <a:r>
              <a:rPr sz="2325" b="1">
                <a:solidFill>
                  <a:srgbClr val="152C40"/>
                </a:solidFill>
                <a:latin typeface="Helvetica Neue"/>
                <a:ea typeface="Helvetica Neue"/>
                <a:cs typeface="Helvetica Neue"/>
              </a:rPr>
              <a:t>Why remove the warm start?</a:t>
            </a:r>
          </a:p>
        </p:txBody>
      </p:sp>
      <p:sp>
        <p:nvSpPr>
          <p:cNvPr id="9" name="">
            <a:extLst xmlns:a="http://schemas.openxmlformats.org/drawingml/2006/main">
              <a:ext uri="{FF2B5EF4-FFF2-40B4-BE49-F238E27FC236}">
                <a16:creationId xmlns:a16="http://schemas.microsoft.com/office/drawing/2014/main" id="{597054AA-66E4-4385-A36F-FC547C78FA6C}"/>
              </a:ext>
            </a:extLst>
          </p:cNvPr>
          <p:cNvSpPr>
            <a:spLocks xmlns:a="http://schemas.openxmlformats.org/drawingml/2006/main" noGrp="1"/>
          </p:cNvSpPr>
          <p:nvPr/>
        </p:nvSpPr>
        <p:spPr>
          <a:xfrm xmlns:a="http://schemas.openxmlformats.org/drawingml/2006/main">
            <a:off x="6553200" y="2286000"/>
            <a:ext cx="5029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EXP-011 tested additions after 64 labels.</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Now each strategy chooses its own</a:t>
            </a:r>
          </a:p>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first 24 from the original model.</a:t>
            </a:r>
          </a:p>
        </p:txBody>
      </p:sp>
      <p:sp>
        <p:nvSpPr>
          <p:cNvPr id="10" name="">
            <a:extLst xmlns:a="http://schemas.openxmlformats.org/drawingml/2006/main">
              <a:ext uri="{FF2B5EF4-FFF2-40B4-BE49-F238E27FC236}">
                <a16:creationId xmlns:a16="http://schemas.microsoft.com/office/drawing/2014/main" id="{5D2B462A-C1FE-4BCC-8DD2-BFE5C7F52C16}"/>
              </a:ext>
            </a:extLst>
          </p:cNvPr>
          <p:cNvSpPr>
            <a:spLocks xmlns:a="http://schemas.openxmlformats.org/drawingml/2006/main" noGrp="1"/>
          </p:cNvSpPr>
          <p:nvPr/>
        </p:nvSpPr>
        <p:spPr>
          <a:xfrm xmlns:a="http://schemas.openxmlformats.org/drawingml/2006/main">
            <a:off x="609600" y="3857625"/>
            <a:ext cx="27432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Model-based arms: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3 sampled line crops</a:t>
            </a:r>
          </a:p>
        </p:txBody>
      </p:sp>
      <p:sp>
        <p:nvSpPr>
          <p:cNvPr id="11" name="">
            <a:extLst xmlns:a="http://schemas.openxmlformats.org/drawingml/2006/main">
              <a:ext uri="{FF2B5EF4-FFF2-40B4-BE49-F238E27FC236}">
                <a16:creationId xmlns:a16="http://schemas.microsoft.com/office/drawing/2014/main" id="{0DEE14A4-B045-4E8A-A7A7-1660B623C92A}"/>
              </a:ext>
            </a:extLst>
          </p:cNvPr>
          <p:cNvSpPr>
            <a:spLocks xmlns:a="http://schemas.openxmlformats.org/drawingml/2006/main" noGrp="1"/>
          </p:cNvSpPr>
          <p:nvPr/>
        </p:nvSpPr>
        <p:spPr>
          <a:xfrm xmlns:a="http://schemas.openxmlformats.org/drawingml/2006/main">
            <a:off x="4210050" y="3857625"/>
            <a:ext cx="29051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Select 24 TRAIN pages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using this arm</a:t>
            </a:r>
          </a:p>
        </p:txBody>
      </p:sp>
      <p:sp>
        <p:nvSpPr>
          <p:cNvPr id="12" name="">
            <a:extLst xmlns:a="http://schemas.openxmlformats.org/drawingml/2006/main">
              <a:ext uri="{FF2B5EF4-FFF2-40B4-BE49-F238E27FC236}">
                <a16:creationId xmlns:a16="http://schemas.microsoft.com/office/drawing/2014/main" id="{546424F2-1245-406C-9BC1-40423BDFD012}"/>
              </a:ext>
            </a:extLst>
          </p:cNvPr>
          <p:cNvSpPr>
            <a:spLocks xmlns:a="http://schemas.openxmlformats.org/drawingml/2006/main" noGrp="1"/>
          </p:cNvSpPr>
          <p:nvPr/>
        </p:nvSpPr>
        <p:spPr>
          <a:xfrm xmlns:a="http://schemas.openxmlformats.org/drawingml/2006/main">
            <a:off x="7981950" y="3857625"/>
            <a:ext cx="36004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008A87"/>
            </a:solidFill>
          </a:ln>
        </p:spPr>
        <p:txBody>
          <a:bodyPr xmlns:a="http://schemas.openxmlformats.org/drawingml/2006/main" lIns="95250" tIns="57150" rIns="95250" bIns="57150" anchor="ctr"/>
          <a:lstStyle xmlns:a="http://schemas.openxmlformats.org/drawingml/2006/main"/>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Reveal all page lines</a:t>
            </a:r>
          </a:p>
          <a:p xmlns:a="http://schemas.openxmlformats.org/drawingml/2006/main">
            <a:pPr algn="ctr">
              <a:defRPr sz="1725" b="1">
                <a:solidFill>
                  <a:srgbClr val="152C40"/>
                </a:solidFill>
                <a:latin typeface="Helvetica Neue"/>
                <a:ea typeface="Helvetica Neue"/>
                <a:cs typeface="Helvetica Neue"/>
              </a:defRPr>
            </a:pPr>
            <a:r>
              <a:rPr sz="1725" b="1">
                <a:solidFill>
                  <a:srgbClr val="152C40"/>
                </a:solidFill>
                <a:latin typeface="Helvetica Neue"/>
                <a:ea typeface="Helvetica Neue"/>
                <a:cs typeface="Helvetica Neue"/>
              </a:rPr>
              <a:t>fit cumulative labels</a:t>
            </a:r>
          </a:p>
        </p:txBody>
      </p:sp>
      <p:cxnSp>
        <p:nvCxnSpPr>
          <p:cNvPr id="29" name=""/>
          <p:cNvCxnSpPr>
            <a:stCxn xmlns:a="http://schemas.openxmlformats.org/drawingml/2006/main" id="10" idx="3"/>
            <a:endCxn xmlns:a="http://schemas.openxmlformats.org/drawingml/2006/main" id="11" idx="1"/>
          </p:cNvCxnSpPr>
          <p:nvPr/>
        </p:nvCxnSpPr>
        <p:spPr>
          <a:xfrm xmlns:a="http://schemas.openxmlformats.org/drawingml/2006/main">
            <a:off x="3352800" y="4238625"/>
            <a:ext cx="857250" cy="0"/>
          </a:xfrm>
          <a:prstGeom xmlns:a="http://schemas.openxmlformats.org/drawingml/2006/main" prst="straightConnector1">
            <a:avLst/>
          </a:prstGeom>
          <a:ln xmlns:a="http://schemas.openxmlformats.org/drawingml/2006/main" w="19050">
            <a:solidFill>
              <a:srgbClr val="526776"/>
            </a:solidFill>
            <a:tailEnd type="triangle" w="sm" len="sm"/>
          </a:ln>
        </p:spPr>
      </p:cxnSp>
      <p:cxnSp>
        <p:nvCxnSpPr>
          <p:cNvPr id="30" name=""/>
          <p:cNvCxnSpPr>
            <a:stCxn xmlns:a="http://schemas.openxmlformats.org/drawingml/2006/main" id="11" idx="3"/>
            <a:endCxn xmlns:a="http://schemas.openxmlformats.org/drawingml/2006/main" id="12" idx="1"/>
          </p:cNvCxnSpPr>
          <p:nvPr/>
        </p:nvCxnSpPr>
        <p:spPr>
          <a:xfrm xmlns:a="http://schemas.openxmlformats.org/drawingml/2006/main">
            <a:off x="7115175" y="4238625"/>
            <a:ext cx="866775" cy="0"/>
          </a:xfrm>
          <a:prstGeom xmlns:a="http://schemas.openxmlformats.org/drawingml/2006/main" prst="straightConnector1">
            <a:avLst/>
          </a:prstGeom>
          <a:ln xmlns:a="http://schemas.openxmlformats.org/drawingml/2006/main" w="19050">
            <a:solidFill>
              <a:srgbClr val="526776"/>
            </a:solidFill>
            <a:tailEnd type="triangle" w="sm" len="sm"/>
          </a:ln>
        </p:spPr>
      </p:cxnSp>
      <p:sp>
        <p:nvSpPr>
          <p:cNvPr id="15" name="">
            <a:extLst xmlns:a="http://schemas.openxmlformats.org/drawingml/2006/main">
              <a:ext uri="{FF2B5EF4-FFF2-40B4-BE49-F238E27FC236}">
                <a16:creationId xmlns:a16="http://schemas.microsoft.com/office/drawing/2014/main" id="{0BDE0B7B-4C38-47B4-9496-46E418DDD45F}"/>
              </a:ext>
            </a:extLst>
          </p:cNvPr>
          <p:cNvSpPr>
            <a:spLocks xmlns:a="http://schemas.openxmlformats.org/drawingml/2006/main" noGrp="1"/>
          </p:cNvSpPr>
          <p:nvPr/>
        </p:nvSpPr>
        <p:spPr>
          <a:xfrm xmlns:a="http://schemas.openxmlformats.org/drawingml/2006/main">
            <a:off x="609600" y="49625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Score lines at ¼, ½, ¾ of reading order; selection reveals all page labels.</a:t>
            </a:r>
          </a:p>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Later uncertainty uses its own adapter; k-center features stay frozen.</a:t>
            </a:r>
          </a:p>
        </p:txBody>
      </p:sp>
      <p:sp>
        <p:nvSpPr>
          <p:cNvPr id="16" name="">
            <a:extLst xmlns:a="http://schemas.openxmlformats.org/drawingml/2006/main">
              <a:ext uri="{FF2B5EF4-FFF2-40B4-BE49-F238E27FC236}">
                <a16:creationId xmlns:a16="http://schemas.microsoft.com/office/drawing/2014/main" id="{1DFD49B2-44CF-48D2-870E-63D7FA98C069}"/>
              </a:ext>
            </a:extLst>
          </p:cNvPr>
          <p:cNvSpPr>
            <a:spLocks xmlns:a="http://schemas.openxmlformats.org/drawingml/2006/main" noGrp="1"/>
          </p:cNvSpPr>
          <p:nvPr/>
        </p:nvSpPr>
        <p:spPr>
          <a:xfrm xmlns:a="http://schemas.openxmlformats.org/drawingml/2006/main">
            <a:off x="609600" y="57150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8A87"/>
                </a:solidFill>
                <a:latin typeface="Helvetica Neue"/>
                <a:ea typeface="Helvetica Neue"/>
                <a:cs typeface="Helvetica Neue"/>
              </a:defRPr>
            </a:pPr>
            <a:r>
              <a:rPr sz="1650" b="1">
                <a:solidFill>
                  <a:srgbClr val="008A87"/>
                </a:solidFill>
                <a:latin typeface="Helvetica Neue"/>
                <a:ea typeface="Helvetica Neue"/>
                <a:cs typeface="Helvetica Neue"/>
              </a:rPr>
              <a:t>0-page VAL42 baseline reused from EXP-012 after identity checks and metric recomputation.</a:t>
            </a:r>
          </a:p>
        </p:txBody>
      </p:sp>
    </p:spTree>
    <p:extLst>
      <p:ext uri="{BB962C8B-B14F-4D97-AF65-F5344CB8AC3E}">
        <p14:creationId xmlns:p14="http://schemas.microsoft.com/office/powerpoint/2010/main" val="1570998944"/>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914080-3E96-40AD-93C8-5404381855B7}"/>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EXP-013 · OBSERVED LEARNING CURVES</a:t>
            </a:r>
          </a:p>
        </p:txBody>
      </p:sp>
      <p:sp>
        <p:nvSpPr>
          <p:cNvPr id="2" name="">
            <a:extLst xmlns:a="http://schemas.openxmlformats.org/drawingml/2006/main">
              <a:ext uri="{FF2B5EF4-FFF2-40B4-BE49-F238E27FC236}">
                <a16:creationId xmlns:a16="http://schemas.microsoft.com/office/drawing/2014/main" id="{7D970CA8-7742-4AE9-A0B8-EB435BD0FCA7}"/>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Uncertainty leads early; random leads later</a:t>
            </a:r>
          </a:p>
        </p:txBody>
      </p:sp>
      <p:sp>
        <p:nvSpPr>
          <p:cNvPr id="3" name="">
            <a:extLst xmlns:a="http://schemas.openxmlformats.org/drawingml/2006/main">
              <a:ext uri="{FF2B5EF4-FFF2-40B4-BE49-F238E27FC236}">
                <a16:creationId xmlns:a16="http://schemas.microsoft.com/office/drawing/2014/main" id="{6383A815-C773-4C17-8978-F711D5DF28D9}"/>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7F437DEE-806B-499D-A1C9-5D81023AE4CB}"/>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Same VAL42 / 861 supplied lines · original-model zero baseline reused from EXP-012</a:t>
            </a:r>
          </a:p>
        </p:txBody>
      </p:sp>
      <p:sp>
        <p:nvSpPr>
          <p:cNvPr id="5" name="">
            <a:extLst xmlns:a="http://schemas.openxmlformats.org/drawingml/2006/main">
              <a:ext uri="{FF2B5EF4-FFF2-40B4-BE49-F238E27FC236}">
                <a16:creationId xmlns:a16="http://schemas.microsoft.com/office/drawing/2014/main" id="{2B9DECAA-CFCD-495C-9358-35D31F7E0562}"/>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14</a:t>
            </a:r>
          </a:p>
        </p:txBody>
      </p:sp>
      <p:graphicFrame>
        <p:nvGraphicFramePr>
          <p:cNvPr id="15" name="Chart"/>
          <p:cNvGraphicFramePr/>
          <p:nvPr/>
        </p:nvGraphicFramePr>
        <p:xfrm>
          <a:off xmlns:a="http://schemas.openxmlformats.org/drawingml/2006/main" x="419100" y="1543050"/>
          <a:ext xmlns:a="http://schemas.openxmlformats.org/drawingml/2006/main" cx="5657850" cy="3629025"/>
        </p:xfrm>
        <a:graphic xmlns:a="http://schemas.openxmlformats.org/drawingml/2006/main">
          <a:graphicData uri="http://schemas.openxmlformats.org/drawingml/2006/chart">
            <c:chart xmlns:r="http://schemas.openxmlformats.org/officeDocument/2006/relationships" xmlns:c="http://schemas.openxmlformats.org/drawingml/2006/chart" r:id="R1ea706e716fd45aa"/>
          </a:graphicData>
        </a:graphic>
      </p:graphicFrame>
      <p:graphicFrame>
        <p:nvGraphicFramePr>
          <p:cNvPr id="16" name="Chart"/>
          <p:cNvGraphicFramePr/>
          <p:nvPr/>
        </p:nvGraphicFramePr>
        <p:xfrm>
          <a:off xmlns:a="http://schemas.openxmlformats.org/drawingml/2006/main" x="6162675" y="1543050"/>
          <a:ext xmlns:a="http://schemas.openxmlformats.org/drawingml/2006/main" cx="5657850" cy="3629025"/>
        </p:xfrm>
        <a:graphic xmlns:a="http://schemas.openxmlformats.org/drawingml/2006/main">
          <a:graphicData uri="http://schemas.openxmlformats.org/drawingml/2006/chart">
            <c:chart xmlns:r="http://schemas.openxmlformats.org/officeDocument/2006/relationships" xmlns:c="http://schemas.openxmlformats.org/drawingml/2006/chart" r:id="R8d70e9d8fe8b460f"/>
          </a:graphicData>
        </a:graphic>
      </p:graphicFrame>
      <p:sp>
        <p:nvSpPr>
          <p:cNvPr id="8" name="">
            <a:extLst xmlns:a="http://schemas.openxmlformats.org/drawingml/2006/main">
              <a:ext uri="{FF2B5EF4-FFF2-40B4-BE49-F238E27FC236}">
                <a16:creationId xmlns:a16="http://schemas.microsoft.com/office/drawing/2014/main" id="{FB89D4A5-9972-49D7-A3C9-840C5CD6242C}"/>
              </a:ext>
            </a:extLst>
          </p:cNvPr>
          <p:cNvSpPr>
            <a:spLocks xmlns:a="http://schemas.openxmlformats.org/drawingml/2006/main" noGrp="1"/>
          </p:cNvSpPr>
          <p:nvPr/>
        </p:nvSpPr>
        <p:spPr>
          <a:xfrm xmlns:a="http://schemas.openxmlformats.org/drawingml/2006/main">
            <a:off x="609600" y="53149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Early lead: entropy reduces CER versus random by 5.45 percentage points at 24.</a:t>
            </a:r>
          </a:p>
        </p:txBody>
      </p:sp>
      <p:sp>
        <p:nvSpPr>
          <p:cNvPr id="9" name="">
            <a:extLst xmlns:a="http://schemas.openxmlformats.org/drawingml/2006/main">
              <a:ext uri="{FF2B5EF4-FFF2-40B4-BE49-F238E27FC236}">
                <a16:creationId xmlns:a16="http://schemas.microsoft.com/office/drawing/2014/main" id="{4B0AFF1B-259B-4292-8E61-DA6E5DE4CCF5}"/>
              </a:ext>
            </a:extLst>
          </p:cNvPr>
          <p:cNvSpPr>
            <a:spLocks xmlns:a="http://schemas.openxmlformats.org/drawingml/2006/main" noGrp="1"/>
          </p:cNvSpPr>
          <p:nvPr/>
        </p:nvSpPr>
        <p:spPr>
          <a:xfrm xmlns:a="http://schemas.openxmlformats.org/drawingml/2006/main">
            <a:off x="609600" y="58388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6"/>
                </a:solidFill>
                <a:latin typeface="Helvetica Neue"/>
                <a:ea typeface="Helvetica Neue"/>
                <a:cs typeface="Helvetica Neue"/>
              </a:defRPr>
            </a:pPr>
            <a:r>
              <a:rPr sz="1725" b="0">
                <a:solidFill>
                  <a:srgbClr val="526776"/>
                </a:solidFill>
                <a:latin typeface="Helvetica Neue"/>
                <a:ea typeface="Helvetica Neue"/>
                <a:cs typeface="Helvetica Neue"/>
              </a:rPr>
              <a:t>The lead is not sustained; this is one pilot seed, not proven annotation savings.</a:t>
            </a:r>
          </a:p>
        </p:txBody>
      </p:sp>
    </p:spTree>
    <p:extLst>
      <p:ext uri="{BB962C8B-B14F-4D97-AF65-F5344CB8AC3E}">
        <p14:creationId xmlns:p14="http://schemas.microsoft.com/office/powerpoint/2010/main" val="792797763"/>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A41CF8-E4DB-4AE6-A33E-B56DB886CC94}"/>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RESULTS TABLE · RATES, NOT PERCENTAGES · LOWER IS BETTER</a:t>
            </a:r>
          </a:p>
        </p:txBody>
      </p:sp>
      <p:sp>
        <p:nvSpPr>
          <p:cNvPr id="2" name="">
            <a:extLst xmlns:a="http://schemas.openxmlformats.org/drawingml/2006/main">
              <a:ext uri="{FF2B5EF4-FFF2-40B4-BE49-F238E27FC236}">
                <a16:creationId xmlns:a16="http://schemas.microsoft.com/office/drawing/2014/main" id="{18038DE6-E166-4856-B795-22A0C852E635}"/>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EXP-013: CER and WER at every page budget</a:t>
            </a:r>
          </a:p>
        </p:txBody>
      </p:sp>
      <p:sp>
        <p:nvSpPr>
          <p:cNvPr id="3" name="">
            <a:extLst xmlns:a="http://schemas.openxmlformats.org/drawingml/2006/main">
              <a:ext uri="{FF2B5EF4-FFF2-40B4-BE49-F238E27FC236}">
                <a16:creationId xmlns:a16="http://schemas.microsoft.com/office/drawing/2014/main" id="{B844A54C-CA89-45FE-8749-4D784FB99702}"/>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BED5A21F-97BD-40D9-A586-FA03DD358D5A}"/>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Values rounded to 4 decimals; exact metrics and receipts are preserved in results/EXP-013.md</a:t>
            </a:r>
          </a:p>
        </p:txBody>
      </p:sp>
      <p:sp>
        <p:nvSpPr>
          <p:cNvPr id="5" name="">
            <a:extLst xmlns:a="http://schemas.openxmlformats.org/drawingml/2006/main">
              <a:ext uri="{FF2B5EF4-FFF2-40B4-BE49-F238E27FC236}">
                <a16:creationId xmlns:a16="http://schemas.microsoft.com/office/drawing/2014/main" id="{ABDD01C8-594B-4FEA-870E-64D8E9B59981}"/>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9633E884-ADD8-47C0-9A90-05F5C73A4FAB}"/>
              </a:ext>
            </a:extLst>
          </p:cNvPr>
          <p:cNvSpPr>
            <a:spLocks xmlns:a="http://schemas.openxmlformats.org/drawingml/2006/main" noGrp="1"/>
          </p:cNvSpPr>
          <p:nvPr/>
        </p:nvSpPr>
        <p:spPr>
          <a:xfrm xmlns:a="http://schemas.openxmlformats.org/drawingml/2006/main">
            <a:off x="609600" y="1619250"/>
            <a:ext cx="5267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2C40"/>
                </a:solidFill>
                <a:latin typeface="Helvetica Neue"/>
                <a:ea typeface="Helvetica Neue"/>
                <a:cs typeface="Helvetica Neue"/>
              </a:defRPr>
            </a:pPr>
            <a:r>
              <a:rPr sz="2175" b="1">
                <a:solidFill>
                  <a:srgbClr val="152C40"/>
                </a:solidFill>
                <a:latin typeface="Helvetica Neue"/>
                <a:ea typeface="Helvetica Neue"/>
                <a:cs typeface="Helvetica Neue"/>
              </a:rPr>
              <a:t>Character error rate (CER)</a:t>
            </a:r>
          </a:p>
        </p:txBody>
      </p:sp>
      <p:graphicFrame>
        <p:nvGraphicFramePr>
          <p:cNvPr id="19" name=""/>
          <p:cNvGraphicFramePr/>
          <p:nvPr/>
        </p:nvGraphicFramePr>
        <p:xfrm>
          <a:off xmlns:a="http://schemas.openxmlformats.org/drawingml/2006/main" x="609600" y="2152650"/>
          <a:ext xmlns:a="http://schemas.openxmlformats.org/drawingml/2006/main" cx="5295900" cy="2305050"/>
        </p:xfrm>
        <a:graphic xmlns:a="http://schemas.openxmlformats.org/drawingml/2006/main">
          <a:graphicData uri="http://schemas.openxmlformats.org/drawingml/2006/table">
            <a:tbl>
              <a:tblPr/>
              <a:tblGrid>
                <a:gridCol w="1714500"/>
                <a:gridCol w="895350"/>
                <a:gridCol w="895350"/>
                <a:gridCol w="895350"/>
                <a:gridCol w="895350"/>
              </a:tblGrid>
              <a:tr h="461010">
                <a:tc>
                  <a:txBody>
                    <a:bodyPr/>
                    <a:lstStyle/>
                    <a:p>
                      <a:r>
                        <a:rPr sz="1575" b="1">
                          <a:solidFill>
                            <a:srgbClr val="FFFFFF"/>
                          </a:solidFill>
                          <a:latin typeface="Helvetica Neue"/>
                          <a:ea typeface="Helvetica Neue"/>
                          <a:cs typeface="Helvetica Neue"/>
                        </a:rPr>
                        <a:t>Strategy</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0*</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24</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48</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72</a:t>
                      </a:r>
                    </a:p>
                  </a:txBody>
                  <a:tcPr marL="114300" marR="114300" marT="28575" marB="28575" anchor="ctr">
                    <a:solidFill>
                      <a:srgbClr val="152C40"/>
                    </a:solidFill>
                  </a:tcPr>
                </a:tc>
              </a:tr>
              <a:tr h="461010">
                <a:tc>
                  <a:txBody>
                    <a:bodyPr/>
                    <a:lstStyle/>
                    <a:p>
                      <a:r>
                        <a:rPr sz="1650">
                          <a:solidFill>
                            <a:srgbClr val="152C40"/>
                          </a:solidFill>
                          <a:latin typeface="Helvetica Neue"/>
                          <a:ea typeface="Helvetica Neue"/>
                          <a:cs typeface="Helvetica Neue"/>
                        </a:rPr>
                        <a:t>Random</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0.8036</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0.4104</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0.2357</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0.1750</a:t>
                      </a:r>
                    </a:p>
                  </a:txBody>
                  <a:tcPr marL="114300" marR="114300" marT="28575" marB="28575" anchor="ctr">
                    <a:solidFill>
                      <a:srgbClr val="FFFFFF"/>
                    </a:solidFill>
                  </a:tcPr>
                </a:tc>
              </a:tr>
              <a:tr h="461010">
                <a:tc>
                  <a:txBody>
                    <a:bodyPr/>
                    <a:lstStyle/>
                    <a:p>
                      <a:r>
                        <a:rPr sz="1650">
                          <a:solidFill>
                            <a:srgbClr val="152C40"/>
                          </a:solidFill>
                          <a:latin typeface="Helvetica Neue"/>
                          <a:ea typeface="Helvetica Neue"/>
                          <a:cs typeface="Helvetica Neue"/>
                        </a:rPr>
                        <a:t>K-center</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0.8036</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0.4469</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0.2574</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0.1838</a:t>
                      </a:r>
                    </a:p>
                  </a:txBody>
                  <a:tcPr marL="114300" marR="114300" marT="28575" marB="28575" anchor="ctr">
                    <a:solidFill>
                      <a:srgbClr val="EEF3F5"/>
                    </a:solidFill>
                  </a:tcPr>
                </a:tc>
              </a:tr>
              <a:tr h="461010">
                <a:tc>
                  <a:txBody>
                    <a:bodyPr/>
                    <a:lstStyle/>
                    <a:p>
                      <a:r>
                        <a:rPr sz="1650">
                          <a:solidFill>
                            <a:srgbClr val="152C40"/>
                          </a:solidFill>
                          <a:latin typeface="Helvetica Neue"/>
                          <a:ea typeface="Helvetica Neue"/>
                          <a:cs typeface="Helvetica Neue"/>
                        </a:rPr>
                        <a:t>Entropy</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0.8036</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0.3559</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0.2400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0.1781</a:t>
                      </a:r>
                    </a:p>
                  </a:txBody>
                  <a:tcPr marL="114300" marR="114300" marT="28575" marB="28575" anchor="ctr">
                    <a:solidFill>
                      <a:srgbClr val="FFFFFF"/>
                    </a:solidFill>
                  </a:tcPr>
                </a:tc>
              </a:tr>
              <a:tr h="461010">
                <a:tc>
                  <a:txBody>
                    <a:bodyPr/>
                    <a:lstStyle/>
                    <a:p>
                      <a:r>
                        <a:rPr sz="1650">
                          <a:solidFill>
                            <a:srgbClr val="152C40"/>
                          </a:solidFill>
                          <a:latin typeface="Helvetica Neue"/>
                          <a:ea typeface="Helvetica Neue"/>
                          <a:cs typeface="Helvetica Neue"/>
                        </a:rPr>
                        <a:t>Least conf.</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0.8036</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0.3740</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0.2439</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0.1881</a:t>
                      </a:r>
                    </a:p>
                  </a:txBody>
                  <a:tcPr marL="114300" marR="114300" marT="28575" marB="28575" anchor="ctr">
                    <a:solidFill>
                      <a:srgbClr val="EEF3F5"/>
                    </a:solidFill>
                  </a:tcPr>
                </a:tc>
              </a:tr>
            </a:tbl>
          </a:graphicData>
        </a:graphic>
      </p:graphicFrame>
      <p:sp>
        <p:nvSpPr>
          <p:cNvPr id="8" name="">
            <a:extLst xmlns:a="http://schemas.openxmlformats.org/drawingml/2006/main">
              <a:ext uri="{FF2B5EF4-FFF2-40B4-BE49-F238E27FC236}">
                <a16:creationId xmlns:a16="http://schemas.microsoft.com/office/drawing/2014/main" id="{C1E14609-414A-4F24-8CC2-3BD3517723A3}"/>
              </a:ext>
            </a:extLst>
          </p:cNvPr>
          <p:cNvSpPr>
            <a:spLocks xmlns:a="http://schemas.openxmlformats.org/drawingml/2006/main" noGrp="1"/>
          </p:cNvSpPr>
          <p:nvPr/>
        </p:nvSpPr>
        <p:spPr>
          <a:xfrm xmlns:a="http://schemas.openxmlformats.org/drawingml/2006/main">
            <a:off x="6267450" y="1619250"/>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52C40"/>
                </a:solidFill>
                <a:latin typeface="Helvetica Neue"/>
                <a:ea typeface="Helvetica Neue"/>
                <a:cs typeface="Helvetica Neue"/>
              </a:defRPr>
            </a:pPr>
            <a:r>
              <a:rPr sz="2175" b="1">
                <a:solidFill>
                  <a:srgbClr val="152C40"/>
                </a:solidFill>
                <a:latin typeface="Helvetica Neue"/>
                <a:ea typeface="Helvetica Neue"/>
                <a:cs typeface="Helvetica Neue"/>
              </a:rPr>
              <a:t>Word error rate (WER)</a:t>
            </a:r>
          </a:p>
        </p:txBody>
      </p:sp>
      <p:graphicFrame>
        <p:nvGraphicFramePr>
          <p:cNvPr id="21" name=""/>
          <p:cNvGraphicFramePr/>
          <p:nvPr/>
        </p:nvGraphicFramePr>
        <p:xfrm>
          <a:off xmlns:a="http://schemas.openxmlformats.org/drawingml/2006/main" x="6267450" y="2152650"/>
          <a:ext xmlns:a="http://schemas.openxmlformats.org/drawingml/2006/main" cx="5295900" cy="2305050"/>
        </p:xfrm>
        <a:graphic xmlns:a="http://schemas.openxmlformats.org/drawingml/2006/main">
          <a:graphicData uri="http://schemas.openxmlformats.org/drawingml/2006/table">
            <a:tbl>
              <a:tblPr/>
              <a:tblGrid>
                <a:gridCol w="1714500"/>
                <a:gridCol w="895350"/>
                <a:gridCol w="895350"/>
                <a:gridCol w="895350"/>
                <a:gridCol w="895350"/>
              </a:tblGrid>
              <a:tr h="461010">
                <a:tc>
                  <a:txBody>
                    <a:bodyPr/>
                    <a:lstStyle/>
                    <a:p>
                      <a:r>
                        <a:rPr sz="1575" b="1">
                          <a:solidFill>
                            <a:srgbClr val="FFFFFF"/>
                          </a:solidFill>
                          <a:latin typeface="Helvetica Neue"/>
                          <a:ea typeface="Helvetica Neue"/>
                          <a:cs typeface="Helvetica Neue"/>
                        </a:rPr>
                        <a:t>Strategy</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0*</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24</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48</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72</a:t>
                      </a:r>
                    </a:p>
                  </a:txBody>
                  <a:tcPr marL="114300" marR="114300" marT="28575" marB="28575" anchor="ctr">
                    <a:solidFill>
                      <a:srgbClr val="152C40"/>
                    </a:solidFill>
                  </a:tcPr>
                </a:tc>
              </a:tr>
              <a:tr h="461010">
                <a:tc>
                  <a:txBody>
                    <a:bodyPr/>
                    <a:lstStyle/>
                    <a:p>
                      <a:r>
                        <a:rPr sz="1650">
                          <a:solidFill>
                            <a:srgbClr val="152C40"/>
                          </a:solidFill>
                          <a:latin typeface="Helvetica Neue"/>
                          <a:ea typeface="Helvetica Neue"/>
                          <a:cs typeface="Helvetica Neue"/>
                        </a:rPr>
                        <a:t>Random</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1.0871</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0.8254</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0.6445</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0.5529</a:t>
                      </a:r>
                    </a:p>
                  </a:txBody>
                  <a:tcPr marL="114300" marR="114300" marT="28575" marB="28575" anchor="ctr">
                    <a:solidFill>
                      <a:srgbClr val="FFFFFF"/>
                    </a:solidFill>
                  </a:tcPr>
                </a:tc>
              </a:tr>
              <a:tr h="461010">
                <a:tc>
                  <a:txBody>
                    <a:bodyPr/>
                    <a:lstStyle/>
                    <a:p>
                      <a:r>
                        <a:rPr sz="1650">
                          <a:solidFill>
                            <a:srgbClr val="152C40"/>
                          </a:solidFill>
                          <a:latin typeface="Helvetica Neue"/>
                          <a:ea typeface="Helvetica Neue"/>
                          <a:cs typeface="Helvetica Neue"/>
                        </a:rPr>
                        <a:t>K-center</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1.0871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0.8523</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0.6662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0.5664</a:t>
                      </a:r>
                    </a:p>
                  </a:txBody>
                  <a:tcPr marL="114300" marR="114300" marT="28575" marB="28575" anchor="ctr">
                    <a:solidFill>
                      <a:srgbClr val="EEF3F5"/>
                    </a:solidFill>
                  </a:tcPr>
                </a:tc>
              </a:tr>
              <a:tr h="461010">
                <a:tc>
                  <a:txBody>
                    <a:bodyPr/>
                    <a:lstStyle/>
                    <a:p>
                      <a:r>
                        <a:rPr sz="1650">
                          <a:solidFill>
                            <a:srgbClr val="152C40"/>
                          </a:solidFill>
                          <a:latin typeface="Helvetica Neue"/>
                          <a:ea typeface="Helvetica Neue"/>
                          <a:cs typeface="Helvetica Neue"/>
                        </a:rPr>
                        <a:t>Entropy</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1.0871</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0.7951</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0.6665</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0.5593</a:t>
                      </a:r>
                    </a:p>
                  </a:txBody>
                  <a:tcPr marL="114300" marR="114300" marT="28575" marB="28575" anchor="ctr">
                    <a:solidFill>
                      <a:srgbClr val="FFFFFF"/>
                    </a:solidFill>
                  </a:tcPr>
                </a:tc>
              </a:tr>
              <a:tr h="461010">
                <a:tc>
                  <a:txBody>
                    <a:bodyPr/>
                    <a:lstStyle/>
                    <a:p>
                      <a:r>
                        <a:rPr sz="1650">
                          <a:solidFill>
                            <a:srgbClr val="152C40"/>
                          </a:solidFill>
                          <a:latin typeface="Helvetica Neue"/>
                          <a:ea typeface="Helvetica Neue"/>
                          <a:cs typeface="Helvetica Neue"/>
                        </a:rPr>
                        <a:t>Least conf.</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1.0871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0.7963</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0.6650</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0.5716</a:t>
                      </a:r>
                    </a:p>
                  </a:txBody>
                  <a:tcPr marL="114300" marR="114300" marT="28575" marB="28575" anchor="ctr">
                    <a:solidFill>
                      <a:srgbClr val="EEF3F5"/>
                    </a:solidFill>
                  </a:tcPr>
                </a:tc>
              </a:tr>
            </a:tbl>
          </a:graphicData>
        </a:graphic>
      </p:graphicFrame>
      <p:sp>
        <p:nvSpPr>
          <p:cNvPr id="10" name="">
            <a:extLst xmlns:a="http://schemas.openxmlformats.org/drawingml/2006/main">
              <a:ext uri="{FF2B5EF4-FFF2-40B4-BE49-F238E27FC236}">
                <a16:creationId xmlns:a16="http://schemas.microsoft.com/office/drawing/2014/main" id="{F8DEA17F-D17C-4778-95C0-22B34FAAAAA6}"/>
              </a:ext>
            </a:extLst>
          </p:cNvPr>
          <p:cNvSpPr>
            <a:spLocks xmlns:a="http://schemas.openxmlformats.org/drawingml/2006/main" noGrp="1"/>
          </p:cNvSpPr>
          <p:nvPr/>
        </p:nvSpPr>
        <p:spPr>
          <a:xfrm xmlns:a="http://schemas.openxmlformats.org/drawingml/2006/main">
            <a:off x="609600" y="47910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8A87"/>
                </a:solidFill>
                <a:latin typeface="Helvetica Neue"/>
                <a:ea typeface="Helvetica Neue"/>
                <a:cs typeface="Helvetica Neue"/>
              </a:defRPr>
            </a:pPr>
            <a:r>
              <a:rPr sz="1950" b="1">
                <a:solidFill>
                  <a:srgbClr val="008A87"/>
                </a:solidFill>
                <a:latin typeface="Helvetica Neue"/>
                <a:ea typeface="Helvetica Neue"/>
                <a:cs typeface="Helvetica Neue"/>
              </a:rPr>
              <a:t>24 pages: entropy leads both metrics; confidence also improves over random.</a:t>
            </a:r>
          </a:p>
        </p:txBody>
      </p:sp>
      <p:sp>
        <p:nvSpPr>
          <p:cNvPr id="11" name="">
            <a:extLst xmlns:a="http://schemas.openxmlformats.org/drawingml/2006/main">
              <a:ext uri="{FF2B5EF4-FFF2-40B4-BE49-F238E27FC236}">
                <a16:creationId xmlns:a16="http://schemas.microsoft.com/office/drawing/2014/main" id="{4654CE12-ECF5-4791-9D59-002ABFF32DBE}"/>
              </a:ext>
            </a:extLst>
          </p:cNvPr>
          <p:cNvSpPr>
            <a:spLocks xmlns:a="http://schemas.openxmlformats.org/drawingml/2006/main" noGrp="1"/>
          </p:cNvSpPr>
          <p:nvPr/>
        </p:nvSpPr>
        <p:spPr>
          <a:xfrm xmlns:a="http://schemas.openxmlformats.org/drawingml/2006/main">
            <a:off x="609600" y="52863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52C40"/>
                </a:solidFill>
                <a:latin typeface="Helvetica Neue"/>
                <a:ea typeface="Helvetica Neue"/>
                <a:cs typeface="Helvetica Neue"/>
              </a:defRPr>
            </a:pPr>
            <a:r>
              <a:rPr sz="1950" b="0">
                <a:solidFill>
                  <a:srgbClr val="152C40"/>
                </a:solidFill>
                <a:latin typeface="Helvetica Neue"/>
                <a:ea typeface="Helvetica Neue"/>
                <a:cs typeface="Helvetica Neue"/>
              </a:rPr>
              <a:t>72 pages: entropy is close, but random has the lowest CER and WER.</a:t>
            </a:r>
          </a:p>
        </p:txBody>
      </p:sp>
      <p:sp>
        <p:nvSpPr>
          <p:cNvPr id="12" name="">
            <a:extLst xmlns:a="http://schemas.openxmlformats.org/drawingml/2006/main">
              <a:ext uri="{FF2B5EF4-FFF2-40B4-BE49-F238E27FC236}">
                <a16:creationId xmlns:a16="http://schemas.microsoft.com/office/drawing/2014/main" id="{7A2FFA84-FB82-45BC-AA0B-0EE4AD55C09F}"/>
              </a:ext>
            </a:extLst>
          </p:cNvPr>
          <p:cNvSpPr>
            <a:spLocks xmlns:a="http://schemas.openxmlformats.org/drawingml/2006/main" noGrp="1"/>
          </p:cNvSpPr>
          <p:nvPr/>
        </p:nvSpPr>
        <p:spPr>
          <a:xfrm xmlns:a="http://schemas.openxmlformats.org/drawingml/2006/main">
            <a:off x="609600" y="58674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776"/>
                </a:solidFill>
                <a:latin typeface="Helvetica Neue"/>
                <a:ea typeface="Helvetica Neue"/>
                <a:cs typeface="Helvetica Neue"/>
              </a:defRPr>
            </a:pPr>
            <a:r>
              <a:rPr sz="1575" b="0">
                <a:solidFill>
                  <a:srgbClr val="526776"/>
                </a:solidFill>
                <a:latin typeface="Helvetica Neue"/>
                <a:ea typeface="Helvetica Neue"/>
                <a:cs typeface="Helvetica Neue"/>
              </a:rPr>
              <a:t>*0 is reused, not a new run. Capped VAL lines: 2/861 at 0; 0/861 at every trained checkpoint.</a:t>
            </a:r>
          </a:p>
        </p:txBody>
      </p:sp>
    </p:spTree>
    <p:extLst>
      <p:ext uri="{BB962C8B-B14F-4D97-AF65-F5344CB8AC3E}">
        <p14:creationId xmlns:p14="http://schemas.microsoft.com/office/powerpoint/2010/main" val="791265467"/>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CF712C-9BBE-413F-ACD4-9253FD197691}"/>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EXP-013 · OVERLAP AND THE AMOUNT OF SUPERVISION</a:t>
            </a:r>
          </a:p>
        </p:txBody>
      </p:sp>
      <p:sp>
        <p:nvSpPr>
          <p:cNvPr id="2" name="">
            <a:extLst xmlns:a="http://schemas.openxmlformats.org/drawingml/2006/main">
              <a:ext uri="{FF2B5EF4-FFF2-40B4-BE49-F238E27FC236}">
                <a16:creationId xmlns:a16="http://schemas.microsoft.com/office/drawing/2014/main" id="{0C56AE4B-036D-4376-81E8-8641CE633BAC}"/>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Uncertainty strategies select overlapping pages</a:t>
            </a:r>
          </a:p>
        </p:txBody>
      </p:sp>
      <p:sp>
        <p:nvSpPr>
          <p:cNvPr id="3" name="">
            <a:extLst xmlns:a="http://schemas.openxmlformats.org/drawingml/2006/main">
              <a:ext uri="{FF2B5EF4-FFF2-40B4-BE49-F238E27FC236}">
                <a16:creationId xmlns:a16="http://schemas.microsoft.com/office/drawing/2014/main" id="{815E0E14-3015-437F-849F-58319FBE1B13}"/>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36A5B0A1-7404-4F7A-9637-D8300F5E4BC6}"/>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Pair overlap = shared acquired TRAIN pages · line counts = all labels revealed by those pages</a:t>
            </a:r>
          </a:p>
        </p:txBody>
      </p:sp>
      <p:sp>
        <p:nvSpPr>
          <p:cNvPr id="5" name="">
            <a:extLst xmlns:a="http://schemas.openxmlformats.org/drawingml/2006/main">
              <a:ext uri="{FF2B5EF4-FFF2-40B4-BE49-F238E27FC236}">
                <a16:creationId xmlns:a16="http://schemas.microsoft.com/office/drawing/2014/main" id="{23A3E335-7738-4E46-A921-932AA38CA571}"/>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090727EE-F6AB-4451-A442-92E019E25994}"/>
              </a:ext>
            </a:extLst>
          </p:cNvPr>
          <p:cNvSpPr>
            <a:spLocks xmlns:a="http://schemas.openxmlformats.org/drawingml/2006/main" noGrp="1"/>
          </p:cNvSpPr>
          <p:nvPr/>
        </p:nvSpPr>
        <p:spPr>
          <a:xfrm xmlns:a="http://schemas.openxmlformats.org/drawingml/2006/main">
            <a:off x="609600" y="1562100"/>
            <a:ext cx="5305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C40"/>
                </a:solidFill>
                <a:latin typeface="Helvetica Neue"/>
                <a:ea typeface="Helvetica Neue"/>
                <a:cs typeface="Helvetica Neue"/>
              </a:defRPr>
            </a:pPr>
            <a:r>
              <a:rPr sz="2100" b="1">
                <a:solidFill>
                  <a:srgbClr val="152C40"/>
                </a:solidFill>
                <a:latin typeface="Helvetica Neue"/>
                <a:ea typeface="Helvetica Neue"/>
                <a:cs typeface="Helvetica Neue"/>
              </a:rPr>
              <a:t>Cumulative page intersection</a:t>
            </a:r>
          </a:p>
        </p:txBody>
      </p:sp>
      <p:graphicFrame>
        <p:nvGraphicFramePr>
          <p:cNvPr id="18" name=""/>
          <p:cNvGraphicFramePr/>
          <p:nvPr/>
        </p:nvGraphicFramePr>
        <p:xfrm>
          <a:off xmlns:a="http://schemas.openxmlformats.org/drawingml/2006/main" x="609600" y="2152650"/>
          <a:ext xmlns:a="http://schemas.openxmlformats.org/drawingml/2006/main" cx="5362575" cy="2914650"/>
        </p:xfrm>
        <a:graphic xmlns:a="http://schemas.openxmlformats.org/drawingml/2006/main">
          <a:graphicData uri="http://schemas.openxmlformats.org/drawingml/2006/table">
            <a:tbl>
              <a:tblPr/>
              <a:tblGrid>
                <a:gridCol w="2733675"/>
                <a:gridCol w="876300"/>
                <a:gridCol w="876300"/>
                <a:gridCol w="876300"/>
              </a:tblGrid>
              <a:tr h="416379">
                <a:tc>
                  <a:txBody>
                    <a:bodyPr/>
                    <a:lstStyle/>
                    <a:p>
                      <a:r>
                        <a:rPr sz="1575" b="1">
                          <a:solidFill>
                            <a:srgbClr val="FFFFFF"/>
                          </a:solidFill>
                          <a:latin typeface="Helvetica Neue"/>
                          <a:ea typeface="Helvetica Neue"/>
                          <a:cs typeface="Helvetica Neue"/>
                        </a:rPr>
                        <a:t>Strategy pair</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24</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48</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72</a:t>
                      </a:r>
                    </a:p>
                  </a:txBody>
                  <a:tcPr marL="114300" marR="114300" marT="28575" marB="28575" anchor="ctr">
                    <a:solidFill>
                      <a:srgbClr val="152C40"/>
                    </a:solidFill>
                  </a:tcPr>
                </a:tc>
              </a:tr>
              <a:tr h="416379">
                <a:tc>
                  <a:txBody>
                    <a:bodyPr/>
                    <a:lstStyle/>
                    <a:p>
                      <a:r>
                        <a:rPr sz="1650">
                          <a:solidFill>
                            <a:srgbClr val="152C40"/>
                          </a:solidFill>
                          <a:latin typeface="Helvetica Neue"/>
                          <a:ea typeface="Helvetica Neue"/>
                          <a:cs typeface="Helvetica Neue"/>
                        </a:rPr>
                        <a:t>Random / K-center</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2</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6</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13</a:t>
                      </a:r>
                    </a:p>
                  </a:txBody>
                  <a:tcPr marL="114300" marR="114300" marT="28575" marB="28575" anchor="ctr">
                    <a:solidFill>
                      <a:srgbClr val="FFFFFF"/>
                    </a:solidFill>
                  </a:tcPr>
                </a:tc>
              </a:tr>
              <a:tr h="416379">
                <a:tc>
                  <a:txBody>
                    <a:bodyPr/>
                    <a:lstStyle/>
                    <a:p>
                      <a:r>
                        <a:rPr sz="1650">
                          <a:solidFill>
                            <a:srgbClr val="152C40"/>
                          </a:solidFill>
                          <a:latin typeface="Helvetica Neue"/>
                          <a:ea typeface="Helvetica Neue"/>
                          <a:cs typeface="Helvetica Neue"/>
                        </a:rPr>
                        <a:t>Random / Entropy</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2</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6</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14</a:t>
                      </a:r>
                    </a:p>
                  </a:txBody>
                  <a:tcPr marL="114300" marR="114300" marT="28575" marB="28575" anchor="ctr">
                    <a:solidFill>
                      <a:srgbClr val="EEF3F5"/>
                    </a:solidFill>
                  </a:tcPr>
                </a:tc>
              </a:tr>
              <a:tr h="416379">
                <a:tc>
                  <a:txBody>
                    <a:bodyPr/>
                    <a:lstStyle/>
                    <a:p>
                      <a:r>
                        <a:rPr sz="1650">
                          <a:solidFill>
                            <a:srgbClr val="152C40"/>
                          </a:solidFill>
                          <a:latin typeface="Helvetica Neue"/>
                          <a:ea typeface="Helvetica Neue"/>
                          <a:cs typeface="Helvetica Neue"/>
                        </a:rPr>
                        <a:t>Random / Confidence</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2</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5</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17</a:t>
                      </a:r>
                    </a:p>
                  </a:txBody>
                  <a:tcPr marL="114300" marR="114300" marT="28575" marB="28575" anchor="ctr">
                    <a:solidFill>
                      <a:srgbClr val="FFFFFF"/>
                    </a:solidFill>
                  </a:tcPr>
                </a:tc>
              </a:tr>
              <a:tr h="416379">
                <a:tc>
                  <a:txBody>
                    <a:bodyPr/>
                    <a:lstStyle/>
                    <a:p>
                      <a:r>
                        <a:rPr sz="1650">
                          <a:solidFill>
                            <a:srgbClr val="152C40"/>
                          </a:solidFill>
                          <a:latin typeface="Helvetica Neue"/>
                          <a:ea typeface="Helvetica Neue"/>
                          <a:cs typeface="Helvetica Neue"/>
                        </a:rPr>
                        <a:t>K-center / Entropy</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5</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16</a:t>
                      </a:r>
                    </a:p>
                  </a:txBody>
                  <a:tcPr marL="114300" marR="114300" marT="28575" marB="28575" anchor="ctr">
                    <a:solidFill>
                      <a:srgbClr val="EEF3F5"/>
                    </a:solidFill>
                  </a:tcPr>
                </a:tc>
              </a:tr>
              <a:tr h="416379">
                <a:tc>
                  <a:txBody>
                    <a:bodyPr/>
                    <a:lstStyle/>
                    <a:p>
                      <a:r>
                        <a:rPr sz="1650">
                          <a:solidFill>
                            <a:srgbClr val="152C40"/>
                          </a:solidFill>
                          <a:latin typeface="Helvetica Neue"/>
                          <a:ea typeface="Helvetica Neue"/>
                          <a:cs typeface="Helvetica Neue"/>
                        </a:rPr>
                        <a:t>K-center / Confidence</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9</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20</a:t>
                      </a:r>
                    </a:p>
                  </a:txBody>
                  <a:tcPr marL="114300" marR="114300" marT="28575" marB="28575" anchor="ctr">
                    <a:solidFill>
                      <a:srgbClr val="FFFFFF"/>
                    </a:solidFill>
                  </a:tcPr>
                </a:tc>
              </a:tr>
              <a:tr h="416379">
                <a:tc>
                  <a:txBody>
                    <a:bodyPr/>
                    <a:lstStyle/>
                    <a:p>
                      <a:r>
                        <a:rPr sz="1650">
                          <a:solidFill>
                            <a:srgbClr val="152C40"/>
                          </a:solidFill>
                          <a:latin typeface="Helvetica Neue"/>
                          <a:ea typeface="Helvetica Neue"/>
                          <a:cs typeface="Helvetica Neue"/>
                        </a:rPr>
                        <a:t>Entropy / Confidence</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16</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24</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37</a:t>
                      </a:r>
                    </a:p>
                  </a:txBody>
                  <a:tcPr marL="114300" marR="114300" marT="28575" marB="28575" anchor="ctr">
                    <a:solidFill>
                      <a:srgbClr val="EEF3F5"/>
                    </a:solidFill>
                  </a:tcPr>
                </a:tc>
              </a:tr>
            </a:tbl>
          </a:graphicData>
        </a:graphic>
      </p:graphicFrame>
      <p:sp>
        <p:nvSpPr>
          <p:cNvPr id="8" name="">
            <a:extLst xmlns:a="http://schemas.openxmlformats.org/drawingml/2006/main">
              <a:ext uri="{FF2B5EF4-FFF2-40B4-BE49-F238E27FC236}">
                <a16:creationId xmlns:a16="http://schemas.microsoft.com/office/drawing/2014/main" id="{D98956E7-6856-4A24-97F4-205A9C527B71}"/>
              </a:ext>
            </a:extLst>
          </p:cNvPr>
          <p:cNvSpPr>
            <a:spLocks xmlns:a="http://schemas.openxmlformats.org/drawingml/2006/main" noGrp="1"/>
          </p:cNvSpPr>
          <p:nvPr/>
        </p:nvSpPr>
        <p:spPr>
          <a:xfrm xmlns:a="http://schemas.openxmlformats.org/drawingml/2006/main">
            <a:off x="6438900" y="15621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52C40"/>
                </a:solidFill>
                <a:latin typeface="Helvetica Neue"/>
                <a:ea typeface="Helvetica Neue"/>
                <a:cs typeface="Helvetica Neue"/>
              </a:defRPr>
            </a:pPr>
            <a:r>
              <a:rPr sz="2100" b="1">
                <a:solidFill>
                  <a:srgbClr val="152C40"/>
                </a:solidFill>
                <a:latin typeface="Helvetica Neue"/>
                <a:ea typeface="Helvetica Neue"/>
                <a:cs typeface="Helvetica Neue"/>
              </a:rPr>
              <a:t>Cumulative training lines</a:t>
            </a:r>
          </a:p>
        </p:txBody>
      </p:sp>
      <p:graphicFrame>
        <p:nvGraphicFramePr>
          <p:cNvPr id="20" name=""/>
          <p:cNvGraphicFramePr/>
          <p:nvPr/>
        </p:nvGraphicFramePr>
        <p:xfrm>
          <a:off xmlns:a="http://schemas.openxmlformats.org/drawingml/2006/main" x="6438900" y="2152650"/>
          <a:ext xmlns:a="http://schemas.openxmlformats.org/drawingml/2006/main" cx="5143500" cy="2181225"/>
        </p:xfrm>
        <a:graphic xmlns:a="http://schemas.openxmlformats.org/drawingml/2006/main">
          <a:graphicData uri="http://schemas.openxmlformats.org/drawingml/2006/table">
            <a:tbl>
              <a:tblPr/>
              <a:tblGrid>
                <a:gridCol w="2000250"/>
                <a:gridCol w="1047750"/>
                <a:gridCol w="1047750"/>
                <a:gridCol w="1047750"/>
              </a:tblGrid>
              <a:tr h="436245">
                <a:tc>
                  <a:txBody>
                    <a:bodyPr/>
                    <a:lstStyle/>
                    <a:p>
                      <a:r>
                        <a:rPr sz="1575" b="1">
                          <a:solidFill>
                            <a:srgbClr val="FFFFFF"/>
                          </a:solidFill>
                          <a:latin typeface="Helvetica Neue"/>
                          <a:ea typeface="Helvetica Neue"/>
                          <a:cs typeface="Helvetica Neue"/>
                        </a:rPr>
                        <a:t>Strategy</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24</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48</a:t>
                      </a:r>
                    </a:p>
                  </a:txBody>
                  <a:tcPr marL="114300" marR="114300" marT="28575" marB="28575" anchor="ctr">
                    <a:solidFill>
                      <a:srgbClr val="152C40"/>
                    </a:solidFill>
                  </a:tcPr>
                </a:tc>
                <a:tc>
                  <a:txBody>
                    <a:bodyPr/>
                    <a:lstStyle/>
                    <a:p>
                      <a:r>
                        <a:rPr sz="1575" b="1">
                          <a:solidFill>
                            <a:srgbClr val="FFFFFF"/>
                          </a:solidFill>
                          <a:latin typeface="Helvetica Neue"/>
                          <a:ea typeface="Helvetica Neue"/>
                          <a:cs typeface="Helvetica Neue"/>
                        </a:rPr>
                        <a:t>72</a:t>
                      </a:r>
                    </a:p>
                  </a:txBody>
                  <a:tcPr marL="114300" marR="114300" marT="28575" marB="28575" anchor="ctr">
                    <a:solidFill>
                      <a:srgbClr val="152C40"/>
                    </a:solidFill>
                  </a:tcPr>
                </a:tc>
              </a:tr>
              <a:tr h="436245">
                <a:tc>
                  <a:txBody>
                    <a:bodyPr/>
                    <a:lstStyle/>
                    <a:p>
                      <a:r>
                        <a:rPr sz="1650">
                          <a:solidFill>
                            <a:srgbClr val="152C40"/>
                          </a:solidFill>
                          <a:latin typeface="Helvetica Neue"/>
                          <a:ea typeface="Helvetica Neue"/>
                          <a:cs typeface="Helvetica Neue"/>
                        </a:rPr>
                        <a:t>Random</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589</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1,155</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1,725</a:t>
                      </a:r>
                    </a:p>
                  </a:txBody>
                  <a:tcPr marL="114300" marR="114300" marT="28575" marB="28575" anchor="ctr">
                    <a:solidFill>
                      <a:srgbClr val="FFFFFF"/>
                    </a:solidFill>
                  </a:tcPr>
                </a:tc>
              </a:tr>
              <a:tr h="436245">
                <a:tc>
                  <a:txBody>
                    <a:bodyPr/>
                    <a:lstStyle/>
                    <a:p>
                      <a:r>
                        <a:rPr sz="1650">
                          <a:solidFill>
                            <a:srgbClr val="152C40"/>
                          </a:solidFill>
                          <a:latin typeface="Helvetica Neue"/>
                          <a:ea typeface="Helvetica Neue"/>
                          <a:cs typeface="Helvetica Neue"/>
                        </a:rPr>
                        <a:t>K-center</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501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1,071</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1,658</a:t>
                      </a:r>
                    </a:p>
                  </a:txBody>
                  <a:tcPr marL="114300" marR="114300" marT="28575" marB="28575" anchor="ctr">
                    <a:solidFill>
                      <a:srgbClr val="EEF3F5"/>
                    </a:solidFill>
                  </a:tcPr>
                </a:tc>
              </a:tr>
              <a:tr h="436245">
                <a:tc>
                  <a:txBody>
                    <a:bodyPr/>
                    <a:lstStyle/>
                    <a:p>
                      <a:r>
                        <a:rPr sz="1650">
                          <a:solidFill>
                            <a:srgbClr val="152C40"/>
                          </a:solidFill>
                          <a:latin typeface="Helvetica Neue"/>
                          <a:ea typeface="Helvetica Neue"/>
                          <a:cs typeface="Helvetica Neue"/>
                        </a:rPr>
                        <a:t>Entropy</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580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1,160</a:t>
                      </a:r>
                    </a:p>
                  </a:txBody>
                  <a:tcPr marL="114300" marR="114300" marT="28575" marB="28575" anchor="ctr">
                    <a:solidFill>
                      <a:srgbClr val="FFFFFF"/>
                    </a:solidFill>
                  </a:tcPr>
                </a:tc>
                <a:tc>
                  <a:txBody>
                    <a:bodyPr/>
                    <a:lstStyle/>
                    <a:p>
                      <a:r>
                        <a:rPr sz="1650">
                          <a:solidFill>
                            <a:srgbClr val="152C40"/>
                          </a:solidFill>
                          <a:latin typeface="Helvetica Neue"/>
                          <a:ea typeface="Helvetica Neue"/>
                          <a:cs typeface="Helvetica Neue"/>
                        </a:rPr>
                        <a:t>1,713</a:t>
                      </a:r>
                    </a:p>
                  </a:txBody>
                  <a:tcPr marL="114300" marR="114300" marT="28575" marB="28575" anchor="ctr">
                    <a:solidFill>
                      <a:srgbClr val="FFFFFF"/>
                    </a:solidFill>
                  </a:tcPr>
                </a:tc>
              </a:tr>
              <a:tr h="436245">
                <a:tc>
                  <a:txBody>
                    <a:bodyPr/>
                    <a:lstStyle/>
                    <a:p>
                      <a:r>
                        <a:rPr sz="1650">
                          <a:solidFill>
                            <a:srgbClr val="152C40"/>
                          </a:solidFill>
                          <a:latin typeface="Helvetica Neue"/>
                          <a:ea typeface="Helvetica Neue"/>
                          <a:cs typeface="Helvetica Neue"/>
                        </a:rPr>
                        <a:t>Least conf.</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584</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1,116</a:t>
                      </a:r>
                    </a:p>
                  </a:txBody>
                  <a:tcPr marL="114300" marR="114300" marT="28575" marB="28575" anchor="ctr">
                    <a:solidFill>
                      <a:srgbClr val="EEF3F5"/>
                    </a:solidFill>
                  </a:tcPr>
                </a:tc>
                <a:tc>
                  <a:txBody>
                    <a:bodyPr/>
                    <a:lstStyle/>
                    <a:p>
                      <a:r>
                        <a:rPr sz="1650">
                          <a:solidFill>
                            <a:srgbClr val="152C40"/>
                          </a:solidFill>
                          <a:latin typeface="Helvetica Neue"/>
                          <a:ea typeface="Helvetica Neue"/>
                          <a:cs typeface="Helvetica Neue"/>
                        </a:rPr>
                        <a:t>1,659</a:t>
                      </a:r>
                    </a:p>
                  </a:txBody>
                  <a:tcPr marL="114300" marR="114300" marT="28575" marB="28575" anchor="ctr">
                    <a:solidFill>
                      <a:srgbClr val="EEF3F5"/>
                    </a:solidFill>
                  </a:tcPr>
                </a:tc>
              </a:tr>
            </a:tbl>
          </a:graphicData>
        </a:graphic>
      </p:graphicFrame>
      <p:sp>
        <p:nvSpPr>
          <p:cNvPr id="10" name="">
            <a:extLst xmlns:a="http://schemas.openxmlformats.org/drawingml/2006/main">
              <a:ext uri="{FF2B5EF4-FFF2-40B4-BE49-F238E27FC236}">
                <a16:creationId xmlns:a16="http://schemas.microsoft.com/office/drawing/2014/main" id="{EF6B7928-D52C-4A11-A3AF-94D9C3963E51}"/>
              </a:ext>
            </a:extLst>
          </p:cNvPr>
          <p:cNvSpPr>
            <a:spLocks xmlns:a="http://schemas.openxmlformats.org/drawingml/2006/main" noGrp="1"/>
          </p:cNvSpPr>
          <p:nvPr/>
        </p:nvSpPr>
        <p:spPr>
          <a:xfrm xmlns:a="http://schemas.openxmlformats.org/drawingml/2006/main">
            <a:off x="6438900" y="45720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Entropy/confidence share 37 of 72 pages.</a:t>
            </a:r>
          </a:p>
          <a:p xmlns:a="http://schemas.openxmlformats.org/drawingml/2006/main">
            <a:pPr algn="l">
              <a:defRPr sz="1875" b="1">
                <a:solidFill>
                  <a:srgbClr val="008A87"/>
                </a:solidFill>
                <a:latin typeface="Helvetica Neue"/>
                <a:ea typeface="Helvetica Neue"/>
                <a:cs typeface="Helvetica Neue"/>
              </a:defRPr>
            </a:pPr>
            <a:r>
              <a:rPr sz="1875" b="1">
                <a:solidFill>
                  <a:srgbClr val="008A87"/>
                </a:solidFill>
                <a:latin typeface="Helvetica Neue"/>
                <a:ea typeface="Helvetica Neue"/>
                <a:cs typeface="Helvetica Neue"/>
              </a:rPr>
              <a:t>Different scores can yield similar batches.</a:t>
            </a:r>
          </a:p>
        </p:txBody>
      </p:sp>
      <p:sp>
        <p:nvSpPr>
          <p:cNvPr id="11" name="">
            <a:extLst xmlns:a="http://schemas.openxmlformats.org/drawingml/2006/main">
              <a:ext uri="{FF2B5EF4-FFF2-40B4-BE49-F238E27FC236}">
                <a16:creationId xmlns:a16="http://schemas.microsoft.com/office/drawing/2014/main" id="{9DF55354-3062-4700-B7D4-887AADC3941A}"/>
              </a:ext>
            </a:extLst>
          </p:cNvPr>
          <p:cNvSpPr>
            <a:spLocks xmlns:a="http://schemas.openxmlformats.org/drawingml/2006/main" noGrp="1"/>
          </p:cNvSpPr>
          <p:nvPr/>
        </p:nvSpPr>
        <p:spPr>
          <a:xfrm xmlns:a="http://schemas.openxmlformats.org/drawingml/2006/main">
            <a:off x="609600" y="5705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776"/>
                </a:solidFill>
                <a:latin typeface="Helvetica Neue"/>
                <a:ea typeface="Helvetica Neue"/>
                <a:cs typeface="Helvetica Neue"/>
              </a:defRPr>
            </a:pPr>
            <a:r>
              <a:rPr sz="1725" b="0">
                <a:solidFill>
                  <a:srgbClr val="526776"/>
                </a:solidFill>
                <a:latin typeface="Helvetica Neue"/>
                <a:ea typeface="Helvetica Neue"/>
                <a:cs typeface="Helvetica Neue"/>
              </a:rPr>
              <a:t>Equal page budgets do not mean equal transcript volume or equal human annotation effort.</a:t>
            </a:r>
          </a:p>
        </p:txBody>
      </p:sp>
    </p:spTree>
    <p:extLst>
      <p:ext uri="{BB962C8B-B14F-4D97-AF65-F5344CB8AC3E}">
        <p14:creationId xmlns:p14="http://schemas.microsoft.com/office/powerpoint/2010/main" val="1762148440"/>
      </p:ext>
    </p:extLst>
  </p:cSld>
</p:sld>
</file>

<file path=ppt/slides/slide1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2832739-F5AD-4C64-BED2-0B2E7C9E9C7F}"/>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RESEARCH STAGE · WORKING PIPELINES, PRELIMINARY SELECTION EVIDENCE</a:t>
            </a:r>
          </a:p>
        </p:txBody>
      </p:sp>
      <p:sp>
        <p:nvSpPr>
          <p:cNvPr id="2" name="">
            <a:extLst xmlns:a="http://schemas.openxmlformats.org/drawingml/2006/main">
              <a:ext uri="{FF2B5EF4-FFF2-40B4-BE49-F238E27FC236}">
                <a16:creationId xmlns:a16="http://schemas.microsoft.com/office/drawing/2014/main" id="{35B744E6-90A4-4FAF-921D-BD45040C21D1}"/>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Current findings and the next research test</a:t>
            </a:r>
          </a:p>
        </p:txBody>
      </p:sp>
      <p:sp>
        <p:nvSpPr>
          <p:cNvPr id="3" name="">
            <a:extLst xmlns:a="http://schemas.openxmlformats.org/drawingml/2006/main">
              <a:ext uri="{FF2B5EF4-FFF2-40B4-BE49-F238E27FC236}">
                <a16:creationId xmlns:a16="http://schemas.microsoft.com/office/drawing/2014/main" id="{3D050719-343D-40B3-8C26-F62277F14450}"/>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95EC4D9F-9551-4A0F-959B-ADD83D1B7391}"/>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Methodological context: Munjal et al., CVPR 2022 · historical recognition: Aradillas et al., 2020</a:t>
            </a:r>
          </a:p>
        </p:txBody>
      </p:sp>
      <p:sp>
        <p:nvSpPr>
          <p:cNvPr id="5" name="">
            <a:extLst xmlns:a="http://schemas.openxmlformats.org/drawingml/2006/main">
              <a:ext uri="{FF2B5EF4-FFF2-40B4-BE49-F238E27FC236}">
                <a16:creationId xmlns:a16="http://schemas.microsoft.com/office/drawing/2014/main" id="{024C5110-679A-4B4B-AD29-9CFA9209C928}"/>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17</a:t>
            </a:r>
          </a:p>
        </p:txBody>
      </p:sp>
      <p:sp>
        <p:nvSpPr>
          <p:cNvPr id="6" name="">
            <a:extLst xmlns:a="http://schemas.openxmlformats.org/drawingml/2006/main">
              <a:ext uri="{FF2B5EF4-FFF2-40B4-BE49-F238E27FC236}">
                <a16:creationId xmlns:a16="http://schemas.microsoft.com/office/drawing/2014/main" id="{F3BB7E24-41CD-43FC-A59E-A88FD4C5DF26}"/>
              </a:ext>
            </a:extLst>
          </p:cNvPr>
          <p:cNvSpPr>
            <a:spLocks xmlns:a="http://schemas.openxmlformats.org/drawingml/2006/main" noGrp="1"/>
          </p:cNvSpPr>
          <p:nvPr/>
        </p:nvSpPr>
        <p:spPr>
          <a:xfrm xmlns:a="http://schemas.openxmlformats.org/drawingml/2006/main">
            <a:off x="609600" y="164782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008A87"/>
                </a:solidFill>
                <a:latin typeface="Helvetica Neue"/>
                <a:ea typeface="Helvetica Neue"/>
                <a:cs typeface="Helvetica Neue"/>
              </a:defRPr>
            </a:pPr>
            <a:r>
              <a:rPr sz="2325" b="1">
                <a:solidFill>
                  <a:srgbClr val="008A87"/>
                </a:solidFill>
                <a:latin typeface="Helvetica Neue"/>
                <a:ea typeface="Helvetica Neue"/>
                <a:cs typeface="Helvetica Neue"/>
              </a:rPr>
              <a:t>Established</a:t>
            </a:r>
          </a:p>
        </p:txBody>
      </p:sp>
      <p:sp>
        <p:nvSpPr>
          <p:cNvPr id="7" name="">
            <a:extLst xmlns:a="http://schemas.openxmlformats.org/drawingml/2006/main">
              <a:ext uri="{FF2B5EF4-FFF2-40B4-BE49-F238E27FC236}">
                <a16:creationId xmlns:a16="http://schemas.microsoft.com/office/drawing/2014/main" id="{23483939-082A-48C1-9269-F5B9C617231E}"/>
              </a:ext>
            </a:extLst>
          </p:cNvPr>
          <p:cNvSpPr>
            <a:spLocks xmlns:a="http://schemas.openxmlformats.org/drawingml/2006/main" noGrp="1"/>
          </p:cNvSpPr>
          <p:nvPr/>
        </p:nvSpPr>
        <p:spPr>
          <a:xfrm xmlns:a="http://schemas.openxmlformats.org/drawingml/2006/main">
            <a:off x="609600" y="2314575"/>
            <a:ext cx="5095875"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Domain fine-tuning improves recognition.</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Both page and crop pipelines run.</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Random is a necessary strong control.</a:t>
            </a:r>
          </a:p>
        </p:txBody>
      </p:sp>
      <p:sp>
        <p:nvSpPr>
          <p:cNvPr id="8" name="">
            <a:extLst xmlns:a="http://schemas.openxmlformats.org/drawingml/2006/main">
              <a:ext uri="{FF2B5EF4-FFF2-40B4-BE49-F238E27FC236}">
                <a16:creationId xmlns:a16="http://schemas.microsoft.com/office/drawing/2014/main" id="{6AE72168-0E8F-49AD-95CA-78BE6C39FE7D}"/>
              </a:ext>
            </a:extLst>
          </p:cNvPr>
          <p:cNvSpPr>
            <a:spLocks xmlns:a="http://schemas.openxmlformats.org/drawingml/2006/main" noGrp="1"/>
          </p:cNvSpPr>
          <p:nvPr/>
        </p:nvSpPr>
        <p:spPr>
          <a:xfrm xmlns:a="http://schemas.openxmlformats.org/drawingml/2006/main">
            <a:off x="6677025" y="164782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C77920"/>
                </a:solidFill>
                <a:latin typeface="Helvetica Neue"/>
                <a:ea typeface="Helvetica Neue"/>
                <a:cs typeface="Helvetica Neue"/>
              </a:defRPr>
            </a:pPr>
            <a:r>
              <a:rPr sz="2325" b="1">
                <a:solidFill>
                  <a:srgbClr val="C77920"/>
                </a:solidFill>
                <a:latin typeface="Helvetica Neue"/>
                <a:ea typeface="Helvetica Neue"/>
                <a:cs typeface="Helvetica Neue"/>
              </a:rPr>
              <a:t>Still unproven</a:t>
            </a:r>
          </a:p>
        </p:txBody>
      </p:sp>
      <p:sp>
        <p:nvSpPr>
          <p:cNvPr id="9" name="">
            <a:extLst xmlns:a="http://schemas.openxmlformats.org/drawingml/2006/main">
              <a:ext uri="{FF2B5EF4-FFF2-40B4-BE49-F238E27FC236}">
                <a16:creationId xmlns:a16="http://schemas.microsoft.com/office/drawing/2014/main" id="{F99AA020-5FC1-4E13-BCB4-8A4150DD35E8}"/>
              </a:ext>
            </a:extLst>
          </p:cNvPr>
          <p:cNvSpPr>
            <a:spLocks xmlns:a="http://schemas.openxmlformats.org/drawingml/2006/main" noGrp="1"/>
          </p:cNvSpPr>
          <p:nvPr/>
        </p:nvSpPr>
        <p:spPr>
          <a:xfrm xmlns:a="http://schemas.openxmlformats.org/drawingml/2006/main">
            <a:off x="6677025" y="2314575"/>
            <a:ext cx="48577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Repeatable annotation savings.</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Independent-document generalization.</a:t>
            </a:r>
          </a:p>
          <a:p xmlns:a="http://schemas.openxmlformats.org/drawingml/2006/main">
            <a:r>
              <a:t/>
            </a:r>
          </a:p>
          <a:p xmlns:a="http://schemas.openxmlformats.org/drawingml/2006/main">
            <a:pPr algn="l">
              <a:defRPr sz="2025" b="0">
                <a:solidFill>
                  <a:srgbClr val="152C40"/>
                </a:solidFill>
                <a:latin typeface="Helvetica Neue"/>
                <a:ea typeface="Helvetica Neue"/>
                <a:cs typeface="Helvetica Neue"/>
              </a:defRPr>
            </a:pPr>
            <a:r>
              <a:rPr sz="2025" b="0">
                <a:solidFill>
                  <a:srgbClr val="152C40"/>
                </a:solidFill>
                <a:latin typeface="Helvetica Neue"/>
                <a:ea typeface="Helvetica Neue"/>
                <a:cs typeface="Helvetica Neue"/>
              </a:rPr>
              <a:t>Box detection or human-time savings.</a:t>
            </a:r>
          </a:p>
        </p:txBody>
      </p:sp>
      <p:sp>
        <p:nvSpPr>
          <p:cNvPr id="10" name="">
            <a:extLst xmlns:a="http://schemas.openxmlformats.org/drawingml/2006/main">
              <a:ext uri="{FF2B5EF4-FFF2-40B4-BE49-F238E27FC236}">
                <a16:creationId xmlns:a16="http://schemas.microsoft.com/office/drawing/2014/main" id="{FEC7EA59-75BB-45FD-B31E-3EAB1600F708}"/>
              </a:ext>
            </a:extLst>
          </p:cNvPr>
          <p:cNvSpPr>
            <a:spLocks xmlns:a="http://schemas.openxmlformats.org/drawingml/2006/main" noGrp="1"/>
          </p:cNvSpPr>
          <p:nvPr/>
        </p:nvSpPr>
        <p:spPr>
          <a:xfrm xmlns:a="http://schemas.openxmlformats.org/drawingml/2006/main">
            <a:off x="609600" y="42767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776"/>
                </a:solidFill>
                <a:latin typeface="Helvetica Neue"/>
                <a:ea typeface="Helvetica Neue"/>
                <a:cs typeface="Helvetica Neue"/>
              </a:defRPr>
            </a:pPr>
            <a:r>
              <a:rPr sz="1500" b="0">
                <a:solidFill>
                  <a:srgbClr val="526776"/>
                </a:solidFill>
                <a:latin typeface="Helvetica Neue"/>
                <a:ea typeface="Helvetica Neue"/>
                <a:cs typeface="Helvetica Neue"/>
              </a:rPr>
              <a:t>EXP-013: one seed; LoRA initialization was not explicitly seeded. Official validation only.</a:t>
            </a:r>
          </a:p>
        </p:txBody>
      </p:sp>
      <p:sp>
        <p:nvSpPr>
          <p:cNvPr id="11" name="">
            <a:extLst xmlns:a="http://schemas.openxmlformats.org/drawingml/2006/main">
              <a:ext uri="{FF2B5EF4-FFF2-40B4-BE49-F238E27FC236}">
                <a16:creationId xmlns:a16="http://schemas.microsoft.com/office/drawing/2014/main" id="{2286CA8D-4C74-4BC3-9EE8-47A26B8D1CD2}"/>
              </a:ext>
            </a:extLst>
          </p:cNvPr>
          <p:cNvSpPr>
            <a:spLocks xmlns:a="http://schemas.openxmlformats.org/drawingml/2006/main" noGrp="1"/>
          </p:cNvSpPr>
          <p:nvPr/>
        </p:nvSpPr>
        <p:spPr>
          <a:xfrm xmlns:a="http://schemas.openxmlformats.org/drawingml/2006/main">
            <a:off x="609600" y="4638675"/>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12" name="">
            <a:extLst xmlns:a="http://schemas.openxmlformats.org/drawingml/2006/main">
              <a:ext uri="{FF2B5EF4-FFF2-40B4-BE49-F238E27FC236}">
                <a16:creationId xmlns:a16="http://schemas.microsoft.com/office/drawing/2014/main" id="{6BB86696-BB74-45BC-9B83-F2523184093F}"/>
              </a:ext>
            </a:extLst>
          </p:cNvPr>
          <p:cNvSpPr>
            <a:spLocks xmlns:a="http://schemas.openxmlformats.org/drawingml/2006/main" noGrp="1"/>
          </p:cNvSpPr>
          <p:nvPr/>
        </p:nvSpPr>
        <p:spPr>
          <a:xfrm xmlns:a="http://schemas.openxmlformats.org/drawingml/2006/main">
            <a:off x="609600" y="4848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52C40"/>
                </a:solidFill>
                <a:latin typeface="Helvetica Neue"/>
                <a:ea typeface="Helvetica Neue"/>
                <a:cs typeface="Helvetica Neue"/>
              </a:defRPr>
            </a:pPr>
            <a:r>
              <a:rPr sz="2025" b="1">
                <a:solidFill>
                  <a:srgbClr val="152C40"/>
                </a:solidFill>
                <a:latin typeface="Helvetica Neue"/>
                <a:ea typeface="Helvetica Neue"/>
                <a:cs typeface="Helvetica Neue"/>
              </a:rPr>
              <a:t>Next: repeat the 24/48/72 comparison with controlled LoRA initialization</a:t>
            </a:r>
          </a:p>
        </p:txBody>
      </p:sp>
      <p:sp>
        <p:nvSpPr>
          <p:cNvPr id="13" name="">
            <a:extLst xmlns:a="http://schemas.openxmlformats.org/drawingml/2006/main">
              <a:ext uri="{FF2B5EF4-FFF2-40B4-BE49-F238E27FC236}">
                <a16:creationId xmlns:a16="http://schemas.microsoft.com/office/drawing/2014/main" id="{B59FE65A-101C-432C-AC7D-740BCFF447AC}"/>
              </a:ext>
            </a:extLst>
          </p:cNvPr>
          <p:cNvSpPr>
            <a:spLocks xmlns:a="http://schemas.openxmlformats.org/drawingml/2006/main" noGrp="1"/>
          </p:cNvSpPr>
          <p:nvPr/>
        </p:nvSpPr>
        <p:spPr>
          <a:xfrm xmlns:a="http://schemas.openxmlformats.org/drawingml/2006/main">
            <a:off x="609600" y="54006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Seed before constructing adapters; pair multiple seeds; retain random and fixed evaluation.</a:t>
            </a:r>
          </a:p>
          <a:p xmlns:a="http://schemas.openxmlformats.org/drawingml/2006/main">
            <a:pPr algn="l">
              <a:defRPr sz="1800" b="0">
                <a:solidFill>
                  <a:srgbClr val="152C40"/>
                </a:solidFill>
                <a:latin typeface="Helvetica Neue"/>
                <a:ea typeface="Helvetica Neue"/>
                <a:cs typeface="Helvetica Neue"/>
              </a:defRPr>
            </a:pPr>
            <a:r>
              <a:rPr sz="1800" b="0">
                <a:solidFill>
                  <a:srgbClr val="152C40"/>
                </a:solidFill>
                <a:latin typeface="Helvetica Neue"/>
                <a:ea typeface="Helvetica Neue"/>
                <a:cs typeface="Helvetica Neue"/>
              </a:rPr>
              <a:t>Then test whether OCR uncertainty plus diversity improves early-budget selection.</a:t>
            </a:r>
          </a:p>
        </p:txBody>
      </p:sp>
    </p:spTree>
    <p:extLst>
      <p:ext uri="{BB962C8B-B14F-4D97-AF65-F5344CB8AC3E}">
        <p14:creationId xmlns:p14="http://schemas.microsoft.com/office/powerpoint/2010/main" val="1105751724"/>
      </p:ext>
    </p:extLst>
  </p:cSld>
</p:sld>
</file>

<file path=ppt/slides/slide1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52F83F-FB47-4D58-B345-92F453B3538D}"/>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08A87"/>
                </a:solidFill>
                <a:latin typeface="Helvetica Neue"/>
                <a:ea typeface="Helvetica Neue"/>
                <a:cs typeface="Helvetica Neue"/>
              </a:defRPr>
            </a:pPr>
            <a:r>
              <a:rPr sz="1275" b="1">
                <a:solidFill>
                  <a:srgbClr val="008A87"/>
                </a:solidFill>
                <a:latin typeface="Helvetica Neue"/>
                <a:ea typeface="Helvetica Neue"/>
                <a:cs typeface="Helvetica Neue"/>
              </a:rPr>
              <a:t>REFERENCES · CONTEXT, NOT PROOF OF OUR OCR RESULTS</a:t>
            </a:r>
          </a:p>
        </p:txBody>
      </p:sp>
      <p:sp>
        <p:nvSpPr>
          <p:cNvPr id="2" name="">
            <a:extLst xmlns:a="http://schemas.openxmlformats.org/drawingml/2006/main">
              <a:ext uri="{FF2B5EF4-FFF2-40B4-BE49-F238E27FC236}">
                <a16:creationId xmlns:a16="http://schemas.microsoft.com/office/drawing/2014/main" id="{42068E03-ECF0-4B42-BAEE-C59B78857406}"/>
              </a:ext>
            </a:extLst>
          </p:cNvPr>
          <p:cNvSpPr>
            <a:spLocks xmlns:a="http://schemas.openxmlformats.org/drawingml/2006/main" noGrp="1"/>
          </p:cNvSpPr>
          <p:nvPr/>
        </p:nvSpPr>
        <p:spPr>
          <a:xfrm xmlns:a="http://schemas.openxmlformats.org/drawingml/2006/main">
            <a:off x="609600" y="7239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52C40"/>
                </a:solidFill>
                <a:latin typeface="Helvetica Neue"/>
                <a:ea typeface="Helvetica Neue"/>
                <a:cs typeface="Helvetica Neue"/>
              </a:defRPr>
            </a:pPr>
            <a:r>
              <a:rPr sz="3225" b="1">
                <a:solidFill>
                  <a:srgbClr val="152C40"/>
                </a:solidFill>
                <a:latin typeface="Helvetica Neue"/>
                <a:ea typeface="Helvetica Neue"/>
                <a:cs typeface="Helvetica Neue"/>
              </a:rPr>
              <a:t>Sources that motivate the research design</a:t>
            </a:r>
          </a:p>
        </p:txBody>
      </p:sp>
      <p:sp>
        <p:nvSpPr>
          <p:cNvPr id="3" name="">
            <a:extLst xmlns:a="http://schemas.openxmlformats.org/drawingml/2006/main">
              <a:ext uri="{FF2B5EF4-FFF2-40B4-BE49-F238E27FC236}">
                <a16:creationId xmlns:a16="http://schemas.microsoft.com/office/drawing/2014/main" id="{8F52FEC6-E1C4-4C51-BFBE-D4B8B347E030}"/>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14288">
            <a:solidFill>
              <a:srgbClr val="DCE4E8"/>
            </a:solidFill>
          </a:ln>
        </p:spPr>
      </p:sp>
      <p:sp>
        <p:nvSpPr>
          <p:cNvPr id="4" name="">
            <a:extLst xmlns:a="http://schemas.openxmlformats.org/drawingml/2006/main">
              <a:ext uri="{FF2B5EF4-FFF2-40B4-BE49-F238E27FC236}">
                <a16:creationId xmlns:a16="http://schemas.microsoft.com/office/drawing/2014/main" id="{02F5753F-982A-4884-9775-830D64AFB0EA}"/>
              </a:ext>
            </a:extLst>
          </p:cNvPr>
          <p:cNvSpPr>
            <a:spLocks xmlns:a="http://schemas.openxmlformats.org/drawingml/2006/main" noGrp="1"/>
          </p:cNvSpPr>
          <p:nvPr/>
        </p:nvSpPr>
        <p:spPr>
          <a:xfrm xmlns:a="http://schemas.openxmlformats.org/drawingml/2006/main">
            <a:off x="609600" y="64198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776"/>
                </a:solidFill>
                <a:latin typeface="Helvetica Neue"/>
                <a:ea typeface="Helvetica Neue"/>
                <a:cs typeface="Helvetica Neue"/>
              </a:defRPr>
            </a:pPr>
            <a:r>
              <a:rPr sz="1125" b="0">
                <a:solidFill>
                  <a:srgbClr val="526776"/>
                </a:solidFill>
                <a:latin typeface="Helvetica Neue"/>
                <a:ea typeface="Helvetica Neue"/>
                <a:cs typeface="Helvetica Neue"/>
              </a:rPr>
              <a:t>Reader reports: github.com/bbryant824/ocr-finetuning/tree/main/results · technical records in experiments/</a:t>
            </a:r>
          </a:p>
        </p:txBody>
      </p:sp>
      <p:sp>
        <p:nvSpPr>
          <p:cNvPr id="5" name="">
            <a:extLst xmlns:a="http://schemas.openxmlformats.org/drawingml/2006/main">
              <a:ext uri="{FF2B5EF4-FFF2-40B4-BE49-F238E27FC236}">
                <a16:creationId xmlns:a16="http://schemas.microsoft.com/office/drawing/2014/main" id="{C5A31BB5-2D5C-4234-A1A9-98DCF4EBA0CC}"/>
              </a:ext>
            </a:extLst>
          </p:cNvPr>
          <p:cNvSpPr>
            <a:spLocks xmlns:a="http://schemas.openxmlformats.org/drawingml/2006/main" noGrp="1"/>
          </p:cNvSpPr>
          <p:nvPr/>
        </p:nvSpPr>
        <p:spPr>
          <a:xfrm xmlns:a="http://schemas.openxmlformats.org/drawingml/2006/main">
            <a:off x="11049000" y="63912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526776"/>
                </a:solidFill>
                <a:latin typeface="Helvetica Neue"/>
                <a:ea typeface="Helvetica Neue"/>
                <a:cs typeface="Helvetica Neue"/>
              </a:defRPr>
            </a:pPr>
            <a:r>
              <a:rPr sz="1275" b="0">
                <a:solidFill>
                  <a:srgbClr val="526776"/>
                </a:solidFill>
                <a:latin typeface="Helvetica Neue"/>
                <a:ea typeface="Helvetica Neue"/>
                <a:cs typeface="Helvetica Neue"/>
              </a:rPr>
              <a:t>18</a:t>
            </a:r>
          </a:p>
        </p:txBody>
      </p:sp>
      <p:sp>
        <p:nvSpPr>
          <p:cNvPr id="6" name="">
            <a:extLst xmlns:a="http://schemas.openxmlformats.org/drawingml/2006/main">
              <a:ext uri="{FF2B5EF4-FFF2-40B4-BE49-F238E27FC236}">
                <a16:creationId xmlns:a16="http://schemas.microsoft.com/office/drawing/2014/main" id="{8954C29C-B001-4695-80F6-BC0A7195EB64}"/>
              </a:ext>
            </a:extLst>
          </p:cNvPr>
          <p:cNvSpPr>
            <a:spLocks xmlns:a="http://schemas.openxmlformats.org/drawingml/2006/main" noGrp="1"/>
          </p:cNvSpPr>
          <p:nvPr/>
        </p:nvSpPr>
        <p:spPr>
          <a:xfrm xmlns:a="http://schemas.openxmlformats.org/drawingml/2006/main">
            <a:off x="609600" y="15811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73ebe8d26a634598"/>
              </a:rPr>
              <a:t>Settles · Active Learning Literature Survey (2009)</a:t>
            </a:r>
          </a:p>
        </p:txBody>
      </p:sp>
      <p:sp>
        <p:nvSpPr>
          <p:cNvPr id="7" name="">
            <a:extLst xmlns:a="http://schemas.openxmlformats.org/drawingml/2006/main">
              <a:ext uri="{FF2B5EF4-FFF2-40B4-BE49-F238E27FC236}">
                <a16:creationId xmlns:a16="http://schemas.microsoft.com/office/drawing/2014/main" id="{CB0A5574-2CF4-4EDD-AE9D-269AB159923C}"/>
              </a:ext>
            </a:extLst>
          </p:cNvPr>
          <p:cNvSpPr>
            <a:spLocks xmlns:a="http://schemas.openxmlformats.org/drawingml/2006/main" noGrp="1"/>
          </p:cNvSpPr>
          <p:nvPr/>
        </p:nvSpPr>
        <p:spPr>
          <a:xfrm xmlns:a="http://schemas.openxmlformats.org/drawingml/2006/main">
            <a:off x="609600" y="19145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Classical uncertainty sampling; our token/page scoring is an adaptation.</a:t>
            </a:r>
          </a:p>
        </p:txBody>
      </p:sp>
      <p:sp>
        <p:nvSpPr>
          <p:cNvPr id="8" name="">
            <a:extLst xmlns:a="http://schemas.openxmlformats.org/drawingml/2006/main">
              <a:ext uri="{FF2B5EF4-FFF2-40B4-BE49-F238E27FC236}">
                <a16:creationId xmlns:a16="http://schemas.microsoft.com/office/drawing/2014/main" id="{19CFEE15-8723-4ED0-AA09-506D4B380AC8}"/>
              </a:ext>
            </a:extLst>
          </p:cNvPr>
          <p:cNvSpPr>
            <a:spLocks xmlns:a="http://schemas.openxmlformats.org/drawingml/2006/main" noGrp="1"/>
          </p:cNvSpPr>
          <p:nvPr/>
        </p:nvSpPr>
        <p:spPr>
          <a:xfrm xmlns:a="http://schemas.openxmlformats.org/drawingml/2006/main">
            <a:off x="609600" y="22479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60882e1fe80c4be9"/>
              </a:rPr>
              <a:t>Sener &amp; Savarese · ICLR2018</a:t>
            </a:r>
          </a:p>
        </p:txBody>
      </p:sp>
      <p:sp>
        <p:nvSpPr>
          <p:cNvPr id="9" name="">
            <a:extLst xmlns:a="http://schemas.openxmlformats.org/drawingml/2006/main">
              <a:ext uri="{FF2B5EF4-FFF2-40B4-BE49-F238E27FC236}">
                <a16:creationId xmlns:a16="http://schemas.microsoft.com/office/drawing/2014/main" id="{AB4E441C-444B-4A40-A1FF-665FD8A4C8C3}"/>
              </a:ext>
            </a:extLst>
          </p:cNvPr>
          <p:cNvSpPr>
            <a:spLocks xmlns:a="http://schemas.openxmlformats.org/drawingml/2006/main" noGrp="1"/>
          </p:cNvSpPr>
          <p:nvPr/>
        </p:nvSpPr>
        <p:spPr>
          <a:xfrm xmlns:a="http://schemas.openxmlformats.org/drawingml/2006/main">
            <a:off x="609600" y="25812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Core-set coverage motivates the greedy k-center baseline.</a:t>
            </a:r>
          </a:p>
        </p:txBody>
      </p:sp>
      <p:sp>
        <p:nvSpPr>
          <p:cNvPr id="10" name="">
            <a:extLst xmlns:a="http://schemas.openxmlformats.org/drawingml/2006/main">
              <a:ext uri="{FF2B5EF4-FFF2-40B4-BE49-F238E27FC236}">
                <a16:creationId xmlns:a16="http://schemas.microsoft.com/office/drawing/2014/main" id="{DA542351-FA65-4340-B64A-ECD49A2D5D6B}"/>
              </a:ext>
            </a:extLst>
          </p:cNvPr>
          <p:cNvSpPr>
            <a:spLocks xmlns:a="http://schemas.openxmlformats.org/drawingml/2006/main" noGrp="1"/>
          </p:cNvSpPr>
          <p:nvPr/>
        </p:nvSpPr>
        <p:spPr>
          <a:xfrm xmlns:a="http://schemas.openxmlformats.org/drawingml/2006/main">
            <a:off x="609600" y="29146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3807eed095a348c0"/>
              </a:rPr>
              <a:t>Munjal et al. · CVPR2022</a:t>
            </a:r>
          </a:p>
        </p:txBody>
      </p:sp>
      <p:sp>
        <p:nvSpPr>
          <p:cNvPr id="11" name="">
            <a:extLst xmlns:a="http://schemas.openxmlformats.org/drawingml/2006/main">
              <a:ext uri="{FF2B5EF4-FFF2-40B4-BE49-F238E27FC236}">
                <a16:creationId xmlns:a16="http://schemas.microsoft.com/office/drawing/2014/main" id="{AB33CC15-673E-40A0-98CD-9E2A2EDCB3C9}"/>
              </a:ext>
            </a:extLst>
          </p:cNvPr>
          <p:cNvSpPr>
            <a:spLocks xmlns:a="http://schemas.openxmlformats.org/drawingml/2006/main" noGrp="1"/>
          </p:cNvSpPr>
          <p:nvPr/>
        </p:nvSpPr>
        <p:spPr>
          <a:xfrm xmlns:a="http://schemas.openxmlformats.org/drawingml/2006/main">
            <a:off x="609600" y="32480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Strong random controls and stochasticity-sensitive evaluation.</a:t>
            </a:r>
          </a:p>
        </p:txBody>
      </p:sp>
      <p:sp>
        <p:nvSpPr>
          <p:cNvPr id="12" name="">
            <a:extLst xmlns:a="http://schemas.openxmlformats.org/drawingml/2006/main">
              <a:ext uri="{FF2B5EF4-FFF2-40B4-BE49-F238E27FC236}">
                <a16:creationId xmlns:a16="http://schemas.microsoft.com/office/drawing/2014/main" id="{17EBDFF6-3354-4145-8A37-170C95FF6EBF}"/>
              </a:ext>
            </a:extLst>
          </p:cNvPr>
          <p:cNvSpPr>
            <a:spLocks xmlns:a="http://schemas.openxmlformats.org/drawingml/2006/main" noGrp="1"/>
          </p:cNvSpPr>
          <p:nvPr/>
        </p:nvSpPr>
        <p:spPr>
          <a:xfrm xmlns:a="http://schemas.openxmlformats.org/drawingml/2006/main">
            <a:off x="609600" y="35814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caa2c954fdea460f"/>
              </a:rPr>
              <a:t>Aradillas, Murillo-Fuentes &amp; Olmos · 2020 preprint</a:t>
            </a:r>
          </a:p>
        </p:txBody>
      </p:sp>
      <p:sp>
        <p:nvSpPr>
          <p:cNvPr id="13" name="">
            <a:extLst xmlns:a="http://schemas.openxmlformats.org/drawingml/2006/main">
              <a:ext uri="{FF2B5EF4-FFF2-40B4-BE49-F238E27FC236}">
                <a16:creationId xmlns:a16="http://schemas.microsoft.com/office/drawing/2014/main" id="{4B599221-E6E8-44DB-87F6-7F0B8DCFFAAB}"/>
              </a:ext>
            </a:extLst>
          </p:cNvPr>
          <p:cNvSpPr>
            <a:spLocks xmlns:a="http://schemas.openxmlformats.org/drawingml/2006/main" noGrp="1"/>
          </p:cNvSpPr>
          <p:nvPr/>
        </p:nvSpPr>
        <p:spPr>
          <a:xfrm xmlns:a="http://schemas.openxmlformats.org/drawingml/2006/main">
            <a:off x="609600" y="3914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Historical handwriting recognition with few labelled lines.</a:t>
            </a:r>
          </a:p>
        </p:txBody>
      </p:sp>
      <p:sp>
        <p:nvSpPr>
          <p:cNvPr id="14" name="">
            <a:extLst xmlns:a="http://schemas.openxmlformats.org/drawingml/2006/main">
              <a:ext uri="{FF2B5EF4-FFF2-40B4-BE49-F238E27FC236}">
                <a16:creationId xmlns:a16="http://schemas.microsoft.com/office/drawing/2014/main" id="{5A60D80B-8925-4E81-A147-90E74F52CA1D}"/>
              </a:ext>
            </a:extLst>
          </p:cNvPr>
          <p:cNvSpPr>
            <a:spLocks xmlns:a="http://schemas.openxmlformats.org/drawingml/2006/main" noGrp="1"/>
          </p:cNvSpPr>
          <p:nvPr/>
        </p:nvSpPr>
        <p:spPr>
          <a:xfrm xmlns:a="http://schemas.openxmlformats.org/drawingml/2006/main">
            <a:off x="609600" y="42481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f78beeee60a243ee"/>
              </a:rPr>
              <a:t>Bai et al. · Qwen3-VL (2025)</a:t>
            </a:r>
            <a:r>
              <a:rPr sz="1800" b="1">
                <a:solidFill>
                  <a:srgbClr val="152C40"/>
                </a:solidFill>
                <a:latin typeface="Helvetica Neue"/>
                <a:ea typeface="Helvetica Neue"/>
                <a:cs typeface="Helvetica Neue"/>
              </a:rPr>
              <a:t> / </a:t>
            </a:r>
            <a:r>
              <a:rPr sz="1800" b="1">
                <a:solidFill>
                  <a:srgbClr val="152C40"/>
                </a:solidFill>
                <a:latin typeface="Helvetica Neue"/>
                <a:ea typeface="Helvetica Neue"/>
                <a:cs typeface="Helvetica Neue"/>
                <a:hlinkClick xmlns:r="http://schemas.openxmlformats.org/officeDocument/2006/relationships" r:id="Rea4f0d4bf0ce4daf"/>
              </a:rPr>
              <a:t>Taghadouini et al. · LightOnOCR (2026)</a:t>
            </a:r>
          </a:p>
        </p:txBody>
      </p:sp>
      <p:sp>
        <p:nvSpPr>
          <p:cNvPr id="15" name="">
            <a:extLst xmlns:a="http://schemas.openxmlformats.org/drawingml/2006/main">
              <a:ext uri="{FF2B5EF4-FFF2-40B4-BE49-F238E27FC236}">
                <a16:creationId xmlns:a16="http://schemas.microsoft.com/office/drawing/2014/main" id="{B45FABCD-1283-4C04-A93F-687FC75F2FC2}"/>
              </a:ext>
            </a:extLst>
          </p:cNvPr>
          <p:cNvSpPr>
            <a:spLocks xmlns:a="http://schemas.openxmlformats.org/drawingml/2006/main" noGrp="1"/>
          </p:cNvSpPr>
          <p:nvPr/>
        </p:nvSpPr>
        <p:spPr>
          <a:xfrm xmlns:a="http://schemas.openxmlformats.org/drawingml/2006/main">
            <a:off x="609600" y="45815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General VLM and compact OCR-specialist model context.</a:t>
            </a:r>
          </a:p>
        </p:txBody>
      </p:sp>
      <p:sp>
        <p:nvSpPr>
          <p:cNvPr id="16" name="">
            <a:extLst xmlns:a="http://schemas.openxmlformats.org/drawingml/2006/main">
              <a:ext uri="{FF2B5EF4-FFF2-40B4-BE49-F238E27FC236}">
                <a16:creationId xmlns:a16="http://schemas.microsoft.com/office/drawing/2014/main" id="{C5ECD86B-8FC4-4695-9514-00211A1BD79F}"/>
              </a:ext>
            </a:extLst>
          </p:cNvPr>
          <p:cNvSpPr>
            <a:spLocks xmlns:a="http://schemas.openxmlformats.org/drawingml/2006/main" noGrp="1"/>
          </p:cNvSpPr>
          <p:nvPr/>
        </p:nvSpPr>
        <p:spPr>
          <a:xfrm xmlns:a="http://schemas.openxmlformats.org/drawingml/2006/main">
            <a:off x="609600" y="49149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52C40"/>
                </a:solidFill>
                <a:latin typeface="Helvetica Neue"/>
                <a:ea typeface="Helvetica Neue"/>
                <a:cs typeface="Helvetica Neue"/>
              </a:defRPr>
            </a:pPr>
            <a:r>
              <a:rPr sz="1800" b="1">
                <a:solidFill>
                  <a:srgbClr val="152C40"/>
                </a:solidFill>
                <a:latin typeface="Helvetica Neue"/>
                <a:ea typeface="Helvetica Neue"/>
                <a:cs typeface="Helvetica Neue"/>
                <a:hlinkClick xmlns:r="http://schemas.openxmlformats.org/officeDocument/2006/relationships" r:id="Ra9ab89c7f8cf4434"/>
              </a:rPr>
              <a:t>Toselli et al. · READ2016 / Bozen v1.2.0</a:t>
            </a:r>
          </a:p>
        </p:txBody>
      </p:sp>
      <p:sp>
        <p:nvSpPr>
          <p:cNvPr id="17" name="">
            <a:extLst xmlns:a="http://schemas.openxmlformats.org/drawingml/2006/main">
              <a:ext uri="{FF2B5EF4-FFF2-40B4-BE49-F238E27FC236}">
                <a16:creationId xmlns:a16="http://schemas.microsoft.com/office/drawing/2014/main" id="{C11C4C47-DCC3-4216-A5A8-6E82EE0A08A9}"/>
              </a:ext>
            </a:extLst>
          </p:cNvPr>
          <p:cNvSpPr>
            <a:spLocks xmlns:a="http://schemas.openxmlformats.org/drawingml/2006/main" noGrp="1"/>
          </p:cNvSpPr>
          <p:nvPr/>
        </p:nvSpPr>
        <p:spPr>
          <a:xfrm xmlns:a="http://schemas.openxmlformats.org/drawingml/2006/main">
            <a:off x="609600" y="52482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776"/>
                </a:solidFill>
                <a:latin typeface="Helvetica Neue"/>
                <a:ea typeface="Helvetica Neue"/>
                <a:cs typeface="Helvetica Neue"/>
              </a:defRPr>
            </a:pPr>
            <a:r>
              <a:rPr sz="1650" b="0">
                <a:solidFill>
                  <a:srgbClr val="526776"/>
                </a:solidFill>
                <a:latin typeface="Helvetica Neue"/>
                <a:ea typeface="Helvetica Neue"/>
                <a:cs typeface="Helvetica Neue"/>
              </a:rPr>
              <a:t>Page images and line annotations; CC BY4.0.</a:t>
            </a:r>
          </a:p>
        </p:txBody>
      </p:sp>
      <p:sp>
        <p:nvSpPr>
          <p:cNvPr id="18" name="">
            <a:extLst xmlns:a="http://schemas.openxmlformats.org/drawingml/2006/main">
              <a:ext uri="{FF2B5EF4-FFF2-40B4-BE49-F238E27FC236}">
                <a16:creationId xmlns:a16="http://schemas.microsoft.com/office/drawing/2014/main" id="{67929661-B79A-4E36-8AEB-C1A9CDBA9F95}"/>
              </a:ext>
            </a:extLst>
          </p:cNvPr>
          <p:cNvSpPr>
            <a:spLocks xmlns:a="http://schemas.openxmlformats.org/drawingml/2006/main" noGrp="1"/>
          </p:cNvSpPr>
          <p:nvPr/>
        </p:nvSpPr>
        <p:spPr>
          <a:xfrm xmlns:a="http://schemas.openxmlformats.org/drawingml/2006/main">
            <a:off x="609600" y="57912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8A87"/>
                </a:solidFill>
                <a:latin typeface="Helvetica Neue"/>
                <a:ea typeface="Helvetica Neue"/>
                <a:cs typeface="Helvetica Neue"/>
              </a:defRPr>
            </a:pPr>
            <a:r>
              <a:rPr sz="1650" b="1">
                <a:solidFill>
                  <a:srgbClr val="008A87"/>
                </a:solidFill>
                <a:latin typeface="Helvetica Neue"/>
                <a:ea typeface="Helvetica Neue"/>
                <a:cs typeface="Helvetica Neue"/>
                <a:hlinkClick xmlns:r="http://schemas.openxmlformats.org/officeDocument/2006/relationships" r:id="Rce4ee1f5a110459c"/>
              </a:rPr>
              <a:t>Experiment results index: grouped EXP-001–008 and individual EXP-009–013 reports</a:t>
            </a:r>
          </a:p>
        </p:txBody>
      </p:sp>
    </p:spTree>
    <p:extLst>
      <p:ext uri="{BB962C8B-B14F-4D97-AF65-F5344CB8AC3E}">
        <p14:creationId xmlns:p14="http://schemas.microsoft.com/office/powerpoint/2010/main" val="6375332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2026-09-27T16:06:22.0670000Z</dcterms:created>
  <dcterms:modified xsi:type="dcterms:W3CDTF">2026-09-27T16:06:22.0670000Z</dcterms:modified>
</coreProperties>
</file>