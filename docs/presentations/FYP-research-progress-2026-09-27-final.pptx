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0b9ba2318204532" /><Relationship Type="http://schemas.openxmlformats.org/officeDocument/2006/relationships/extended-properties" Target="/docProps/app.xml" Id="R5873a63039de48f9" /><Relationship Type="http://schemas.openxmlformats.org/officeDocument/2006/relationships/officeDocument" Target="/ppt/presentation.xml" Id="R3360764dc0b44fc3" /></Relationships>
</file>

<file path=ppt/presentation.xml><?xml version="1.0" encoding="utf-8"?>
<p:presentation xmlns:p="http://schemas.openxmlformats.org/presentationml/2006/main">
  <p:sldMasterIdLst>
    <p:sldMasterId xmlns:r="http://schemas.openxmlformats.org/officeDocument/2006/relationships" id="2147483648" r:id="R70a7c4047e7a448c"/>
  </p:sldMasterIdLst>
  <p:notesMasterIdLst>
    <p:notesMasterId xmlns:r="http://schemas.openxmlformats.org/officeDocument/2006/relationships" r:id="Rfb7dd0b46a804265"/>
  </p:notesMasterIdLst>
  <p:sldIdLst>
    <p:sldId xmlns:r="http://schemas.openxmlformats.org/officeDocument/2006/relationships" id="256" r:id="R4d4078edf78c44c5"/>
    <p:sldId xmlns:r="http://schemas.openxmlformats.org/officeDocument/2006/relationships" id="257" r:id="Rc0a5c3777c79468a"/>
    <p:sldId xmlns:r="http://schemas.openxmlformats.org/officeDocument/2006/relationships" id="258" r:id="R121b5355f2564b94"/>
    <p:sldId xmlns:r="http://schemas.openxmlformats.org/officeDocument/2006/relationships" id="259" r:id="R0339d375e7e5417b"/>
    <p:sldId xmlns:r="http://schemas.openxmlformats.org/officeDocument/2006/relationships" id="260" r:id="R38175ef71c564962"/>
    <p:sldId xmlns:r="http://schemas.openxmlformats.org/officeDocument/2006/relationships" id="261" r:id="R60230241519542cc"/>
    <p:sldId xmlns:r="http://schemas.openxmlformats.org/officeDocument/2006/relationships" id="262" r:id="R92379122f8d443ff"/>
    <p:sldId xmlns:r="http://schemas.openxmlformats.org/officeDocument/2006/relationships" id="263" r:id="R3ddcf269efe4420d"/>
    <p:sldId xmlns:r="http://schemas.openxmlformats.org/officeDocument/2006/relationships" id="264" r:id="R8ab4ce1a88ad4dd1"/>
    <p:sldId xmlns:r="http://schemas.openxmlformats.org/officeDocument/2006/relationships" id="265" r:id="Ra8c4b7c637d14ed8"/>
    <p:sldId xmlns:r="http://schemas.openxmlformats.org/officeDocument/2006/relationships" id="266" r:id="R476baa6bc55948d7"/>
    <p:sldId xmlns:r="http://schemas.openxmlformats.org/officeDocument/2006/relationships" id="267" r:id="Rba60eb54bc8e43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66d1f9ffc14a46" /><Relationship Type="http://schemas.openxmlformats.org/officeDocument/2006/relationships/slideMaster" Target="/ppt/slideMasters/slideMaster1.xml" Id="R70a7c4047e7a448c" /><Relationship Type="http://schemas.openxmlformats.org/officeDocument/2006/relationships/notesMaster" Target="/ppt/notesMasters/notesMaster1.xml" Id="Rfb7dd0b46a804265" /><Relationship Type="http://schemas.openxmlformats.org/officeDocument/2006/relationships/presProps" Target="/ppt/presProps.xml" Id="Ra25cafbb64024fac" /><Relationship Type="http://schemas.openxmlformats.org/officeDocument/2006/relationships/tableStyles" Target="/ppt/tableStyles.xml" Id="Ra13457614ffe432b" /><Relationship Type="http://schemas.openxmlformats.org/officeDocument/2006/relationships/slide" Target="/ppt/slides/slide1.xml" Id="R4d4078edf78c44c5" /><Relationship Type="http://schemas.openxmlformats.org/officeDocument/2006/relationships/slide" Target="/ppt/slides/slide2.xml" Id="Rc0a5c3777c79468a" /><Relationship Type="http://schemas.openxmlformats.org/officeDocument/2006/relationships/slide" Target="/ppt/slides/slide3.xml" Id="R121b5355f2564b94" /><Relationship Type="http://schemas.openxmlformats.org/officeDocument/2006/relationships/slide" Target="/ppt/slides/slide4.xml" Id="R0339d375e7e5417b" /><Relationship Type="http://schemas.openxmlformats.org/officeDocument/2006/relationships/slide" Target="/ppt/slides/slide5.xml" Id="R38175ef71c564962" /><Relationship Type="http://schemas.openxmlformats.org/officeDocument/2006/relationships/slide" Target="/ppt/slides/slide6.xml" Id="R60230241519542cc" /><Relationship Type="http://schemas.openxmlformats.org/officeDocument/2006/relationships/slide" Target="/ppt/slides/slide7.xml" Id="R92379122f8d443ff" /><Relationship Type="http://schemas.openxmlformats.org/officeDocument/2006/relationships/slide" Target="/ppt/slides/slide8.xml" Id="R3ddcf269efe4420d" /><Relationship Type="http://schemas.openxmlformats.org/officeDocument/2006/relationships/slide" Target="/ppt/slides/slide9.xml" Id="R8ab4ce1a88ad4dd1" /><Relationship Type="http://schemas.openxmlformats.org/officeDocument/2006/relationships/slide" Target="/ppt/slides/slide10.xml" Id="Ra8c4b7c637d14ed8" /><Relationship Type="http://schemas.openxmlformats.org/officeDocument/2006/relationships/slide" Target="/ppt/slides/slide11.xml" Id="R476baa6bc55948d7" /><Relationship Type="http://schemas.openxmlformats.org/officeDocument/2006/relationships/slide" Target="/ppt/slides/slide12.xml" Id="Rba60eb54bc8e43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c745da702148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c70e58825f4a71" /><Relationship Type="http://schemas.openxmlformats.org/officeDocument/2006/relationships/notesMaster" Target="/ppt/notesMasters/notesMaster1.xml" Id="Rfabba321e22949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14f760e8cf4ec3" /><Relationship Type="http://schemas.openxmlformats.org/officeDocument/2006/relationships/notesMaster" Target="/ppt/notesMasters/notesMaster1.xml" Id="Rc7542140d9184a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ed745ebf134332" /><Relationship Type="http://schemas.openxmlformats.org/officeDocument/2006/relationships/notesMaster" Target="/ppt/notesMasters/notesMaster1.xml" Id="R2c5a660a8cab4d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4ed0ced6ff4aa6" /><Relationship Type="http://schemas.openxmlformats.org/officeDocument/2006/relationships/notesMaster" Target="/ppt/notesMasters/notesMaster1.xml" Id="R3e0bf30283754f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bd3bbc9eb04b4b" /><Relationship Type="http://schemas.openxmlformats.org/officeDocument/2006/relationships/notesMaster" Target="/ppt/notesMasters/notesMaster1.xml" Id="Ra6834dc48e1d46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bde42b14924b2b" /><Relationship Type="http://schemas.openxmlformats.org/officeDocument/2006/relationships/notesMaster" Target="/ppt/notesMasters/notesMaster1.xml" Id="R840ffcc5e23a49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bfb91188c748cc" /><Relationship Type="http://schemas.openxmlformats.org/officeDocument/2006/relationships/notesMaster" Target="/ppt/notesMasters/notesMaster1.xml" Id="R9d74a2d27b9844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b53d9755c847f4" /><Relationship Type="http://schemas.openxmlformats.org/officeDocument/2006/relationships/notesMaster" Target="/ppt/notesMasters/notesMaster1.xml" Id="R110bd9f1adfb40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1776d4c7e5462e" /><Relationship Type="http://schemas.openxmlformats.org/officeDocument/2006/relationships/notesMaster" Target="/ppt/notesMasters/notesMaster1.xml" Id="Rcca5b65e308b40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e829dfc76f4047" /><Relationship Type="http://schemas.openxmlformats.org/officeDocument/2006/relationships/notesMaster" Target="/ppt/notesMasters/notesMaster1.xml" Id="R05bd10a4ecf84f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2d87dfe8e04f99" /><Relationship Type="http://schemas.openxmlformats.org/officeDocument/2006/relationships/notesMaster" Target="/ppt/notesMasters/notesMaster1.xml" Id="Rcf4c263b794d49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1e4b46bfff4feb" /><Relationship Type="http://schemas.openxmlformats.org/officeDocument/2006/relationships/notesMaster" Target="/ppt/notesMasters/notesMaster1.xml" Id="R15986cad182b47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question is whether better page selection can reduce the labelled data needed to adapt small open vision-language models to historical handwriting. Existing dataset labels simulate a human annotator: labels are revealed only after a TRAIN page is acquired. We do not measure human annotation time. The story has four stages: establish execution, obtain usable recognition, compare selection strategies, then isolate recognition with supplied line locations. The pipelines now work, but a repeatable active-learning advantage remains unproven. The deck reports evidence through EXP-013 on main commit 9149776. It does not treat engineering success as a scientific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READ2016 / Bozen v1.2.0 provides historical German page images and PAGE XML line annotations. The prepared official split contains 350 TRAIN pages with 8,367 lines and 50 VAL pages with 1,043 lines. The unit acquired is a page: selecting it reveals all its original line transcripts. For known-box experiments, supplied geometry is available for cropping, while candidate transcripts remain hidden. Eight VAL pages, Seite0355–0362, were used for recipe checks. The reported later curves use the other 42, Seite0363–0404: 861 supplied line regions, 17,718 reference characters and 2,675 words. These are official validation pages, not an independent final test. Document grouping and possible pretraining overlap are unknown. The image is original Seite0355, not synthetic data. Dataset/image credit: Toselli et al., HTR Dataset ICFHR2016 v1.2.0, CC BY 4.0. https://zenodo.org/records/1297399 . Project evidence: https://github.com/bbryant824/ocr-finetuning/blob/main/docs/PROJECT_GUIDE.md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evaluate the untouched original model at zero labelled pages. Then score remaining TRAIN images, select a batch, reveal its labels and fit a new LoRA adapter on all labels acquired so far. Every fit starts from the same pinned base; it does not continue training the previous adapter. For uncertainty selection, the previous adapter scores the next pool. K-center keeps original-model features frozen, and random needs no scoring. Evaluate the checkpoint on the fixed VAL slice and save selections, predictions, metrics, adapter hashes and receipts. Stop after three fixed rounds, rather than using VAL scores to stop. Hugging Face Transformers Trainer, PyTorch and PEFT handle fitting, generation and checkpoints; Modal supplies GPU execution and persistent output Volumes. LocalOracle controls label access and evaluation.py holds VAL truth. recognition_pipeline.py runs page transcription; region_pipeline.py independently runs known-box recognition. Historical joint OCR used the custom Qwen path and LLaMA-Factory; the current recognition backend is Hugging Face. Sources: https://github.com/bbryant824/ocr-finetuning/blob/main/docs/PROJECT_GUIDE.md ; https://arxiv.org/abs/2511.21631 ; https://arxiv.org/abs/2601.14251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early experiments answer different engineering and quality questions. EXP-001 timed out without an accepted result. EXP-002 loaded and predicted remotely, but outputs failed and the fit had no accepted checkpoint. Its original child-error cause is unknown; a separately instrumented fit exposed a reproducible PEFT configuration-validation problem. EXP-003 completed a two-page round but CER/WER stayed 1.0. EXP-004 was interrupted after its initial fit, so no acquisition round completed. EXP-005 completed the LLaMA-Factory pilot, but CER was 0.9988 then 0.9995, WER 1.0 and matched line-box F1 0. EXP-006 increased labels; EXP-007 strengthened fitting and image settings; EXP-008 replaced nested JSON with compact box/text rows. They still produced invalid, repetitive or capped outputs, with CER near 1.0 and box F1 0. The validation slices differ and should not be pooled. Thus simplifying JSON alone was insufficient. Pausing this specific joint recipe removes a failed quality gate from the selection study; it does not claim all joint OCR or Qwen configurations are impossible. Sources: https://github.com/bbryant824/ocr-finetuning/blob/main/results/EXP-001-002.md ; https://github.com/bbryant824/ocr-finetuning/blob/main/results/EXP-003-005.md ; https://github.com/bbryant824/ocr-finetuning/blob/main/results/EXP-006-008.md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EXP-009 and EXP-010 establish random-acquisition recognition controls. The output is plain whole-page text in reading order, without predicted coordinates. Both use cumulative 64/128/192 TRAIN pages, three epochs per fresh-base fit, LoRA rank 8/alpha 16, learning rate 1e-4, batch 1 with accumulation 4, bf16, image edge 1540 and greedy decoding capped at 1536 new tokens. Models are LightOnOCR-2-1B-base and Qwen3-VL-4B-Instruct, respectively. CER counts character edits divided by reference characters; WER counts word edits divided by reference words. Rates may exceed 1 through insertions. Capped outputs count as empty. VAL42 LightOn CER/WER: 0 pages .7812/1.1155; 64 .5683/.9720; 128 .3625/.8164; 192 .2161/.6179. Qwen: .7902/1.0019; .5025/.8643; .2946/.6841; .2112/.5589. LightOn caps are 2/0/0/0; Qwen 10/3/1/0. The LightOn VAL42 adapters came from its earlier L40S pilot, evaluated on L4; the later canonical VAL8 runner is separate. Architectures, processors, prompts and fit hardware differ, so this is an engineering model comparison, not an isolated architecture claim. Sources: https://github.com/bbryant824/ocr-finetuning/blob/main/experiments/EXP-009.md ; https://github.com/bbryant824/ocr-finetuning/blob/main/results/EXP-010.md ; https://github.com/bbryant824/ocr-finetuning/blob/main/experiments/recipes/read2016-page-text.json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EXP-011 compares whole-page selectors across three paired seeds, 824–826. Within each seed every arm inherits the same first 64 random pages and checkpoint; selection diverges at 128 and 192. Seed 824's zero-page receipt is reused from EXP-010; seeds 825 and 826 have their own zero-page receipts. Negative paired changes favour the selector. Mean paired CER change ± sample SD, in percentage points, at 128 then 192: k-center +0.60 ±1.07 and −0.45 ±0.85; entropy −1.03 ±0.69 and +0.08 ±2.18; least confidence +1.34 ±3.85 and −0.41 ±2.48. Mean WER changes are k-center +1.45/+0.04, entropy −0.11/−0.17, confidence +1.13/−0.07 points. The initially promising seed-824 uncertainty gains did not repeat consistently. Fixed output caps materially affected small gaps; post-hoc common-uncapped-page checks changed some signs, but all 42 pages remain the primary metric. No selector consistently leads at both budgets. This matches the need for careful controls discussed by Munjal et al., rather than proving their classification result transfers to OCR. Sources: https://github.com/bbryant824/ocr-finetuning/blob/main/results/EXP-011.md ; https://arxiv.org/abs/2002.09564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Whole-page transcription mixes recognition, reading-order/layout decisions and long-output failures. Known-box recognition controls the input locations so that selection effects can be studied with shorter, usable transcripts. READ2016 supplies the boxes: no box detector is evaluated. Each line is cropped with 8 pixels of padding, clamped to the page and resized to longest edge 1024. Qwen returns plain text with a 64-token cap; outputs are rejoined in original source reading order. A page remains the acquisition unit and all its lines train after selection. This is a changed task and recipe: one rather than three epochs, different image resolution and shorter decoding. Therefore a lower crop CER is not a controlled improvement over full-page OCR. The image and crop are original READ2016 Seite0363 inputs, not model predictions. Image credit: READ2016/Bozen, CC BY 4.0, https://zenodo.org/records/1297399 . Aradillas, Murillo-Fuentes and Olmos study historical recognition with few labelled lines and transfer learning, supporting this recognition-focused setting; their model and datasets differ. https://arxiv.org/abs/2012.02544 . Project source: https://github.com/bbryant824/ocr-finetuning/blob/main/results/EXP-012.md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EXP-012 first establishes that the separate known-box pipeline can learn under random selection. One seed, 824, acquires 64 pages per round. All fitting and inference run on L4; every one-epoch fit resets from the pinned Qwen base and uses cumulative selected lines. The original model is evaluated before training. On the same VAL42 / 861 regions, CER/WER are .803646/1.087103 at zero pages, .189807/.580935 at 64, .122700/.452336 at 128 and .094367/.370467 at 192. Training lines are 0, 1537, 3037 and 4567. The original evaluation had two capped regions; all trained checkpoints had zero. The first 64 pages produce the largest drop, motivating a smaller-budget selection comparison. Final CER is 88.3% lower relative to this original-model baseline, but WER .370 still indicates substantial word errors. This is a random-control learning curve, not proof of a model-informed selector advantage. One seed and official validation do not establish annotation savings, detection or independent generalization. Sources: https://github.com/bbryant824/ocr-finetuning/blob/main/results/EXP-012.md ; https://github.com/bbryant824/ocr-finetuning/blob/main/experiments/EXP-012.md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EXP-013 tests a lower-budget, strategy-first design: 0/24/48/72 pages, one configured selection/Trainer seed 824. Unlike EXP-011, there is no shared random warm-start adapter. Each arm selects its own first 24 pages. Three fixed source line positions, floor(n/4), floor(n/2), floor(3n/4), estimate each candidate page; selection reveals all the page's transcripts. K-center averages normalized original-model visual features and keeps them frozen. With no labels, it begins nearest the pool mean, then takes farthest uncovered pages. Entropy averages token-normalized next-token entropy; least confidence averages geometric token confidence over the three sampled lines. Initial uncertainty scoring is shared, later scoring uses each arm's own adapter and remaining pool. Ties use page IDs and selections are never forced apart. Fits and decoding retain EXP-012's recipe. Its exact zero-page receipt is reused after checking model, crop, prompt, decoding, IDs and evaluator, and recomputing saved predictions locally; no trained EXP-012 adapter is reused. All workloads use L4. Sener and Savarese motivate feature coverage in classification, not guaranteed OCR gains. Sources: https://github.com/bbryant824/ocr-finetuning/blob/main/results/EXP-013.md ; https://github.com/bbryant824/ocr-finetuning/blob/main/experiments/recipes/read2016-known-box-al-24.json ; https://arxiv.org/abs/1708.00489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EXP-013 uses the same 861 validation regions for all 12 trained checkpoints. The reused zero-page score is CER .803646 and WER 1.087103. At 24 pages, random/k-center/entropy/least-confidence CER is .410374/.446947/.355909/.374026 and WER .825421/.852336/.795140/.796262. At 48, CER .235749/.257365/.240038/.243876 and WER .644486/.666168/.666542/.665047. At 72, CER .175020/.183768/.178068/.188114 and WER .552897/.566355/.559252/.571589. Entropy leads random by 5.45 CER percentage points at 24; random leads both metrics at 48 and 72. All trained VAL outputs are uncapped; acquisition has 6 caps among 4818 generated sampled crops. Equal page budgets give unequal line counts: at 72, random/k-center/entropy/confidence train on 1725/1658/1713/1659 lines. Uncertainty selections correlate: entropy/confidence share 16/24/37 pages at budgets 24/48/72. Other 72-page overlaps range from 13 to 20. All adapter hashes and metrics were verified; recovery reused a saved adapter without retraining. One seed and unseeded pre-construction LoRA initialization prevent strong causal or repeatability claims. Source: https://github.com/bbryant824/ocr-finetuning/blob/main/results/EXP-013.md ; technical record https://github.com/bbryant824/ocr-finetuning/blob/main/experiments/EXP-013.md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now has working page-text and known-box recognition pipelines, documented controls and verified adapters. Historical-domain fine-tuning clearly improves recognition within these validation studies. However, learning from labels is different from learning more efficiently through an active selector: neither EXP-011 nor EXP-013 establishes a consistent repeatable advantage. The next test should repeat the smaller strategy-first comparison with RNG seeded before adapter construction, paired initializations and multiple seeds. The current inherited recipe applies the Trainer seed after PEFT construction, so small gaps can reflect training variation. A justified document-grouped holdout is needed before claiming unseen-document generalization; final test must stay isolated. Track transcript volume alongside page budgets, since page counts do not measure human time. Uncertainty plus diversity is a future hypothesis suggested by the early-budget signal and correlated uncertainty selections, not a result already achieved. Munjal et al. motivates strong random controls and stochasticity checks in classification; Aradillas et al. supports low-label historical recognition. Public reader reports are in results/ and technical identities/recipes in experiments/. Raw evidence and model mirrors remain ignored under .local/verification/ and .local/models/exp-ID/, with remote originals on Modal. Sources: https://arxiv.org/abs/2002.09564 ; https://arxiv.org/abs/2012.02544 ; https://arxiv.org/abs/1708.00489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and why they matter: Sener, O. and Savarese, S. (ICLR 2018), Active Learning for Convolutional Neural Networks: A Core-Set Approach — coverage motivation, not OCR evidence. https://arxiv.org/abs/1708.00489 . Munjal, P., Hayat, N., Hayat, M., Sourati, J., Khan, S. (CVPR 2022), Towards Robust and Reproducible Active Learning Using Neural Networks — baseline and stochasticity controls. https://arxiv.org/abs/2002.09564 . Aradillas, J. C., Murillo-Fuentes, J. J., Olmos, P. M. (2020 preprint), Boosting offline handwritten text recognition in historical documents with few labeled lines — low-label historical recognition context. https://arxiv.org/abs/2012.02544 . Bai, S. et al. (2025), Qwen3-VL Technical Report — model family. https://arxiv.org/abs/2511.21631 . Taghadouini, S., Cavaillès, A., Aubertin, B. (2026), LightOnOCR: A 1B End-to-End Multilingual Vision-Language Model for State-of-the-Art OCR — compact page-transcription model. https://arxiv.org/abs/2601.14251 . Toselli et al., HTR Dataset ICFHR2016 v1.2.0 — READ2016/Bozen images and annotations, CC BY 4.0. https://zenodo.org/records/1297399 . LightOn base model card: https://huggingface.co/lightonai/LightOnOCR-2-1B-base . Experiment reader index: https://github.com/bbryant824/ocr-finetuning/blob/main/results/README.md . It links all grouped early reports and EXP-009–013; experiments/ contains exact methods and evidence identities. Published results are contextual and do not prove our model-specific active-learning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b26e2d25974e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5c70ff04af4852" /><Relationship Type="http://schemas.openxmlformats.org/officeDocument/2006/relationships/slideLayout" Target="/ppt/slideLayouts/slideLayout1.xml" Id="R14b845c4e6b647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b845c4e6b647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e7466bc1d043f5" /><Relationship Type="http://schemas.openxmlformats.org/officeDocument/2006/relationships/notesSlide" Target="/ppt/notesSlides/notesSlide1.xml" Id="Rf93ebbc81ed048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eb57244d334e5e" /><Relationship Type="http://schemas.openxmlformats.org/officeDocument/2006/relationships/image" Target="/ppt/media/image.jpeg" Id="R4c66750ef2184067" /><Relationship Type="http://schemas.openxmlformats.org/officeDocument/2006/relationships/notesSlide" Target="/ppt/notesSlides/notesSlide2.xml" Id="Rac3bde1f346f4a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98981197ac4fa6" /><Relationship Type="http://schemas.openxmlformats.org/officeDocument/2006/relationships/notesSlide" Target="/ppt/notesSlides/notesSlide3.xml" Id="Re0e3d98ce80146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8bdd87d5594998" /><Relationship Type="http://schemas.openxmlformats.org/officeDocument/2006/relationships/notesSlide" Target="/ppt/notesSlides/notesSlide4.xml" Id="R20615a18ef444b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b62e194cda4c91" /><Relationship Type="http://schemas.openxmlformats.org/officeDocument/2006/relationships/chart" Target="/ppt/slides/charts/chart1.xml" Id="Ree02283fb00d45d6" /><Relationship Type="http://schemas.openxmlformats.org/officeDocument/2006/relationships/chart" Target="/ppt/slides/charts/chart2.xml" Id="Reec95507532744be" /><Relationship Type="http://schemas.openxmlformats.org/officeDocument/2006/relationships/notesSlide" Target="/ppt/notesSlides/notesSlide5.xml" Id="R8173e50b886f4e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c16754c3e840a1" /><Relationship Type="http://schemas.openxmlformats.org/officeDocument/2006/relationships/chart" Target="/ppt/slides/charts/chart3.xml" Id="R65b0ca209d5b4529" /><Relationship Type="http://schemas.openxmlformats.org/officeDocument/2006/relationships/notesSlide" Target="/ppt/notesSlides/notesSlide6.xml" Id="R5a59d6d90a9f4f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85db3dc1484379" /><Relationship Type="http://schemas.openxmlformats.org/officeDocument/2006/relationships/image" Target="/ppt/media/image2.jpeg" Id="Re337f18e209d4a06" /><Relationship Type="http://schemas.openxmlformats.org/officeDocument/2006/relationships/image" Target="/ppt/media/image.png" Id="Re46d52b52eb34626" /><Relationship Type="http://schemas.openxmlformats.org/officeDocument/2006/relationships/notesSlide" Target="/ppt/notesSlides/notesSlide7.xml" Id="R3e42d4e53b864b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4156bc5d578462f" /><Relationship Type="http://schemas.openxmlformats.org/officeDocument/2006/relationships/chart" Target="/ppt/slides/charts/chart4.xml" Id="R231f46163c374e69" /><Relationship Type="http://schemas.openxmlformats.org/officeDocument/2006/relationships/notesSlide" Target="/ppt/notesSlides/notesSlide8.xml" Id="R33117b6ad6db44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df3132e0edf44a8" /><Relationship Type="http://schemas.openxmlformats.org/officeDocument/2006/relationships/notesSlide" Target="/ppt/notesSlides/notesSlide9.xml" Id="Rf744009806e34e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e58e6b2d3764f9d" /><Relationship Type="http://schemas.openxmlformats.org/officeDocument/2006/relationships/chart" Target="/ppt/slides/charts/chart5.xml" Id="R68c2b29f784a4e7d" /><Relationship Type="http://schemas.openxmlformats.org/officeDocument/2006/relationships/chart" Target="/ppt/slides/charts/chart6.xml" Id="R79c0aa9935e94e70" /><Relationship Type="http://schemas.openxmlformats.org/officeDocument/2006/relationships/notesSlide" Target="/ppt/notesSlides/notesSlide10.xml" Id="R07ffc18a1f9d45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00ebe5739dc48f8" /><Relationship Type="http://schemas.openxmlformats.org/officeDocument/2006/relationships/notesSlide" Target="/ppt/notesSlides/notesSlide11.xml" Id="R5e3f3532f3e24d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324e46a699e407c" /><Relationship Type="http://schemas.openxmlformats.org/officeDocument/2006/relationships/hyperlink" Target="https://arxiv.org/abs/1708.00489" TargetMode="External" Id="R50cabda93ef244ff" /><Relationship Type="http://schemas.openxmlformats.org/officeDocument/2006/relationships/hyperlink" Target="https://arxiv.org/abs/2002.09564" TargetMode="External" Id="Rbd1aec6a83114a4f" /><Relationship Type="http://schemas.openxmlformats.org/officeDocument/2006/relationships/hyperlink" Target="https://arxiv.org/abs/2012.02544" TargetMode="External" Id="R3a0144bba7e1401d" /><Relationship Type="http://schemas.openxmlformats.org/officeDocument/2006/relationships/hyperlink" Target="https://arxiv.org/abs/2511.21631" TargetMode="External" Id="R5054d9595d7b4a1c" /><Relationship Type="http://schemas.openxmlformats.org/officeDocument/2006/relationships/hyperlink" Target="https://arxiv.org/abs/2601.14251" TargetMode="External" Id="R8d69f5121934407d" /><Relationship Type="http://schemas.openxmlformats.org/officeDocument/2006/relationships/hyperlink" Target="https://zenodo.org/records/1297399" TargetMode="External" Id="R67e5e92e8b594dab" /><Relationship Type="http://schemas.openxmlformats.org/officeDocument/2006/relationships/notesSlide" Target="/ppt/notesSlides/notesSlide12.xml" Id="Re8708361785b4bc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52C40"/>
                </a:solidFill>
                <a:latin typeface="Helvetica Neue"/>
                <a:ea typeface="Helvetica Neue"/>
                <a:cs typeface="Helvetica Neue"/>
              </a:rPr>
              <a:t>Character error rate ↓</a:t>
            </a:r>
          </a:p>
        </c:rich>
      </c:tx>
      <c:overlay val="0"/>
      <c:txPr>
        <a:bodyPr xmlns:a="http://schemas.openxmlformats.org/drawingml/2006/main" anchorCtr="1"/>
        <a:lstStyle xmlns:a="http://schemas.openxmlformats.org/drawingml/2006/main"/>
        <a:p xmlns:a="http://schemas.openxmlformats.org/drawingml/2006/main">
          <a:pPr>
            <a:defRPr sz="1950" b="1">
              <a:solidFill>
                <a:srgbClr val="152C40"/>
              </a:solidFill>
              <a:latin typeface="Helvetica Neue"/>
              <a:ea typeface="Helvetica Neue"/>
              <a:cs typeface="Helvetica Neue"/>
            </a:defRPr>
          </a:pPr>
        </a:p>
      </c:txPr>
    </c:title>
    <c:plotArea>
      <c:lineChart>
        <c:grouping val="standard"/>
        <c:varyColors val="0"/>
        <c:ser>
          <c:idx val="0"/>
          <c:order val="0"/>
          <c:tx>
            <c:v>LightOnOCR 1B</c:v>
          </c:tx>
          <c:spPr>
            <a:solidFill xmlns:a="http://schemas.openxmlformats.org/drawingml/2006/main">
              <a:srgbClr val="3265AF"/>
            </a:solidFill>
            <a:ln xmlns:a="http://schemas.openxmlformats.org/drawingml/2006/main" w="28575">
              <a:solidFill>
                <a:srgbClr val="3265AF"/>
              </a:solidFill>
            </a:ln>
          </c:spPr>
          <c:marker>
            <c:symbol val="circle"/>
            <c:size val="7"/>
            <c:spPr>
              <a:solidFill xmlns:a="http://schemas.openxmlformats.org/drawingml/2006/main">
                <a:srgbClr val="3265AF"/>
              </a:solidFill>
            </c:spPr>
          </c:marker>
          <c:cat>
            <c:numRef>
              <c:f>'Chart Data'!$A$2:$A$5</c:f>
              <c:numCache>
                <c:formatCode>General</c:formatCode>
                <c:ptCount val="4"/>
                <c:pt idx="0">
                  <c:v>0</c:v>
                </c:pt>
                <c:pt idx="1">
                  <c:v>64</c:v>
                </c:pt>
                <c:pt idx="2">
                  <c:v>128</c:v>
                </c:pt>
                <c:pt idx="3">
                  <c:v>192</c:v>
                </c:pt>
              </c:numCache>
            </c:numRef>
          </c:cat>
          <c:val>
            <c:numRef>
              <c:f>'Chart Data'!$B$2:$B$5</c:f>
              <c:numCache>
                <c:formatCode>0.0</c:formatCode>
                <c:ptCount val="4"/>
                <c:pt idx="0">
                  <c:v>0.7812</c:v>
                </c:pt>
                <c:pt idx="1">
                  <c:v>0.5683</c:v>
                </c:pt>
                <c:pt idx="2">
                  <c:v>0.3625</c:v>
                </c:pt>
                <c:pt idx="3">
                  <c:v>0.2161</c:v>
                </c:pt>
              </c:numCache>
            </c:numRef>
          </c:val>
          <c:smooth val="0"/>
        </c:ser>
        <c:ser>
          <c:idx val="1"/>
          <c:order val="1"/>
          <c:tx>
            <c:v>Qwen 4B</c:v>
          </c:tx>
          <c:spPr>
            <a:solidFill xmlns:a="http://schemas.openxmlformats.org/drawingml/2006/main">
              <a:srgbClr val="008A87"/>
            </a:solidFill>
            <a:ln xmlns:a="http://schemas.openxmlformats.org/drawingml/2006/main" w="28575">
              <a:solidFill>
                <a:srgbClr val="008A87"/>
              </a:solidFill>
            </a:ln>
          </c:spPr>
          <c:marker>
            <c:symbol val="circle"/>
            <c:size val="7"/>
            <c:spPr>
              <a:solidFill xmlns:a="http://schemas.openxmlformats.org/drawingml/2006/main">
                <a:srgbClr val="008A87"/>
              </a:solidFill>
            </c:spPr>
          </c:marker>
          <c:cat>
            <c:numRef>
              <c:f>'Chart Data'!$C$2:$C$5</c:f>
              <c:numCache>
                <c:formatCode>General</c:formatCode>
                <c:ptCount val="4"/>
                <c:pt idx="0">
                  <c:v>0</c:v>
                </c:pt>
                <c:pt idx="1">
                  <c:v>64</c:v>
                </c:pt>
                <c:pt idx="2">
                  <c:v>128</c:v>
                </c:pt>
                <c:pt idx="3">
                  <c:v>192</c:v>
                </c:pt>
              </c:numCache>
            </c:numRef>
          </c:cat>
          <c:val>
            <c:numRef>
              <c:f>'Chart Data'!$D$2:$D$5</c:f>
              <c:numCache>
                <c:formatCode>0.0</c:formatCode>
                <c:ptCount val="4"/>
                <c:pt idx="0">
                  <c:v>0.7902</c:v>
                </c:pt>
                <c:pt idx="1">
                  <c:v>0.5025</c:v>
                </c:pt>
                <c:pt idx="2">
                  <c:v>0.2946</c:v>
                </c:pt>
                <c:pt idx="3">
                  <c:v>0.2112</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Labelled TRAIN pages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4E8"/>
            </a:solidFill>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C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50112"/>
        <c:crossBetween val="between"/>
        <c:majorUnit val="0.2"/>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52C40"/>
              </a:solidFill>
              <a:latin typeface="Helvetica Neue"/>
              <a:ea typeface="Helvetica Neue"/>
              <a:cs typeface="Helvetica Neue"/>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52C40"/>
                </a:solidFill>
                <a:latin typeface="Helvetica Neue"/>
                <a:ea typeface="Helvetica Neue"/>
                <a:cs typeface="Helvetica Neue"/>
              </a:rPr>
              <a:t>Word error rate ↓</a:t>
            </a:r>
          </a:p>
        </c:rich>
      </c:tx>
      <c:overlay val="0"/>
      <c:txPr>
        <a:bodyPr xmlns:a="http://schemas.openxmlformats.org/drawingml/2006/main" anchorCtr="1"/>
        <a:lstStyle xmlns:a="http://schemas.openxmlformats.org/drawingml/2006/main"/>
        <a:p xmlns:a="http://schemas.openxmlformats.org/drawingml/2006/main">
          <a:pPr>
            <a:defRPr sz="1950" b="1">
              <a:solidFill>
                <a:srgbClr val="152C40"/>
              </a:solidFill>
              <a:latin typeface="Helvetica Neue"/>
              <a:ea typeface="Helvetica Neue"/>
              <a:cs typeface="Helvetica Neue"/>
            </a:defRPr>
          </a:pPr>
        </a:p>
      </c:txPr>
    </c:title>
    <c:plotArea>
      <c:lineChart>
        <c:grouping val="standard"/>
        <c:varyColors val="0"/>
        <c:ser>
          <c:idx val="0"/>
          <c:order val="0"/>
          <c:tx>
            <c:v>LightOnOCR 1B</c:v>
          </c:tx>
          <c:spPr>
            <a:solidFill xmlns:a="http://schemas.openxmlformats.org/drawingml/2006/main">
              <a:srgbClr val="3265AF"/>
            </a:solidFill>
            <a:ln xmlns:a="http://schemas.openxmlformats.org/drawingml/2006/main" w="28575">
              <a:solidFill>
                <a:srgbClr val="3265AF"/>
              </a:solidFill>
            </a:ln>
          </c:spPr>
          <c:marker>
            <c:symbol val="circle"/>
            <c:size val="7"/>
            <c:spPr>
              <a:solidFill xmlns:a="http://schemas.openxmlformats.org/drawingml/2006/main">
                <a:srgbClr val="3265AF"/>
              </a:solidFill>
            </c:spPr>
          </c:marker>
          <c:cat>
            <c:numRef>
              <c:f>'Chart Data'!$A$2:$A$5</c:f>
              <c:numCache>
                <c:formatCode>General</c:formatCode>
                <c:ptCount val="4"/>
                <c:pt idx="0">
                  <c:v>0</c:v>
                </c:pt>
                <c:pt idx="1">
                  <c:v>64</c:v>
                </c:pt>
                <c:pt idx="2">
                  <c:v>128</c:v>
                </c:pt>
                <c:pt idx="3">
                  <c:v>192</c:v>
                </c:pt>
              </c:numCache>
            </c:numRef>
          </c:cat>
          <c:val>
            <c:numRef>
              <c:f>'Chart Data'!$B$2:$B$5</c:f>
              <c:numCache>
                <c:formatCode>0.0</c:formatCode>
                <c:ptCount val="4"/>
                <c:pt idx="0">
                  <c:v>1.1155</c:v>
                </c:pt>
                <c:pt idx="1">
                  <c:v>0.972</c:v>
                </c:pt>
                <c:pt idx="2">
                  <c:v>0.8164</c:v>
                </c:pt>
                <c:pt idx="3">
                  <c:v>0.6179</c:v>
                </c:pt>
              </c:numCache>
            </c:numRef>
          </c:val>
          <c:smooth val="0"/>
        </c:ser>
        <c:ser>
          <c:idx val="1"/>
          <c:order val="1"/>
          <c:tx>
            <c:v>Qwen 4B</c:v>
          </c:tx>
          <c:spPr>
            <a:solidFill xmlns:a="http://schemas.openxmlformats.org/drawingml/2006/main">
              <a:srgbClr val="008A87"/>
            </a:solidFill>
            <a:ln xmlns:a="http://schemas.openxmlformats.org/drawingml/2006/main" w="28575">
              <a:solidFill>
                <a:srgbClr val="008A87"/>
              </a:solidFill>
            </a:ln>
          </c:spPr>
          <c:marker>
            <c:symbol val="circle"/>
            <c:size val="7"/>
            <c:spPr>
              <a:solidFill xmlns:a="http://schemas.openxmlformats.org/drawingml/2006/main">
                <a:srgbClr val="008A87"/>
              </a:solidFill>
            </c:spPr>
          </c:marker>
          <c:cat>
            <c:numRef>
              <c:f>'Chart Data'!$C$2:$C$5</c:f>
              <c:numCache>
                <c:formatCode>General</c:formatCode>
                <c:ptCount val="4"/>
                <c:pt idx="0">
                  <c:v>0</c:v>
                </c:pt>
                <c:pt idx="1">
                  <c:v>64</c:v>
                </c:pt>
                <c:pt idx="2">
                  <c:v>128</c:v>
                </c:pt>
                <c:pt idx="3">
                  <c:v>192</c:v>
                </c:pt>
              </c:numCache>
            </c:numRef>
          </c:cat>
          <c:val>
            <c:numRef>
              <c:f>'Chart Data'!$D$2:$D$5</c:f>
              <c:numCache>
                <c:formatCode>0.0</c:formatCode>
                <c:ptCount val="4"/>
                <c:pt idx="0">
                  <c:v>1.0019</c:v>
                </c:pt>
                <c:pt idx="1">
                  <c:v>0.8643</c:v>
                </c:pt>
                <c:pt idx="2">
                  <c:v>0.6841</c:v>
                </c:pt>
                <c:pt idx="3">
                  <c:v>0.5589</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Labelled TRAIN pages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4E8"/>
            </a:solidFill>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72768"/>
      </c:catAx>
      <c:valAx>
        <c:axId val="48672768"/>
        <c:scaling>
          <c:orientation val="minMax"/>
          <c:max val="1.2"/>
          <c:min val="0"/>
        </c:scaling>
        <c:delete val="0"/>
        <c:axPos val="l"/>
        <c:majorGridlines>
          <c:spPr>
            <a:ln xmlns:a="http://schemas.openxmlformats.org/drawingml/2006/main" w="9525">
              <a:solidFill>
                <a:srgbClr val="DC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50112"/>
        <c:crossBetween val="between"/>
        <c:majorUnit val="0.2"/>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52C40"/>
              </a:solidFill>
              <a:latin typeface="Helvetica Neue"/>
              <a:ea typeface="Helvetica Neue"/>
              <a:cs typeface="Helvetica Neue"/>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52C40"/>
                </a:solidFill>
                <a:latin typeface="Helvetica Neue"/>
                <a:ea typeface="Helvetica Neue"/>
                <a:cs typeface="Helvetica Neue"/>
              </a:rPr>
              <a:t>Mean paired ΔCER (percentage points)</a:t>
            </a:r>
          </a:p>
        </c:rich>
      </c:tx>
      <c:overlay val="0"/>
      <c:txPr>
        <a:bodyPr xmlns:a="http://schemas.openxmlformats.org/drawingml/2006/main" anchorCtr="1"/>
        <a:lstStyle xmlns:a="http://schemas.openxmlformats.org/drawingml/2006/main"/>
        <a:p xmlns:a="http://schemas.openxmlformats.org/drawingml/2006/main">
          <a:pPr>
            <a:defRPr sz="1950" b="1">
              <a:solidFill>
                <a:srgbClr val="152C40"/>
              </a:solidFill>
              <a:latin typeface="Helvetica Neue"/>
              <a:ea typeface="Helvetica Neue"/>
              <a:cs typeface="Helvetica Neue"/>
            </a:defRPr>
          </a:pPr>
        </a:p>
      </c:txPr>
    </c:title>
    <c:plotArea>
      <c:barChart>
        <c:barDir val="col"/>
        <c:grouping val="clustered"/>
        <c:varyColors val="0"/>
        <c:ser>
          <c:idx val="0"/>
          <c:order val="0"/>
          <c:tx>
            <c:v>K-center</c:v>
          </c:tx>
          <c:spPr>
            <a:solidFill xmlns:a="http://schemas.openxmlformats.org/drawingml/2006/main">
              <a:srgbClr val="C77920"/>
            </a:solidFill>
            <a:ln xmlns:a="http://schemas.openxmlformats.org/drawingml/2006/main" w="28575">
              <a:solidFill>
                <a:srgbClr val="C77920"/>
              </a:solidFill>
            </a:ln>
          </c:spPr>
          <c:invertIfNegative val="0"/>
          <c:cat>
            <c:numRef>
              <c:f>'Chart Data'!$A$2:$A$3</c:f>
              <c:numCache>
                <c:formatCode>General</c:formatCode>
                <c:ptCount val="2"/>
                <c:pt idx="0">
                  <c:v>128</c:v>
                </c:pt>
                <c:pt idx="1">
                  <c:v>192</c:v>
                </c:pt>
              </c:numCache>
            </c:numRef>
          </c:cat>
          <c:val>
            <c:numRef>
              <c:f>'Chart Data'!$B$2:$B$3</c:f>
              <c:numCache>
                <c:formatCode>0.0</c:formatCode>
                <c:ptCount val="2"/>
                <c:pt idx="0">
                  <c:v>0.6</c:v>
                </c:pt>
                <c:pt idx="1">
                  <c:v>-0.45</c:v>
                </c:pt>
              </c:numCache>
            </c:numRef>
          </c:val>
        </c:ser>
        <c:ser>
          <c:idx val="1"/>
          <c:order val="1"/>
          <c:tx>
            <c:v>Entropy</c:v>
          </c:tx>
          <c:spPr>
            <a:solidFill xmlns:a="http://schemas.openxmlformats.org/drawingml/2006/main">
              <a:srgbClr val="008A87"/>
            </a:solidFill>
            <a:ln xmlns:a="http://schemas.openxmlformats.org/drawingml/2006/main" w="28575">
              <a:solidFill>
                <a:srgbClr val="008A87"/>
              </a:solidFill>
            </a:ln>
          </c:spPr>
          <c:invertIfNegative val="0"/>
          <c:cat>
            <c:numRef>
              <c:f>'Chart Data'!$C$2:$C$3</c:f>
              <c:numCache>
                <c:formatCode>General</c:formatCode>
                <c:ptCount val="2"/>
                <c:pt idx="0">
                  <c:v>128</c:v>
                </c:pt>
                <c:pt idx="1">
                  <c:v>192</c:v>
                </c:pt>
              </c:numCache>
            </c:numRef>
          </c:cat>
          <c:val>
            <c:numRef>
              <c:f>'Chart Data'!$D$2:$D$3</c:f>
              <c:numCache>
                <c:formatCode>0.0</c:formatCode>
                <c:ptCount val="2"/>
                <c:pt idx="0">
                  <c:v>-1.03</c:v>
                </c:pt>
                <c:pt idx="1">
                  <c:v>0.08</c:v>
                </c:pt>
              </c:numCache>
            </c:numRef>
          </c:val>
        </c:ser>
        <c:ser>
          <c:idx val="2"/>
          <c:order val="2"/>
          <c:tx>
            <c:v>Least confidence</c:v>
          </c:tx>
          <c:spPr>
            <a:solidFill xmlns:a="http://schemas.openxmlformats.org/drawingml/2006/main">
              <a:srgbClr val="8552A0"/>
            </a:solidFill>
            <a:ln xmlns:a="http://schemas.openxmlformats.org/drawingml/2006/main" w="28575">
              <a:solidFill>
                <a:srgbClr val="8552A0"/>
              </a:solidFill>
            </a:ln>
          </c:spPr>
          <c:invertIfNegative val="0"/>
          <c:cat>
            <c:numRef>
              <c:f>'Chart Data'!$E$2:$E$3</c:f>
              <c:numCache>
                <c:formatCode>General</c:formatCode>
                <c:ptCount val="2"/>
                <c:pt idx="0">
                  <c:v>128</c:v>
                </c:pt>
                <c:pt idx="1">
                  <c:v>192</c:v>
                </c:pt>
              </c:numCache>
            </c:numRef>
          </c:cat>
          <c:val>
            <c:numRef>
              <c:f>'Chart Data'!$F$2:$F$3</c:f>
              <c:numCache>
                <c:formatCode>0.0</c:formatCode>
                <c:ptCount val="2"/>
                <c:pt idx="0">
                  <c:v>1.34</c:v>
                </c:pt>
                <c:pt idx="1">
                  <c:v>-0.41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11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Labelled pages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4E8"/>
            </a:solidFill>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72768"/>
      </c:catAx>
      <c:valAx>
        <c:axId val="48672768"/>
        <c:scaling>
          <c:orientation val="minMax"/>
          <c:max val="2"/>
          <c:min val="-2"/>
        </c:scaling>
        <c:delete val="0"/>
        <c:axPos val="l"/>
        <c:majorGridlines>
          <c:spPr>
            <a:ln xmlns:a="http://schemas.openxmlformats.org/drawingml/2006/main" w="9525">
              <a:solidFill>
                <a:srgbClr val="DC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50112"/>
        <c:crossBetween val="between"/>
        <c:majorUnit val="1"/>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52C40"/>
              </a:solidFill>
              <a:latin typeface="Helvetica Neue"/>
              <a:ea typeface="Helvetica Neue"/>
              <a:cs typeface="Helvetica Neue"/>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52C40"/>
                </a:solidFill>
                <a:latin typeface="Helvetica Neue"/>
                <a:ea typeface="Helvetica Neue"/>
                <a:cs typeface="Helvetica Neue"/>
              </a:rPr>
              <a:t>Character error rate ↓</a:t>
            </a:r>
          </a:p>
        </c:rich>
      </c:tx>
      <c:overlay val="0"/>
      <c:txPr>
        <a:bodyPr xmlns:a="http://schemas.openxmlformats.org/drawingml/2006/main" anchorCtr="1"/>
        <a:lstStyle xmlns:a="http://schemas.openxmlformats.org/drawingml/2006/main"/>
        <a:p xmlns:a="http://schemas.openxmlformats.org/drawingml/2006/main">
          <a:pPr>
            <a:defRPr sz="1950" b="1">
              <a:solidFill>
                <a:srgbClr val="152C40"/>
              </a:solidFill>
              <a:latin typeface="Helvetica Neue"/>
              <a:ea typeface="Helvetica Neue"/>
              <a:cs typeface="Helvetica Neue"/>
            </a:defRPr>
          </a:pPr>
        </a:p>
      </c:txPr>
    </c:title>
    <c:plotArea>
      <c:lineChart>
        <c:grouping val="standard"/>
        <c:varyColors val="0"/>
        <c:ser>
          <c:idx val="0"/>
          <c:order val="0"/>
          <c:tx>
            <c:v>Random · known boxes</c:v>
          </c:tx>
          <c:spPr>
            <a:solidFill xmlns:a="http://schemas.openxmlformats.org/drawingml/2006/main">
              <a:srgbClr val="3F5263"/>
            </a:solidFill>
            <a:ln xmlns:a="http://schemas.openxmlformats.org/drawingml/2006/main" w="28575">
              <a:solidFill>
                <a:srgbClr val="3F5263"/>
              </a:solidFill>
            </a:ln>
          </c:spPr>
          <c:marker>
            <c:symbol val="circle"/>
            <c:size val="7"/>
            <c:spPr>
              <a:solidFill xmlns:a="http://schemas.openxmlformats.org/drawingml/2006/main">
                <a:srgbClr val="3F5263"/>
              </a:solidFill>
            </c:spPr>
          </c:marker>
          <c:cat>
            <c:numRef>
              <c:f>'Chart Data'!$A$2:$A$5</c:f>
              <c:numCache>
                <c:formatCode>General</c:formatCode>
                <c:ptCount val="4"/>
                <c:pt idx="0">
                  <c:v>0</c:v>
                </c:pt>
                <c:pt idx="1">
                  <c:v>64</c:v>
                </c:pt>
                <c:pt idx="2">
                  <c:v>128</c:v>
                </c:pt>
                <c:pt idx="3">
                  <c:v>192</c:v>
                </c:pt>
              </c:numCache>
            </c:numRef>
          </c:cat>
          <c:val>
            <c:numRef>
              <c:f>'Chart Data'!$B$2:$B$5</c:f>
              <c:numCache>
                <c:formatCode>0.0</c:formatCode>
                <c:ptCount val="4"/>
                <c:pt idx="0">
                  <c:v>0.803646</c:v>
                </c:pt>
                <c:pt idx="1">
                  <c:v>0.189807</c:v>
                </c:pt>
                <c:pt idx="2">
                  <c:v>0.1227</c:v>
                </c:pt>
                <c:pt idx="3">
                  <c:v>0.094367</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Labelled TRAIN pages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4E8"/>
            </a:solidFill>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C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50112"/>
        <c:crossBetween val="between"/>
        <c:majorUnit val="0.2"/>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52C40"/>
              </a:solidFill>
              <a:latin typeface="Helvetica Neue"/>
              <a:ea typeface="Helvetica Neue"/>
              <a:cs typeface="Helvetica Neue"/>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52C40"/>
                </a:solidFill>
                <a:latin typeface="Helvetica Neue"/>
                <a:ea typeface="Helvetica Neue"/>
                <a:cs typeface="Helvetica Neue"/>
              </a:rPr>
              <a:t>Character error rate ↓</a:t>
            </a:r>
          </a:p>
        </c:rich>
      </c:tx>
      <c:overlay val="0"/>
      <c:txPr>
        <a:bodyPr xmlns:a="http://schemas.openxmlformats.org/drawingml/2006/main" anchorCtr="1"/>
        <a:lstStyle xmlns:a="http://schemas.openxmlformats.org/drawingml/2006/main"/>
        <a:p xmlns:a="http://schemas.openxmlformats.org/drawingml/2006/main">
          <a:pPr>
            <a:defRPr sz="1950" b="1">
              <a:solidFill>
                <a:srgbClr val="152C40"/>
              </a:solidFill>
              <a:latin typeface="Helvetica Neue"/>
              <a:ea typeface="Helvetica Neue"/>
              <a:cs typeface="Helvetica Neue"/>
            </a:defRPr>
          </a:pPr>
        </a:p>
      </c:txPr>
    </c:title>
    <c:plotArea>
      <c:lineChart>
        <c:grouping val="standard"/>
        <c:varyColors val="0"/>
        <c:ser>
          <c:idx val="0"/>
          <c:order val="0"/>
          <c:tx>
            <c:v>Random</c:v>
          </c:tx>
          <c:spPr>
            <a:solidFill xmlns:a="http://schemas.openxmlformats.org/drawingml/2006/main">
              <a:srgbClr val="3F5263"/>
            </a:solidFill>
            <a:ln xmlns:a="http://schemas.openxmlformats.org/drawingml/2006/main" w="28575">
              <a:solidFill>
                <a:srgbClr val="3F5263"/>
              </a:solidFill>
            </a:ln>
          </c:spPr>
          <c:marker>
            <c:symbol val="circle"/>
            <c:size val="7"/>
            <c:spPr>
              <a:solidFill xmlns:a="http://schemas.openxmlformats.org/drawingml/2006/main">
                <a:srgbClr val="3F5263"/>
              </a:solidFill>
            </c:spPr>
          </c:marker>
          <c:cat>
            <c:numRef>
              <c:f>'Chart Data'!$A$2:$A$5</c:f>
              <c:numCache>
                <c:formatCode>General</c:formatCode>
                <c:ptCount val="4"/>
                <c:pt idx="0">
                  <c:v>0</c:v>
                </c:pt>
                <c:pt idx="1">
                  <c:v>24</c:v>
                </c:pt>
                <c:pt idx="2">
                  <c:v>48</c:v>
                </c:pt>
                <c:pt idx="3">
                  <c:v>72</c:v>
                </c:pt>
              </c:numCache>
            </c:numRef>
          </c:cat>
          <c:val>
            <c:numRef>
              <c:f>'Chart Data'!$B$2:$B$5</c:f>
              <c:numCache>
                <c:formatCode>0.0</c:formatCode>
                <c:ptCount val="4"/>
                <c:pt idx="0">
                  <c:v>0.803646</c:v>
                </c:pt>
                <c:pt idx="1">
                  <c:v>0.410374</c:v>
                </c:pt>
                <c:pt idx="2">
                  <c:v>0.235749</c:v>
                </c:pt>
                <c:pt idx="3">
                  <c:v>0.17502</c:v>
                </c:pt>
              </c:numCache>
            </c:numRef>
          </c:val>
          <c:smooth val="0"/>
        </c:ser>
        <c:ser>
          <c:idx val="1"/>
          <c:order val="1"/>
          <c:tx>
            <c:v>K-center</c:v>
          </c:tx>
          <c:spPr>
            <a:solidFill xmlns:a="http://schemas.openxmlformats.org/drawingml/2006/main">
              <a:srgbClr val="C77920"/>
            </a:solidFill>
            <a:ln xmlns:a="http://schemas.openxmlformats.org/drawingml/2006/main" w="28575">
              <a:solidFill>
                <a:srgbClr val="C77920"/>
              </a:solidFill>
            </a:ln>
          </c:spPr>
          <c:marker>
            <c:symbol val="circle"/>
            <c:size val="7"/>
            <c:spPr>
              <a:solidFill xmlns:a="http://schemas.openxmlformats.org/drawingml/2006/main">
                <a:srgbClr val="C77920"/>
              </a:solidFill>
            </c:spPr>
          </c:marker>
          <c:cat>
            <c:numRef>
              <c:f>'Chart Data'!$C$2:$C$5</c:f>
              <c:numCache>
                <c:formatCode>General</c:formatCode>
                <c:ptCount val="4"/>
                <c:pt idx="0">
                  <c:v>0</c:v>
                </c:pt>
                <c:pt idx="1">
                  <c:v>24</c:v>
                </c:pt>
                <c:pt idx="2">
                  <c:v>48</c:v>
                </c:pt>
                <c:pt idx="3">
                  <c:v>72</c:v>
                </c:pt>
              </c:numCache>
            </c:numRef>
          </c:cat>
          <c:val>
            <c:numRef>
              <c:f>'Chart Data'!$D$2:$D$5</c:f>
              <c:numCache>
                <c:formatCode>0.0</c:formatCode>
                <c:ptCount val="4"/>
                <c:pt idx="0">
                  <c:v>0.803646</c:v>
                </c:pt>
                <c:pt idx="1">
                  <c:v>0.446947</c:v>
                </c:pt>
                <c:pt idx="2">
                  <c:v>0.257365</c:v>
                </c:pt>
                <c:pt idx="3">
                  <c:v>0.183768</c:v>
                </c:pt>
              </c:numCache>
            </c:numRef>
          </c:val>
          <c:smooth val="0"/>
        </c:ser>
        <c:ser>
          <c:idx val="2"/>
          <c:order val="2"/>
          <c:tx>
            <c:v>Entropy</c:v>
          </c:tx>
          <c:spPr>
            <a:solidFill xmlns:a="http://schemas.openxmlformats.org/drawingml/2006/main">
              <a:srgbClr val="008A87"/>
            </a:solidFill>
            <a:ln xmlns:a="http://schemas.openxmlformats.org/drawingml/2006/main" w="28575">
              <a:solidFill>
                <a:srgbClr val="008A87"/>
              </a:solidFill>
            </a:ln>
          </c:spPr>
          <c:marker>
            <c:symbol val="circle"/>
            <c:size val="7"/>
            <c:spPr>
              <a:solidFill xmlns:a="http://schemas.openxmlformats.org/drawingml/2006/main">
                <a:srgbClr val="008A87"/>
              </a:solidFill>
            </c:spPr>
          </c:marker>
          <c:cat>
            <c:numRef>
              <c:f>'Chart Data'!$E$2:$E$5</c:f>
              <c:numCache>
                <c:formatCode>General</c:formatCode>
                <c:ptCount val="4"/>
                <c:pt idx="0">
                  <c:v>0</c:v>
                </c:pt>
                <c:pt idx="1">
                  <c:v>24</c:v>
                </c:pt>
                <c:pt idx="2">
                  <c:v>48</c:v>
                </c:pt>
                <c:pt idx="3">
                  <c:v>72</c:v>
                </c:pt>
              </c:numCache>
            </c:numRef>
          </c:cat>
          <c:val>
            <c:numRef>
              <c:f>'Chart Data'!$F$2:$F$5</c:f>
              <c:numCache>
                <c:formatCode>0.0</c:formatCode>
                <c:ptCount val="4"/>
                <c:pt idx="0">
                  <c:v>0.803646</c:v>
                </c:pt>
                <c:pt idx="1">
                  <c:v>0.355909</c:v>
                </c:pt>
                <c:pt idx="2">
                  <c:v>0.240038</c:v>
                </c:pt>
                <c:pt idx="3">
                  <c:v>0.178068</c:v>
                </c:pt>
              </c:numCache>
            </c:numRef>
          </c:val>
          <c:smooth val="0"/>
        </c:ser>
        <c:ser>
          <c:idx val="3"/>
          <c:order val="3"/>
          <c:tx>
            <c:v>Least confidence</c:v>
          </c:tx>
          <c:spPr>
            <a:solidFill xmlns:a="http://schemas.openxmlformats.org/drawingml/2006/main">
              <a:srgbClr val="8552A0"/>
            </a:solidFill>
            <a:ln xmlns:a="http://schemas.openxmlformats.org/drawingml/2006/main" w="28575">
              <a:solidFill>
                <a:srgbClr val="8552A0"/>
              </a:solidFill>
            </a:ln>
          </c:spPr>
          <c:marker>
            <c:symbol val="circle"/>
            <c:size val="7"/>
            <c:spPr>
              <a:solidFill xmlns:a="http://schemas.openxmlformats.org/drawingml/2006/main">
                <a:srgbClr val="8552A0"/>
              </a:solidFill>
            </c:spPr>
          </c:marker>
          <c:cat>
            <c:numRef>
              <c:f>'Chart Data'!$G$2:$G$5</c:f>
              <c:numCache>
                <c:formatCode>General</c:formatCode>
                <c:ptCount val="4"/>
                <c:pt idx="0">
                  <c:v>0</c:v>
                </c:pt>
                <c:pt idx="1">
                  <c:v>24</c:v>
                </c:pt>
                <c:pt idx="2">
                  <c:v>48</c:v>
                </c:pt>
                <c:pt idx="3">
                  <c:v>72</c:v>
                </c:pt>
              </c:numCache>
            </c:numRef>
          </c:cat>
          <c:val>
            <c:numRef>
              <c:f>'Chart Data'!$H$2:$H$5</c:f>
              <c:numCache>
                <c:formatCode>0.0</c:formatCode>
                <c:ptCount val="4"/>
                <c:pt idx="0">
                  <c:v>0.803646</c:v>
                </c:pt>
                <c:pt idx="1">
                  <c:v>0.374026</c:v>
                </c:pt>
                <c:pt idx="2">
                  <c:v>0.243876</c:v>
                </c:pt>
                <c:pt idx="3">
                  <c:v>0.188114</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Labelled TRAIN pages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4E8"/>
            </a:solidFill>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C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50112"/>
        <c:crossBetween val="between"/>
        <c:majorUnit val="0.2"/>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52C40"/>
              </a:solidFill>
              <a:latin typeface="Helvetica Neue"/>
              <a:ea typeface="Helvetica Neue"/>
              <a:cs typeface="Helvetica Neue"/>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52C40"/>
                </a:solidFill>
                <a:latin typeface="Helvetica Neue"/>
                <a:ea typeface="Helvetica Neue"/>
                <a:cs typeface="Helvetica Neue"/>
              </a:rPr>
              <a:t>Word error rate ↓</a:t>
            </a:r>
          </a:p>
        </c:rich>
      </c:tx>
      <c:overlay val="0"/>
      <c:txPr>
        <a:bodyPr xmlns:a="http://schemas.openxmlformats.org/drawingml/2006/main" anchorCtr="1"/>
        <a:lstStyle xmlns:a="http://schemas.openxmlformats.org/drawingml/2006/main"/>
        <a:p xmlns:a="http://schemas.openxmlformats.org/drawingml/2006/main">
          <a:pPr>
            <a:defRPr sz="1950" b="1">
              <a:solidFill>
                <a:srgbClr val="152C40"/>
              </a:solidFill>
              <a:latin typeface="Helvetica Neue"/>
              <a:ea typeface="Helvetica Neue"/>
              <a:cs typeface="Helvetica Neue"/>
            </a:defRPr>
          </a:pPr>
        </a:p>
      </c:txPr>
    </c:title>
    <c:plotArea>
      <c:lineChart>
        <c:grouping val="standard"/>
        <c:varyColors val="0"/>
        <c:ser>
          <c:idx val="0"/>
          <c:order val="0"/>
          <c:tx>
            <c:v>Random</c:v>
          </c:tx>
          <c:spPr>
            <a:solidFill xmlns:a="http://schemas.openxmlformats.org/drawingml/2006/main">
              <a:srgbClr val="3F5263"/>
            </a:solidFill>
            <a:ln xmlns:a="http://schemas.openxmlformats.org/drawingml/2006/main" w="28575">
              <a:solidFill>
                <a:srgbClr val="3F5263"/>
              </a:solidFill>
            </a:ln>
          </c:spPr>
          <c:marker>
            <c:symbol val="circle"/>
            <c:size val="7"/>
            <c:spPr>
              <a:solidFill xmlns:a="http://schemas.openxmlformats.org/drawingml/2006/main">
                <a:srgbClr val="3F5263"/>
              </a:solidFill>
            </c:spPr>
          </c:marker>
          <c:cat>
            <c:numRef>
              <c:f>'Chart Data'!$A$2:$A$5</c:f>
              <c:numCache>
                <c:formatCode>General</c:formatCode>
                <c:ptCount val="4"/>
                <c:pt idx="0">
                  <c:v>0</c:v>
                </c:pt>
                <c:pt idx="1">
                  <c:v>24</c:v>
                </c:pt>
                <c:pt idx="2">
                  <c:v>48</c:v>
                </c:pt>
                <c:pt idx="3">
                  <c:v>72</c:v>
                </c:pt>
              </c:numCache>
            </c:numRef>
          </c:cat>
          <c:val>
            <c:numRef>
              <c:f>'Chart Data'!$B$2:$B$5</c:f>
              <c:numCache>
                <c:formatCode>0.0</c:formatCode>
                <c:ptCount val="4"/>
                <c:pt idx="0">
                  <c:v>1.087103</c:v>
                </c:pt>
                <c:pt idx="1">
                  <c:v>0.825421</c:v>
                </c:pt>
                <c:pt idx="2">
                  <c:v>0.644486</c:v>
                </c:pt>
                <c:pt idx="3">
                  <c:v>0.552897</c:v>
                </c:pt>
              </c:numCache>
            </c:numRef>
          </c:val>
          <c:smooth val="0"/>
        </c:ser>
        <c:ser>
          <c:idx val="1"/>
          <c:order val="1"/>
          <c:tx>
            <c:v>K-center</c:v>
          </c:tx>
          <c:spPr>
            <a:solidFill xmlns:a="http://schemas.openxmlformats.org/drawingml/2006/main">
              <a:srgbClr val="C77920"/>
            </a:solidFill>
            <a:ln xmlns:a="http://schemas.openxmlformats.org/drawingml/2006/main" w="28575">
              <a:solidFill>
                <a:srgbClr val="C77920"/>
              </a:solidFill>
            </a:ln>
          </c:spPr>
          <c:marker>
            <c:symbol val="circle"/>
            <c:size val="7"/>
            <c:spPr>
              <a:solidFill xmlns:a="http://schemas.openxmlformats.org/drawingml/2006/main">
                <a:srgbClr val="C77920"/>
              </a:solidFill>
            </c:spPr>
          </c:marker>
          <c:cat>
            <c:numRef>
              <c:f>'Chart Data'!$C$2:$C$5</c:f>
              <c:numCache>
                <c:formatCode>General</c:formatCode>
                <c:ptCount val="4"/>
                <c:pt idx="0">
                  <c:v>0</c:v>
                </c:pt>
                <c:pt idx="1">
                  <c:v>24</c:v>
                </c:pt>
                <c:pt idx="2">
                  <c:v>48</c:v>
                </c:pt>
                <c:pt idx="3">
                  <c:v>72</c:v>
                </c:pt>
              </c:numCache>
            </c:numRef>
          </c:cat>
          <c:val>
            <c:numRef>
              <c:f>'Chart Data'!$D$2:$D$5</c:f>
              <c:numCache>
                <c:formatCode>0.0</c:formatCode>
                <c:ptCount val="4"/>
                <c:pt idx="0">
                  <c:v>1.087103</c:v>
                </c:pt>
                <c:pt idx="1">
                  <c:v>0.852336</c:v>
                </c:pt>
                <c:pt idx="2">
                  <c:v>0.666168</c:v>
                </c:pt>
                <c:pt idx="3">
                  <c:v>0.566355</c:v>
                </c:pt>
              </c:numCache>
            </c:numRef>
          </c:val>
          <c:smooth val="0"/>
        </c:ser>
        <c:ser>
          <c:idx val="2"/>
          <c:order val="2"/>
          <c:tx>
            <c:v>Entropy</c:v>
          </c:tx>
          <c:spPr>
            <a:solidFill xmlns:a="http://schemas.openxmlformats.org/drawingml/2006/main">
              <a:srgbClr val="008A87"/>
            </a:solidFill>
            <a:ln xmlns:a="http://schemas.openxmlformats.org/drawingml/2006/main" w="28575">
              <a:solidFill>
                <a:srgbClr val="008A87"/>
              </a:solidFill>
            </a:ln>
          </c:spPr>
          <c:marker>
            <c:symbol val="circle"/>
            <c:size val="7"/>
            <c:spPr>
              <a:solidFill xmlns:a="http://schemas.openxmlformats.org/drawingml/2006/main">
                <a:srgbClr val="008A87"/>
              </a:solidFill>
            </c:spPr>
          </c:marker>
          <c:cat>
            <c:numRef>
              <c:f>'Chart Data'!$E$2:$E$5</c:f>
              <c:numCache>
                <c:formatCode>General</c:formatCode>
                <c:ptCount val="4"/>
                <c:pt idx="0">
                  <c:v>0</c:v>
                </c:pt>
                <c:pt idx="1">
                  <c:v>24</c:v>
                </c:pt>
                <c:pt idx="2">
                  <c:v>48</c:v>
                </c:pt>
                <c:pt idx="3">
                  <c:v>72</c:v>
                </c:pt>
              </c:numCache>
            </c:numRef>
          </c:cat>
          <c:val>
            <c:numRef>
              <c:f>'Chart Data'!$F$2:$F$5</c:f>
              <c:numCache>
                <c:formatCode>0.0</c:formatCode>
                <c:ptCount val="4"/>
                <c:pt idx="0">
                  <c:v>1.087103</c:v>
                </c:pt>
                <c:pt idx="1">
                  <c:v>0.79514</c:v>
                </c:pt>
                <c:pt idx="2">
                  <c:v>0.666542</c:v>
                </c:pt>
                <c:pt idx="3">
                  <c:v>0.559252</c:v>
                </c:pt>
              </c:numCache>
            </c:numRef>
          </c:val>
          <c:smooth val="0"/>
        </c:ser>
        <c:ser>
          <c:idx val="3"/>
          <c:order val="3"/>
          <c:tx>
            <c:v>Least confidence</c:v>
          </c:tx>
          <c:spPr>
            <a:solidFill xmlns:a="http://schemas.openxmlformats.org/drawingml/2006/main">
              <a:srgbClr val="8552A0"/>
            </a:solidFill>
            <a:ln xmlns:a="http://schemas.openxmlformats.org/drawingml/2006/main" w="28575">
              <a:solidFill>
                <a:srgbClr val="8552A0"/>
              </a:solidFill>
            </a:ln>
          </c:spPr>
          <c:marker>
            <c:symbol val="circle"/>
            <c:size val="7"/>
            <c:spPr>
              <a:solidFill xmlns:a="http://schemas.openxmlformats.org/drawingml/2006/main">
                <a:srgbClr val="8552A0"/>
              </a:solidFill>
            </c:spPr>
          </c:marker>
          <c:cat>
            <c:numRef>
              <c:f>'Chart Data'!$G$2:$G$5</c:f>
              <c:numCache>
                <c:formatCode>General</c:formatCode>
                <c:ptCount val="4"/>
                <c:pt idx="0">
                  <c:v>0</c:v>
                </c:pt>
                <c:pt idx="1">
                  <c:v>24</c:v>
                </c:pt>
                <c:pt idx="2">
                  <c:v>48</c:v>
                </c:pt>
                <c:pt idx="3">
                  <c:v>72</c:v>
                </c:pt>
              </c:numCache>
            </c:numRef>
          </c:cat>
          <c:val>
            <c:numRef>
              <c:f>'Chart Data'!$H$2:$H$5</c:f>
              <c:numCache>
                <c:formatCode>0.0</c:formatCode>
                <c:ptCount val="4"/>
                <c:pt idx="0">
                  <c:v>1.087103</c:v>
                </c:pt>
                <c:pt idx="1">
                  <c:v>0.796262</c:v>
                </c:pt>
                <c:pt idx="2">
                  <c:v>0.665047</c:v>
                </c:pt>
                <c:pt idx="3">
                  <c:v>0.571589</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Labelled TRAIN pages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4E8"/>
            </a:solidFill>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72768"/>
      </c:catAx>
      <c:valAx>
        <c:axId val="48672768"/>
        <c:scaling>
          <c:orientation val="minMax"/>
          <c:max val="1.2"/>
          <c:min val="0"/>
        </c:scaling>
        <c:delete val="0"/>
        <c:axPos val="l"/>
        <c:majorGridlines>
          <c:spPr>
            <a:ln xmlns:a="http://schemas.openxmlformats.org/drawingml/2006/main" w="9525">
              <a:solidFill>
                <a:srgbClr val="DC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50112"/>
        <c:crossBetween val="between"/>
        <c:majorUnit val="0.2"/>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52C40"/>
              </a:solidFill>
              <a:latin typeface="Helvetica Neue"/>
              <a:ea typeface="Helvetica Neue"/>
              <a:cs typeface="Helvetica Neue"/>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C4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473275-3FDC-4359-A508-1E9023078ADE}"/>
              </a:ext>
            </a:extLst>
          </p:cNvPr>
          <p:cNvSpPr>
            <a:spLocks xmlns:a="http://schemas.openxmlformats.org/drawingml/2006/main" noGrp="1"/>
          </p:cNvSpPr>
          <p:nvPr/>
        </p:nvSpPr>
        <p:spPr>
          <a:xfrm xmlns:a="http://schemas.openxmlformats.org/drawingml/2006/main">
            <a:off x="666750" y="5905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8ED7D2"/>
                </a:solidFill>
                <a:latin typeface="Helvetica Neue"/>
                <a:ea typeface="Helvetica Neue"/>
                <a:cs typeface="Helvetica Neue"/>
              </a:defRPr>
            </a:pPr>
            <a:r>
              <a:rPr sz="1575" b="1">
                <a:solidFill>
                  <a:srgbClr val="8ED7D2"/>
                </a:solidFill>
                <a:latin typeface="Helvetica Neue"/>
                <a:ea typeface="Helvetica Neue"/>
                <a:cs typeface="Helvetica Neue"/>
              </a:rPr>
              <a:t>FYP RESEARCH PROGRESS · 27 SEPTEMBER 2026</a:t>
            </a:r>
          </a:p>
        </p:txBody>
      </p:sp>
      <p:sp>
        <p:nvSpPr>
          <p:cNvPr id="2" name="">
            <a:extLst xmlns:a="http://schemas.openxmlformats.org/drawingml/2006/main">
              <a:ext uri="{FF2B5EF4-FFF2-40B4-BE49-F238E27FC236}">
                <a16:creationId xmlns:a16="http://schemas.microsoft.com/office/drawing/2014/main" id="{760FD6FB-D857-4E29-B1F5-64FB11B09848}"/>
              </a:ext>
            </a:extLst>
          </p:cNvPr>
          <p:cNvSpPr>
            <a:spLocks xmlns:a="http://schemas.openxmlformats.org/drawingml/2006/main" noGrp="1"/>
          </p:cNvSpPr>
          <p:nvPr/>
        </p:nvSpPr>
        <p:spPr>
          <a:xfrm xmlns:a="http://schemas.openxmlformats.org/drawingml/2006/main">
            <a:off x="666750" y="1619250"/>
            <a:ext cx="10382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Active learning for</a:t>
            </a:r>
          </a:p>
          <a:p xmlns:a="http://schemas.openxmlformats.org/drawingml/2006/main">
            <a:pPr algn="l">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historical OCR</a:t>
            </a:r>
          </a:p>
        </p:txBody>
      </p:sp>
      <p:sp>
        <p:nvSpPr>
          <p:cNvPr id="3" name="">
            <a:extLst xmlns:a="http://schemas.openxmlformats.org/drawingml/2006/main">
              <a:ext uri="{FF2B5EF4-FFF2-40B4-BE49-F238E27FC236}">
                <a16:creationId xmlns:a16="http://schemas.microsoft.com/office/drawing/2014/main" id="{A1DD0457-EE21-4C0B-A837-5AAEE1124502}"/>
              </a:ext>
            </a:extLst>
          </p:cNvPr>
          <p:cNvSpPr>
            <a:spLocks xmlns:a="http://schemas.openxmlformats.org/drawingml/2006/main" noGrp="1"/>
          </p:cNvSpPr>
          <p:nvPr/>
        </p:nvSpPr>
        <p:spPr>
          <a:xfrm xmlns:a="http://schemas.openxmlformats.org/drawingml/2006/main">
            <a:off x="704850" y="36957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DCE8EF"/>
                </a:solidFill>
                <a:latin typeface="Helvetica Neue"/>
                <a:ea typeface="Helvetica Neue"/>
                <a:cs typeface="Helvetica Neue"/>
              </a:defRPr>
            </a:pPr>
            <a:r>
              <a:rPr sz="2250" b="0">
                <a:solidFill>
                  <a:srgbClr val="DCE8EF"/>
                </a:solidFill>
                <a:latin typeface="Helvetica Neue"/>
                <a:ea typeface="Helvetica Neue"/>
                <a:cs typeface="Helvetica Neue"/>
              </a:rPr>
              <a:t>Can better page selection reduce the labelled data needed</a:t>
            </a:r>
          </a:p>
          <a:p xmlns:a="http://schemas.openxmlformats.org/drawingml/2006/main">
            <a:pPr algn="l">
              <a:defRPr sz="2250" b="0">
                <a:solidFill>
                  <a:srgbClr val="DCE8EF"/>
                </a:solidFill>
                <a:latin typeface="Helvetica Neue"/>
                <a:ea typeface="Helvetica Neue"/>
                <a:cs typeface="Helvetica Neue"/>
              </a:defRPr>
            </a:pPr>
            <a:r>
              <a:rPr sz="2250" b="0">
                <a:solidFill>
                  <a:srgbClr val="DCE8EF"/>
                </a:solidFill>
                <a:latin typeface="Helvetica Neue"/>
                <a:ea typeface="Helvetica Neue"/>
                <a:cs typeface="Helvetica Neue"/>
              </a:rPr>
              <a:t>to adapt small vision-language models?</a:t>
            </a:r>
          </a:p>
        </p:txBody>
      </p:sp>
      <p:sp>
        <p:nvSpPr>
          <p:cNvPr id="4" name="">
            <a:extLst xmlns:a="http://schemas.openxmlformats.org/drawingml/2006/main">
              <a:ext uri="{FF2B5EF4-FFF2-40B4-BE49-F238E27FC236}">
                <a16:creationId xmlns:a16="http://schemas.microsoft.com/office/drawing/2014/main" id="{B0E8B2AD-CE61-486B-B3FC-3A8FB5771E16}"/>
              </a:ext>
            </a:extLst>
          </p:cNvPr>
          <p:cNvSpPr>
            <a:spLocks xmlns:a="http://schemas.openxmlformats.org/drawingml/2006/main" noGrp="1"/>
          </p:cNvSpPr>
          <p:nvPr/>
        </p:nvSpPr>
        <p:spPr>
          <a:xfrm xmlns:a="http://schemas.openxmlformats.org/drawingml/2006/main">
            <a:off x="704850" y="54292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A8BEC9"/>
                </a:solidFill>
                <a:latin typeface="Helvetica Neue"/>
                <a:ea typeface="Helvetica Neue"/>
                <a:cs typeface="Helvetica Neue"/>
              </a:defRPr>
            </a:pPr>
            <a:r>
              <a:rPr sz="1875" b="0">
                <a:solidFill>
                  <a:srgbClr val="A8BEC9"/>
                </a:solidFill>
                <a:latin typeface="Helvetica Neue"/>
                <a:ea typeface="Helvetica Neue"/>
                <a:cs typeface="Helvetica Neue"/>
              </a:rPr>
              <a:t>Evidence through EXP-013 · READ2016 / Bozen</a:t>
            </a:r>
          </a:p>
        </p:txBody>
      </p:sp>
    </p:spTree>
    <p:extLst>
      <p:ext uri="{BB962C8B-B14F-4D97-AF65-F5344CB8AC3E}">
        <p14:creationId xmlns:p14="http://schemas.microsoft.com/office/powerpoint/2010/main" val="400400108"/>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91E0DEC-E339-4668-AE68-E9EA04B31DB6}"/>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RESEARCH SETUP</a:t>
            </a:r>
          </a:p>
        </p:txBody>
      </p:sp>
      <p:sp>
        <p:nvSpPr>
          <p:cNvPr id="2" name="">
            <a:extLst xmlns:a="http://schemas.openxmlformats.org/drawingml/2006/main">
              <a:ext uri="{FF2B5EF4-FFF2-40B4-BE49-F238E27FC236}">
                <a16:creationId xmlns:a16="http://schemas.microsoft.com/office/drawing/2014/main" id="{93F36B43-9FFD-4B6D-9C75-7ADBEB2B2A68}"/>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Dataset and the unit of annotation</a:t>
            </a:r>
          </a:p>
        </p:txBody>
      </p:sp>
      <p:sp>
        <p:nvSpPr>
          <p:cNvPr id="3" name="">
            <a:extLst xmlns:a="http://schemas.openxmlformats.org/drawingml/2006/main">
              <a:ext uri="{FF2B5EF4-FFF2-40B4-BE49-F238E27FC236}">
                <a16:creationId xmlns:a16="http://schemas.microsoft.com/office/drawing/2014/main" id="{F52113C2-F091-425B-9E93-9690A6899021}"/>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F9434278-EFCE-44F4-9460-F95234F9B8CF}"/>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Source: READ2016 / Bozen v1.2.0 · Toselli et al. · CC BY 4.0</a:t>
            </a:r>
          </a:p>
        </p:txBody>
      </p:sp>
      <p:sp>
        <p:nvSpPr>
          <p:cNvPr id="5" name="">
            <a:extLst xmlns:a="http://schemas.openxmlformats.org/drawingml/2006/main">
              <a:ext uri="{FF2B5EF4-FFF2-40B4-BE49-F238E27FC236}">
                <a16:creationId xmlns:a16="http://schemas.microsoft.com/office/drawing/2014/main" id="{404BC09B-99C4-4E49-9253-A8833229D7EF}"/>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02</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c66750ef2184067"/>
          <a:stretch xmlns:a="http://schemas.openxmlformats.org/drawingml/2006/main"/>
        </p:blipFill>
        <p:spPr>
          <a:xfrm xmlns:a="http://schemas.openxmlformats.org/drawingml/2006/main">
            <a:off x="635051" y="1552575"/>
            <a:ext cx="2873273" cy="43148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E924994-A798-46AB-9361-4642C0F7556E}"/>
              </a:ext>
            </a:extLst>
          </p:cNvPr>
          <p:cNvSpPr>
            <a:spLocks xmlns:a="http://schemas.openxmlformats.org/drawingml/2006/main" noGrp="1"/>
          </p:cNvSpPr>
          <p:nvPr/>
        </p:nvSpPr>
        <p:spPr>
          <a:xfrm xmlns:a="http://schemas.openxmlformats.org/drawingml/2006/main">
            <a:off x="3905250" y="1581150"/>
            <a:ext cx="752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52C40"/>
                </a:solidFill>
                <a:latin typeface="Helvetica Neue"/>
                <a:ea typeface="Helvetica Neue"/>
                <a:cs typeface="Helvetica Neue"/>
              </a:defRPr>
            </a:pPr>
            <a:r>
              <a:rPr sz="2100" b="1">
                <a:solidFill>
                  <a:srgbClr val="152C40"/>
                </a:solidFill>
                <a:latin typeface="Helvetica Neue"/>
                <a:ea typeface="Helvetica Neue"/>
                <a:cs typeface="Helvetica Neue"/>
              </a:rPr>
              <a:t>Historical German handwriting</a:t>
            </a:r>
          </a:p>
        </p:txBody>
      </p:sp>
      <p:graphicFrame>
        <p:nvGraphicFramePr>
          <p:cNvPr id="19" name=""/>
          <p:cNvGraphicFramePr/>
          <p:nvPr/>
        </p:nvGraphicFramePr>
        <p:xfrm>
          <a:off xmlns:a="http://schemas.openxmlformats.org/drawingml/2006/main" x="3905250" y="2181225"/>
          <a:ext xmlns:a="http://schemas.openxmlformats.org/drawingml/2006/main" cx="7524750" cy="1714500"/>
        </p:xfrm>
        <a:graphic xmlns:a="http://schemas.openxmlformats.org/drawingml/2006/main">
          <a:graphicData uri="http://schemas.openxmlformats.org/drawingml/2006/table">
            <a:tbl>
              <a:tblPr/>
              <a:tblGrid>
                <a:gridCol w="3714750"/>
                <a:gridCol w="1714500"/>
                <a:gridCol w="2095500"/>
              </a:tblGrid>
              <a:tr h="571500">
                <a:tc>
                  <a:txBody>
                    <a:bodyPr/>
                    <a:lstStyle/>
                    <a:p>
                      <a:r>
                        <a:rPr sz="1575" b="1">
                          <a:solidFill>
                            <a:srgbClr val="FFFFFF"/>
                          </a:solidFill>
                          <a:latin typeface="Helvetica Neue"/>
                          <a:ea typeface="Helvetica Neue"/>
                          <a:cs typeface="Helvetica Neue"/>
                        </a:rPr>
                        <a:t>Official split</a:t>
                      </a:r>
                    </a:p>
                  </a:txBody>
                  <a:tcPr marL="114300" marR="114300" marT="95250" marB="95250" anchor="ctr">
                    <a:solidFill>
                      <a:srgbClr val="152C40"/>
                    </a:solidFill>
                  </a:tcPr>
                </a:tc>
                <a:tc>
                  <a:txBody>
                    <a:bodyPr/>
                    <a:lstStyle/>
                    <a:p>
                      <a:r>
                        <a:rPr sz="1575" b="1">
                          <a:solidFill>
                            <a:srgbClr val="FFFFFF"/>
                          </a:solidFill>
                          <a:latin typeface="Helvetica Neue"/>
                          <a:ea typeface="Helvetica Neue"/>
                          <a:cs typeface="Helvetica Neue"/>
                        </a:rPr>
                        <a:t>Pages</a:t>
                      </a:r>
                    </a:p>
                  </a:txBody>
                  <a:tcPr marL="114300" marR="114300" marT="95250" marB="95250" anchor="ctr">
                    <a:solidFill>
                      <a:srgbClr val="152C40"/>
                    </a:solidFill>
                  </a:tcPr>
                </a:tc>
                <a:tc>
                  <a:txBody>
                    <a:bodyPr/>
                    <a:lstStyle/>
                    <a:p>
                      <a:r>
                        <a:rPr sz="1575" b="1">
                          <a:solidFill>
                            <a:srgbClr val="FFFFFF"/>
                          </a:solidFill>
                          <a:latin typeface="Helvetica Neue"/>
                          <a:ea typeface="Helvetica Neue"/>
                          <a:cs typeface="Helvetica Neue"/>
                        </a:rPr>
                        <a:t>Text lines</a:t>
                      </a:r>
                    </a:p>
                  </a:txBody>
                  <a:tcPr marL="114300" marR="114300" marT="95250" marB="95250" anchor="ctr">
                    <a:solidFill>
                      <a:srgbClr val="152C40"/>
                    </a:solidFill>
                  </a:tcPr>
                </a:tc>
              </a:tr>
              <a:tr h="571500">
                <a:tc>
                  <a:txBody>
                    <a:bodyPr/>
                    <a:lstStyle/>
                    <a:p>
                      <a:r>
                        <a:rPr sz="1650">
                          <a:solidFill>
                            <a:srgbClr val="152C40"/>
                          </a:solidFill>
                          <a:latin typeface="Helvetica Neue"/>
                          <a:ea typeface="Helvetica Neue"/>
                          <a:cs typeface="Helvetica Neue"/>
                        </a:rPr>
                        <a:t>TRAIN pool</a:t>
                      </a:r>
                    </a:p>
                  </a:txBody>
                  <a:tcPr marL="114300" marR="114300" marT="95250" marB="95250" anchor="ctr">
                    <a:solidFill>
                      <a:srgbClr val="FFFFFF"/>
                    </a:solidFill>
                  </a:tcPr>
                </a:tc>
                <a:tc>
                  <a:txBody>
                    <a:bodyPr/>
                    <a:lstStyle/>
                    <a:p>
                      <a:r>
                        <a:rPr sz="1650">
                          <a:solidFill>
                            <a:srgbClr val="152C40"/>
                          </a:solidFill>
                          <a:latin typeface="Helvetica Neue"/>
                          <a:ea typeface="Helvetica Neue"/>
                          <a:cs typeface="Helvetica Neue"/>
                        </a:rPr>
                        <a:t>350</a:t>
                      </a:r>
                    </a:p>
                  </a:txBody>
                  <a:tcPr marL="114300" marR="114300" marT="95250" marB="95250" anchor="ctr">
                    <a:solidFill>
                      <a:srgbClr val="FFFFFF"/>
                    </a:solidFill>
                  </a:tcPr>
                </a:tc>
                <a:tc>
                  <a:txBody>
                    <a:bodyPr/>
                    <a:lstStyle/>
                    <a:p>
                      <a:r>
                        <a:rPr sz="1650">
                          <a:solidFill>
                            <a:srgbClr val="152C40"/>
                          </a:solidFill>
                          <a:latin typeface="Helvetica Neue"/>
                          <a:ea typeface="Helvetica Neue"/>
                          <a:cs typeface="Helvetica Neue"/>
                        </a:rPr>
                        <a:t>8,367</a:t>
                      </a:r>
                    </a:p>
                  </a:txBody>
                  <a:tcPr marL="114300" marR="114300" marT="95250" marB="95250" anchor="ctr">
                    <a:solidFill>
                      <a:srgbClr val="FFFFFF"/>
                    </a:solidFill>
                  </a:tcPr>
                </a:tc>
              </a:tr>
              <a:tr h="571500">
                <a:tc>
                  <a:txBody>
                    <a:bodyPr/>
                    <a:lstStyle/>
                    <a:p>
                      <a:r>
                        <a:rPr sz="1650">
                          <a:solidFill>
                            <a:srgbClr val="152C40"/>
                          </a:solidFill>
                          <a:latin typeface="Helvetica Neue"/>
                          <a:ea typeface="Helvetica Neue"/>
                          <a:cs typeface="Helvetica Neue"/>
                        </a:rPr>
                        <a:t>VAL</a:t>
                      </a:r>
                    </a:p>
                  </a:txBody>
                  <a:tcPr marL="114300" marR="114300" marT="95250" marB="95250" anchor="ctr">
                    <a:solidFill>
                      <a:srgbClr val="EEF3F5"/>
                    </a:solidFill>
                  </a:tcPr>
                </a:tc>
                <a:tc>
                  <a:txBody>
                    <a:bodyPr/>
                    <a:lstStyle/>
                    <a:p>
                      <a:r>
                        <a:rPr sz="1650">
                          <a:solidFill>
                            <a:srgbClr val="152C40"/>
                          </a:solidFill>
                          <a:latin typeface="Helvetica Neue"/>
                          <a:ea typeface="Helvetica Neue"/>
                          <a:cs typeface="Helvetica Neue"/>
                        </a:rPr>
                        <a:t>50</a:t>
                      </a:r>
                    </a:p>
                  </a:txBody>
                  <a:tcPr marL="114300" marR="114300" marT="95250" marB="95250" anchor="ctr">
                    <a:solidFill>
                      <a:srgbClr val="EEF3F5"/>
                    </a:solidFill>
                  </a:tcPr>
                </a:tc>
                <a:tc>
                  <a:txBody>
                    <a:bodyPr/>
                    <a:lstStyle/>
                    <a:p>
                      <a:r>
                        <a:rPr sz="1650">
                          <a:solidFill>
                            <a:srgbClr val="152C40"/>
                          </a:solidFill>
                          <a:latin typeface="Helvetica Neue"/>
                          <a:ea typeface="Helvetica Neue"/>
                          <a:cs typeface="Helvetica Neue"/>
                        </a:rPr>
                        <a:t>1,043</a:t>
                      </a:r>
                    </a:p>
                  </a:txBody>
                  <a:tcPr marL="114300" marR="114300" marT="95250" marB="95250" anchor="ctr">
                    <a:solidFill>
                      <a:srgbClr val="EEF3F5"/>
                    </a:solidFill>
                  </a:tcPr>
                </a:tc>
              </a:tr>
            </a:tbl>
          </a:graphicData>
        </a:graphic>
      </p:graphicFrame>
      <p:sp>
        <p:nvSpPr>
          <p:cNvPr id="9" name="">
            <a:extLst xmlns:a="http://schemas.openxmlformats.org/drawingml/2006/main">
              <a:ext uri="{FF2B5EF4-FFF2-40B4-BE49-F238E27FC236}">
                <a16:creationId xmlns:a16="http://schemas.microsoft.com/office/drawing/2014/main" id="{94D3322F-91A1-4D14-B7CB-58F3B1960BF1}"/>
              </a:ext>
            </a:extLst>
          </p:cNvPr>
          <p:cNvSpPr>
            <a:spLocks xmlns:a="http://schemas.openxmlformats.org/drawingml/2006/main" noGrp="1"/>
          </p:cNvSpPr>
          <p:nvPr/>
        </p:nvSpPr>
        <p:spPr>
          <a:xfrm xmlns:a="http://schemas.openxmlformats.org/drawingml/2006/main">
            <a:off x="3905250" y="4162425"/>
            <a:ext cx="7524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08A87"/>
                </a:solidFill>
                <a:latin typeface="Helvetica Neue"/>
                <a:ea typeface="Helvetica Neue"/>
                <a:cs typeface="Helvetica Neue"/>
              </a:defRPr>
            </a:pPr>
            <a:r>
              <a:rPr sz="1950" b="1">
                <a:solidFill>
                  <a:srgbClr val="008A87"/>
                </a:solidFill>
                <a:latin typeface="Helvetica Neue"/>
                <a:ea typeface="Helvetica Neue"/>
                <a:cs typeface="Helvetica Neue"/>
              </a:rPr>
              <a:t>Select one TRAIN page → reveal every line transcript</a:t>
            </a:r>
          </a:p>
        </p:txBody>
      </p:sp>
      <p:sp>
        <p:nvSpPr>
          <p:cNvPr id="10" name="">
            <a:extLst xmlns:a="http://schemas.openxmlformats.org/drawingml/2006/main">
              <a:ext uri="{FF2B5EF4-FFF2-40B4-BE49-F238E27FC236}">
                <a16:creationId xmlns:a16="http://schemas.microsoft.com/office/drawing/2014/main" id="{4F0D74E7-D44F-43C4-84E2-AAF726116070}"/>
              </a:ext>
            </a:extLst>
          </p:cNvPr>
          <p:cNvSpPr>
            <a:spLocks xmlns:a="http://schemas.openxmlformats.org/drawingml/2006/main" noGrp="1"/>
          </p:cNvSpPr>
          <p:nvPr/>
        </p:nvSpPr>
        <p:spPr>
          <a:xfrm xmlns:a="http://schemas.openxmlformats.org/drawingml/2006/main">
            <a:off x="3905250" y="4895850"/>
            <a:ext cx="7524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Existing true labels simulate annotation.</a:t>
            </a:r>
          </a:p>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Model scoring sees images; VAL truth stays with the evaluator.</a:t>
            </a:r>
          </a:p>
        </p:txBody>
      </p:sp>
      <p:sp>
        <p:nvSpPr>
          <p:cNvPr id="11" name="">
            <a:extLst xmlns:a="http://schemas.openxmlformats.org/drawingml/2006/main">
              <a:ext uri="{FF2B5EF4-FFF2-40B4-BE49-F238E27FC236}">
                <a16:creationId xmlns:a16="http://schemas.microsoft.com/office/drawing/2014/main" id="{2013BBE3-EAF8-416F-9844-201EDD7EFCF3}"/>
              </a:ext>
            </a:extLst>
          </p:cNvPr>
          <p:cNvSpPr>
            <a:spLocks xmlns:a="http://schemas.openxmlformats.org/drawingml/2006/main" noGrp="1"/>
          </p:cNvSpPr>
          <p:nvPr/>
        </p:nvSpPr>
        <p:spPr>
          <a:xfrm xmlns:a="http://schemas.openxmlformats.org/drawingml/2006/main">
            <a:off x="609600" y="58959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776"/>
                </a:solidFill>
                <a:latin typeface="Helvetica Neue"/>
                <a:ea typeface="Helvetica Neue"/>
                <a:cs typeface="Helvetica Neue"/>
              </a:defRPr>
            </a:pPr>
            <a:r>
              <a:rPr sz="1500" b="0">
                <a:solidFill>
                  <a:srgbClr val="526776"/>
                </a:solidFill>
                <a:latin typeface="Helvetica Neue"/>
                <a:ea typeface="Helvetica Neue"/>
                <a:cs typeface="Helvetica Neue"/>
              </a:rPr>
              <a:t>8 VAL pages for recipe checks · 42 fixed VAL pages for reported curves</a:t>
            </a:r>
          </a:p>
        </p:txBody>
      </p:sp>
    </p:spTree>
    <p:extLst>
      <p:ext uri="{BB962C8B-B14F-4D97-AF65-F5344CB8AC3E}">
        <p14:creationId xmlns:p14="http://schemas.microsoft.com/office/powerpoint/2010/main" val="1749250871"/>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9903A30-2E99-48F7-875D-1221726BA5E9}"/>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ENGINEERING STRUCTURE</a:t>
            </a:r>
          </a:p>
        </p:txBody>
      </p:sp>
      <p:sp>
        <p:nvSpPr>
          <p:cNvPr id="2" name="">
            <a:extLst xmlns:a="http://schemas.openxmlformats.org/drawingml/2006/main">
              <a:ext uri="{FF2B5EF4-FFF2-40B4-BE49-F238E27FC236}">
                <a16:creationId xmlns:a16="http://schemas.microsoft.com/office/drawing/2014/main" id="{6C843BC4-F851-4CE1-9E6F-2F6FA9027B7D}"/>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The active-learning pipeline</a:t>
            </a:r>
          </a:p>
        </p:txBody>
      </p:sp>
      <p:sp>
        <p:nvSpPr>
          <p:cNvPr id="3" name="">
            <a:extLst xmlns:a="http://schemas.openxmlformats.org/drawingml/2006/main">
              <a:ext uri="{FF2B5EF4-FFF2-40B4-BE49-F238E27FC236}">
                <a16:creationId xmlns:a16="http://schemas.microsoft.com/office/drawing/2014/main" id="{9A1860A5-B15F-40C2-B1ED-D2C9F61BFD5F}"/>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C90AC706-48C1-43D0-8811-58201791DF5C}"/>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Maintained tools: Hugging Face Transformers + PyTorch + PEFT LoRA · Modal GPUs</a:t>
            </a:r>
          </a:p>
        </p:txBody>
      </p:sp>
      <p:sp>
        <p:nvSpPr>
          <p:cNvPr id="5" name="">
            <a:extLst xmlns:a="http://schemas.openxmlformats.org/drawingml/2006/main">
              <a:ext uri="{FF2B5EF4-FFF2-40B4-BE49-F238E27FC236}">
                <a16:creationId xmlns:a16="http://schemas.microsoft.com/office/drawing/2014/main" id="{D4E78181-71EF-4152-A343-32F8561E08B3}"/>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E1C4DAFC-3541-438A-9BCA-9744DD48D76F}"/>
              </a:ext>
            </a:extLst>
          </p:cNvPr>
          <p:cNvSpPr>
            <a:spLocks xmlns:a="http://schemas.openxmlformats.org/drawingml/2006/main" noGrp="1"/>
          </p:cNvSpPr>
          <p:nvPr/>
        </p:nvSpPr>
        <p:spPr>
          <a:xfrm xmlns:a="http://schemas.openxmlformats.org/drawingml/2006/main">
            <a:off x="628650" y="1724025"/>
            <a:ext cx="192405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Page images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 fixed split</a:t>
            </a:r>
          </a:p>
        </p:txBody>
      </p:sp>
      <p:sp>
        <p:nvSpPr>
          <p:cNvPr id="7" name="">
            <a:extLst xmlns:a="http://schemas.openxmlformats.org/drawingml/2006/main">
              <a:ext uri="{FF2B5EF4-FFF2-40B4-BE49-F238E27FC236}">
                <a16:creationId xmlns:a16="http://schemas.microsoft.com/office/drawing/2014/main" id="{92DCABD5-F886-4908-A370-A95A564D042E}"/>
              </a:ext>
            </a:extLst>
          </p:cNvPr>
          <p:cNvSpPr>
            <a:spLocks xmlns:a="http://schemas.openxmlformats.org/drawingml/2006/main" noGrp="1"/>
          </p:cNvSpPr>
          <p:nvPr/>
        </p:nvSpPr>
        <p:spPr>
          <a:xfrm xmlns:a="http://schemas.openxmlformats.org/drawingml/2006/main">
            <a:off x="2952750" y="1724025"/>
            <a:ext cx="205740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Score remaining</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TRAIN pages</a:t>
            </a:r>
          </a:p>
        </p:txBody>
      </p:sp>
      <p:sp>
        <p:nvSpPr>
          <p:cNvPr id="8" name="">
            <a:extLst xmlns:a="http://schemas.openxmlformats.org/drawingml/2006/main">
              <a:ext uri="{FF2B5EF4-FFF2-40B4-BE49-F238E27FC236}">
                <a16:creationId xmlns:a16="http://schemas.microsoft.com/office/drawing/2014/main" id="{4AEE2610-1019-43F9-B2C1-D64B39EE396F}"/>
              </a:ext>
            </a:extLst>
          </p:cNvPr>
          <p:cNvSpPr>
            <a:spLocks xmlns:a="http://schemas.openxmlformats.org/drawingml/2006/main" noGrp="1"/>
          </p:cNvSpPr>
          <p:nvPr/>
        </p:nvSpPr>
        <p:spPr>
          <a:xfrm xmlns:a="http://schemas.openxmlformats.org/drawingml/2006/main">
            <a:off x="5419725" y="1724025"/>
            <a:ext cx="184785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Select page</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batch</a:t>
            </a:r>
          </a:p>
        </p:txBody>
      </p:sp>
      <p:sp>
        <p:nvSpPr>
          <p:cNvPr id="9" name="">
            <a:extLst xmlns:a="http://schemas.openxmlformats.org/drawingml/2006/main">
              <a:ext uri="{FF2B5EF4-FFF2-40B4-BE49-F238E27FC236}">
                <a16:creationId xmlns:a16="http://schemas.microsoft.com/office/drawing/2014/main" id="{12488B07-BDCD-49DE-8679-FC5A05C534D4}"/>
              </a:ext>
            </a:extLst>
          </p:cNvPr>
          <p:cNvSpPr>
            <a:spLocks xmlns:a="http://schemas.openxmlformats.org/drawingml/2006/main" noGrp="1"/>
          </p:cNvSpPr>
          <p:nvPr/>
        </p:nvSpPr>
        <p:spPr>
          <a:xfrm xmlns:a="http://schemas.openxmlformats.org/drawingml/2006/main">
            <a:off x="7686675" y="1724025"/>
            <a:ext cx="2047875"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Reveal selected</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true transcripts</a:t>
            </a:r>
          </a:p>
        </p:txBody>
      </p:sp>
      <p:cxnSp>
        <p:nvCxnSpPr>
          <p:cNvPr id="32" name=""/>
          <p:cNvCxnSpPr>
            <a:stCxn xmlns:a="http://schemas.openxmlformats.org/drawingml/2006/main" id="6" idx="3"/>
            <a:endCxn xmlns:a="http://schemas.openxmlformats.org/drawingml/2006/main" id="7" idx="1"/>
          </p:cNvCxnSpPr>
          <p:nvPr/>
        </p:nvCxnSpPr>
        <p:spPr>
          <a:xfrm xmlns:a="http://schemas.openxmlformats.org/drawingml/2006/main">
            <a:off x="2552700" y="2114550"/>
            <a:ext cx="400050" cy="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33" name=""/>
          <p:cNvCxnSpPr>
            <a:stCxn xmlns:a="http://schemas.openxmlformats.org/drawingml/2006/main" id="7" idx="3"/>
            <a:endCxn xmlns:a="http://schemas.openxmlformats.org/drawingml/2006/main" id="8" idx="1"/>
          </p:cNvCxnSpPr>
          <p:nvPr/>
        </p:nvCxnSpPr>
        <p:spPr>
          <a:xfrm xmlns:a="http://schemas.openxmlformats.org/drawingml/2006/main">
            <a:off x="5010150" y="2114550"/>
            <a:ext cx="409575" cy="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34" name=""/>
          <p:cNvCxnSpPr>
            <a:stCxn xmlns:a="http://schemas.openxmlformats.org/drawingml/2006/main" id="8" idx="3"/>
            <a:endCxn xmlns:a="http://schemas.openxmlformats.org/drawingml/2006/main" id="9" idx="1"/>
          </p:cNvCxnSpPr>
          <p:nvPr/>
        </p:nvCxnSpPr>
        <p:spPr>
          <a:xfrm xmlns:a="http://schemas.openxmlformats.org/drawingml/2006/main">
            <a:off x="7267575" y="2114550"/>
            <a:ext cx="419100" cy="0"/>
          </a:xfrm>
          <a:prstGeom xmlns:a="http://schemas.openxmlformats.org/drawingml/2006/main" prst="straightConnector1">
            <a:avLst/>
          </a:prstGeom>
          <a:ln xmlns:a="http://schemas.openxmlformats.org/drawingml/2006/main" w="19050">
            <a:solidFill>
              <a:srgbClr val="526776"/>
            </a:solidFill>
            <a:tailEnd type="triangle" w="sm" len="sm"/>
          </a:ln>
        </p:spPr>
      </p:cxnSp>
      <p:sp>
        <p:nvSpPr>
          <p:cNvPr id="13" name="">
            <a:extLst xmlns:a="http://schemas.openxmlformats.org/drawingml/2006/main">
              <a:ext uri="{FF2B5EF4-FFF2-40B4-BE49-F238E27FC236}">
                <a16:creationId xmlns:a16="http://schemas.microsoft.com/office/drawing/2014/main" id="{750FCD9C-384D-4FC8-9077-90773565CDA5}"/>
              </a:ext>
            </a:extLst>
          </p:cNvPr>
          <p:cNvSpPr>
            <a:spLocks xmlns:a="http://schemas.openxmlformats.org/drawingml/2006/main" noGrp="1"/>
          </p:cNvSpPr>
          <p:nvPr/>
        </p:nvSpPr>
        <p:spPr>
          <a:xfrm xmlns:a="http://schemas.openxmlformats.org/drawingml/2006/main">
            <a:off x="7667625" y="3533775"/>
            <a:ext cx="2066925" cy="866775"/>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Fresh base model</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 new LoRA fit</a:t>
            </a:r>
          </a:p>
        </p:txBody>
      </p:sp>
      <p:sp>
        <p:nvSpPr>
          <p:cNvPr id="14" name="">
            <a:extLst xmlns:a="http://schemas.openxmlformats.org/drawingml/2006/main">
              <a:ext uri="{FF2B5EF4-FFF2-40B4-BE49-F238E27FC236}">
                <a16:creationId xmlns:a16="http://schemas.microsoft.com/office/drawing/2014/main" id="{8907F365-2E06-410F-AFEE-E5AC9099FEE0}"/>
              </a:ext>
            </a:extLst>
          </p:cNvPr>
          <p:cNvSpPr>
            <a:spLocks xmlns:a="http://schemas.openxmlformats.org/drawingml/2006/main" noGrp="1"/>
          </p:cNvSpPr>
          <p:nvPr/>
        </p:nvSpPr>
        <p:spPr>
          <a:xfrm xmlns:a="http://schemas.openxmlformats.org/drawingml/2006/main">
            <a:off x="4638675" y="3533775"/>
            <a:ext cx="2314575" cy="866775"/>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Evaluate fixed VAL</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 save adapter</a:t>
            </a:r>
          </a:p>
        </p:txBody>
      </p:sp>
      <p:sp>
        <p:nvSpPr>
          <p:cNvPr id="15" name="">
            <a:extLst xmlns:a="http://schemas.openxmlformats.org/drawingml/2006/main">
              <a:ext uri="{FF2B5EF4-FFF2-40B4-BE49-F238E27FC236}">
                <a16:creationId xmlns:a16="http://schemas.microsoft.com/office/drawing/2014/main" id="{A0E33305-E562-4282-BB60-A67011FAC951}"/>
              </a:ext>
            </a:extLst>
          </p:cNvPr>
          <p:cNvSpPr>
            <a:spLocks xmlns:a="http://schemas.openxmlformats.org/drawingml/2006/main" noGrp="1"/>
          </p:cNvSpPr>
          <p:nvPr/>
        </p:nvSpPr>
        <p:spPr>
          <a:xfrm xmlns:a="http://schemas.openxmlformats.org/drawingml/2006/main">
            <a:off x="1200150" y="3533775"/>
            <a:ext cx="2619375" cy="866775"/>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Record CER/WER</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 selections + hashes</a:t>
            </a:r>
          </a:p>
        </p:txBody>
      </p:sp>
      <p:cxnSp>
        <p:nvCxnSpPr>
          <p:cNvPr id="38" name=""/>
          <p:cNvCxnSpPr>
            <a:stCxn xmlns:a="http://schemas.openxmlformats.org/drawingml/2006/main" id="9" idx="2"/>
            <a:endCxn xmlns:a="http://schemas.openxmlformats.org/drawingml/2006/main" id="13" idx="0"/>
          </p:cNvCxnSpPr>
          <p:nvPr/>
        </p:nvCxnSpPr>
        <p:spPr>
          <a:xfrm xmlns:a="http://schemas.openxmlformats.org/drawingml/2006/main" flipH="1">
            <a:off x="8701088" y="2505075"/>
            <a:ext cx="9525" cy="102870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39" name=""/>
          <p:cNvCxnSpPr>
            <a:stCxn xmlns:a="http://schemas.openxmlformats.org/drawingml/2006/main" id="13" idx="1"/>
            <a:endCxn xmlns:a="http://schemas.openxmlformats.org/drawingml/2006/main" id="14" idx="3"/>
          </p:cNvCxnSpPr>
          <p:nvPr/>
        </p:nvCxnSpPr>
        <p:spPr>
          <a:xfrm xmlns:a="http://schemas.openxmlformats.org/drawingml/2006/main" flipH="1">
            <a:off x="6953250" y="3967163"/>
            <a:ext cx="714375" cy="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40" name=""/>
          <p:cNvCxnSpPr>
            <a:stCxn xmlns:a="http://schemas.openxmlformats.org/drawingml/2006/main" id="14" idx="1"/>
            <a:endCxn xmlns:a="http://schemas.openxmlformats.org/drawingml/2006/main" id="15" idx="3"/>
          </p:cNvCxnSpPr>
          <p:nvPr/>
        </p:nvCxnSpPr>
        <p:spPr>
          <a:xfrm xmlns:a="http://schemas.openxmlformats.org/drawingml/2006/main" flipH="1">
            <a:off x="3819525" y="3967163"/>
            <a:ext cx="819150" cy="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41" name=""/>
          <p:cNvCxnSpPr>
            <a:stCxn xmlns:a="http://schemas.openxmlformats.org/drawingml/2006/main" id="14" idx="0"/>
            <a:endCxn xmlns:a="http://schemas.openxmlformats.org/drawingml/2006/main" id="7" idx="2"/>
          </p:cNvCxnSpPr>
          <p:nvPr/>
        </p:nvCxnSpPr>
        <p:spPr>
          <a:xfrm xmlns:a="http://schemas.openxmlformats.org/drawingml/2006/main" flipH="1" flipV="1">
            <a:off x="3981450" y="2505075"/>
            <a:ext cx="1814513" cy="1028700"/>
          </a:xfrm>
          <a:prstGeom xmlns:a="http://schemas.openxmlformats.org/drawingml/2006/main" prst="bentConnector4">
            <a:avLst>
              <a:gd name="adj1" fmla="val 0"/>
              <a:gd name="adj2" fmla="val 50000"/>
            </a:avLst>
          </a:prstGeom>
          <a:ln xmlns:a="http://schemas.openxmlformats.org/drawingml/2006/main" w="19050">
            <a:solidFill>
              <a:srgbClr val="008A87"/>
            </a:solidFill>
            <a:tailEnd type="triangle" w="med" len="med"/>
          </a:ln>
        </p:spPr>
      </p:cxnSp>
      <p:sp>
        <p:nvSpPr>
          <p:cNvPr id="20" name="">
            <a:extLst xmlns:a="http://schemas.openxmlformats.org/drawingml/2006/main">
              <a:ext uri="{FF2B5EF4-FFF2-40B4-BE49-F238E27FC236}">
                <a16:creationId xmlns:a16="http://schemas.microsoft.com/office/drawing/2014/main" id="{FF4D5719-C503-4F8B-B00D-358C9D4C6EC4}"/>
              </a:ext>
            </a:extLst>
          </p:cNvPr>
          <p:cNvSpPr>
            <a:spLocks xmlns:a="http://schemas.openxmlformats.org/drawingml/2006/main" noGrp="1"/>
          </p:cNvSpPr>
          <p:nvPr/>
        </p:nvSpPr>
        <p:spPr>
          <a:xfrm xmlns:a="http://schemas.openxmlformats.org/drawingml/2006/main">
            <a:off x="628650" y="27336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08A87"/>
                </a:solidFill>
                <a:latin typeface="Helvetica Neue"/>
                <a:ea typeface="Helvetica Neue"/>
                <a:cs typeface="Helvetica Neue"/>
              </a:defRPr>
            </a:pPr>
            <a:r>
              <a:rPr sz="1800" b="1">
                <a:solidFill>
                  <a:srgbClr val="008A87"/>
                </a:solidFill>
                <a:latin typeface="Helvetica Neue"/>
                <a:ea typeface="Helvetica Neue"/>
                <a:cs typeface="Helvetica Neue"/>
              </a:rPr>
              <a:t>Original model evaluated</a:t>
            </a:r>
          </a:p>
          <a:p xmlns:a="http://schemas.openxmlformats.org/drawingml/2006/main">
            <a:pPr algn="l">
              <a:defRPr sz="1800" b="1">
                <a:solidFill>
                  <a:srgbClr val="008A87"/>
                </a:solidFill>
                <a:latin typeface="Helvetica Neue"/>
                <a:ea typeface="Helvetica Neue"/>
                <a:cs typeface="Helvetica Neue"/>
              </a:defRPr>
            </a:pPr>
            <a:r>
              <a:rPr sz="1800" b="1">
                <a:solidFill>
                  <a:srgbClr val="008A87"/>
                </a:solidFill>
                <a:latin typeface="Helvetica Neue"/>
                <a:ea typeface="Helvetica Neue"/>
                <a:cs typeface="Helvetica Neue"/>
              </a:rPr>
              <a:t>at 0 labelled pages</a:t>
            </a:r>
          </a:p>
        </p:txBody>
      </p:sp>
      <p:sp>
        <p:nvSpPr>
          <p:cNvPr id="21" name="">
            <a:extLst xmlns:a="http://schemas.openxmlformats.org/drawingml/2006/main">
              <a:ext uri="{FF2B5EF4-FFF2-40B4-BE49-F238E27FC236}">
                <a16:creationId xmlns:a16="http://schemas.microsoft.com/office/drawing/2014/main" id="{4095445C-D262-41B9-B9AF-2E88AA80406A}"/>
              </a:ext>
            </a:extLst>
          </p:cNvPr>
          <p:cNvSpPr>
            <a:spLocks xmlns:a="http://schemas.openxmlformats.org/drawingml/2006/main" noGrp="1"/>
          </p:cNvSpPr>
          <p:nvPr/>
        </p:nvSpPr>
        <p:spPr>
          <a:xfrm xmlns:a="http://schemas.openxmlformats.org/drawingml/2006/main">
            <a:off x="609600" y="48768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Each round fits all acquired labels; later uncertainty uses that arm’s preceding adapter.</a:t>
            </a:r>
          </a:p>
        </p:txBody>
      </p:sp>
      <p:sp>
        <p:nvSpPr>
          <p:cNvPr id="22" name="">
            <a:extLst xmlns:a="http://schemas.openxmlformats.org/drawingml/2006/main">
              <a:ext uri="{FF2B5EF4-FFF2-40B4-BE49-F238E27FC236}">
                <a16:creationId xmlns:a16="http://schemas.microsoft.com/office/drawing/2014/main" id="{E2631A49-9FF5-4639-A6C0-1AE74DA7ED1D}"/>
              </a:ext>
            </a:extLst>
          </p:cNvPr>
          <p:cNvSpPr>
            <a:spLocks xmlns:a="http://schemas.openxmlformats.org/drawingml/2006/main" noGrp="1"/>
          </p:cNvSpPr>
          <p:nvPr/>
        </p:nvSpPr>
        <p:spPr>
          <a:xfrm xmlns:a="http://schemas.openxmlformats.org/drawingml/2006/main">
            <a:off x="609600" y="56102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6"/>
                </a:solidFill>
                <a:latin typeface="Helvetica Neue"/>
                <a:ea typeface="Helvetica Neue"/>
                <a:cs typeface="Helvetica Neue"/>
              </a:defRPr>
            </a:pPr>
            <a:r>
              <a:rPr sz="1725" b="0">
                <a:solidFill>
                  <a:srgbClr val="526776"/>
                </a:solidFill>
                <a:latin typeface="Helvetica Neue"/>
                <a:ea typeface="Helvetica Neue"/>
                <a:cs typeface="Helvetica Neue"/>
              </a:rPr>
              <a:t>TRAIN oracle ≠ VAL evaluator · Random skips scoring · Stop after 3 fixed rounds</a:t>
            </a:r>
          </a:p>
        </p:txBody>
      </p:sp>
    </p:spTree>
    <p:extLst>
      <p:ext uri="{BB962C8B-B14F-4D97-AF65-F5344CB8AC3E}">
        <p14:creationId xmlns:p14="http://schemas.microsoft.com/office/powerpoint/2010/main" val="1562994244"/>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51D800-9CC9-4C37-9255-A2648B4AE3E9}"/>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EXP-001–008 · JOINT LINE BOXES + TEXT</a:t>
            </a:r>
          </a:p>
        </p:txBody>
      </p:sp>
      <p:sp>
        <p:nvSpPr>
          <p:cNvPr id="2" name="">
            <a:extLst xmlns:a="http://schemas.openxmlformats.org/drawingml/2006/main">
              <a:ext uri="{FF2B5EF4-FFF2-40B4-BE49-F238E27FC236}">
                <a16:creationId xmlns:a16="http://schemas.microsoft.com/office/drawing/2014/main" id="{1C261B14-2369-4963-A821-743EDD11F72D}"/>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Early checks separated engineering from OCR quality</a:t>
            </a:r>
          </a:p>
        </p:txBody>
      </p:sp>
      <p:sp>
        <p:nvSpPr>
          <p:cNvPr id="3" name="">
            <a:extLst xmlns:a="http://schemas.openxmlformats.org/drawingml/2006/main">
              <a:ext uri="{FF2B5EF4-FFF2-40B4-BE49-F238E27FC236}">
                <a16:creationId xmlns:a16="http://schemas.microsoft.com/office/drawing/2014/main" id="{E424D122-166B-427F-BAFF-8EFA1A7B9C4A}"/>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49B4907F-BD60-452D-954B-38EC3B69761C}"/>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Sources: results/EXP-001-002.md · EXP-003-005.md · EXP-006-008.md</a:t>
            </a:r>
          </a:p>
        </p:txBody>
      </p:sp>
      <p:sp>
        <p:nvSpPr>
          <p:cNvPr id="5" name="">
            <a:extLst xmlns:a="http://schemas.openxmlformats.org/drawingml/2006/main">
              <a:ext uri="{FF2B5EF4-FFF2-40B4-BE49-F238E27FC236}">
                <a16:creationId xmlns:a16="http://schemas.microsoft.com/office/drawing/2014/main" id="{F29EB9B4-FB49-4CB2-A88A-B314D0521611}"/>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04</a:t>
            </a:r>
          </a:p>
        </p:txBody>
      </p:sp>
      <p:graphicFrame>
        <p:nvGraphicFramePr>
          <p:cNvPr id="14" name=""/>
          <p:cNvGraphicFramePr/>
          <p:nvPr/>
        </p:nvGraphicFramePr>
        <p:xfrm>
          <a:off xmlns:a="http://schemas.openxmlformats.org/drawingml/2006/main" x="609600" y="1628775"/>
          <a:ext xmlns:a="http://schemas.openxmlformats.org/drawingml/2006/main" cx="10972800" cy="3067050"/>
        </p:xfrm>
        <a:graphic xmlns:a="http://schemas.openxmlformats.org/drawingml/2006/main">
          <a:graphicData uri="http://schemas.openxmlformats.org/drawingml/2006/table">
            <a:tbl>
              <a:tblPr/>
              <a:tblGrid>
                <a:gridCol w="3381375"/>
                <a:gridCol w="4714875"/>
                <a:gridCol w="2876550"/>
              </a:tblGrid>
              <a:tr h="766763">
                <a:tc>
                  <a:txBody>
                    <a:bodyPr/>
                    <a:lstStyle/>
                    <a:p>
                      <a:r>
                        <a:rPr sz="1575" b="1">
                          <a:solidFill>
                            <a:srgbClr val="FFFFFF"/>
                          </a:solidFill>
                          <a:latin typeface="Helvetica Neue"/>
                          <a:ea typeface="Helvetica Neue"/>
                          <a:cs typeface="Helvetica Neue"/>
                        </a:rPr>
                        <a:t>Experiments / question</a:t>
                      </a:r>
                    </a:p>
                  </a:txBody>
                  <a:tcPr marL="114300" marR="114300" marT="95250" marB="95250" anchor="ctr">
                    <a:solidFill>
                      <a:srgbClr val="152C40"/>
                    </a:solidFill>
                  </a:tcPr>
                </a:tc>
                <a:tc>
                  <a:txBody>
                    <a:bodyPr/>
                    <a:lstStyle/>
                    <a:p>
                      <a:r>
                        <a:rPr sz="1575" b="1">
                          <a:solidFill>
                            <a:srgbClr val="FFFFFF"/>
                          </a:solidFill>
                          <a:latin typeface="Helvetica Neue"/>
                          <a:ea typeface="Helvetica Neue"/>
                          <a:cs typeface="Helvetica Neue"/>
                        </a:rPr>
                        <a:t>Observed result</a:t>
                      </a:r>
                    </a:p>
                  </a:txBody>
                  <a:tcPr marL="114300" marR="114300" marT="95250" marB="95250" anchor="ctr">
                    <a:solidFill>
                      <a:srgbClr val="152C40"/>
                    </a:solidFill>
                  </a:tcPr>
                </a:tc>
                <a:tc>
                  <a:txBody>
                    <a:bodyPr/>
                    <a:lstStyle/>
                    <a:p>
                      <a:r>
                        <a:rPr sz="1575" b="1">
                          <a:solidFill>
                            <a:srgbClr val="FFFFFF"/>
                          </a:solidFill>
                          <a:latin typeface="Helvetica Neue"/>
                          <a:ea typeface="Helvetica Neue"/>
                          <a:cs typeface="Helvetica Neue"/>
                        </a:rPr>
                        <a:t>Decision</a:t>
                      </a:r>
                    </a:p>
                  </a:txBody>
                  <a:tcPr marL="114300" marR="114300" marT="95250" marB="95250" anchor="ctr">
                    <a:solidFill>
                      <a:srgbClr val="152C40"/>
                    </a:solidFill>
                  </a:tcPr>
                </a:tc>
              </a:tr>
              <a:tr h="766763">
                <a:tc>
                  <a:txBody>
                    <a:bodyPr/>
                    <a:lstStyle/>
                    <a:p>
                      <a:r>
                        <a:rPr sz="1650">
                          <a:solidFill>
                            <a:srgbClr val="152C40"/>
                          </a:solidFill>
                          <a:latin typeface="Helvetica Neue"/>
                          <a:ea typeface="Helvetica Neue"/>
                          <a:cs typeface="Helvetica Neue"/>
                        </a:rPr>
                        <a:t>001–002</a:t>
                      </a:r>
                    </a:p>
                    <a:p>
                      <a:r>
                        <a:rPr sz="1650">
                          <a:solidFill>
                            <a:srgbClr val="152C40"/>
                          </a:solidFill>
                          <a:latin typeface="Helvetica Neue"/>
                          <a:ea typeface="Helvetica Neue"/>
                          <a:cs typeface="Helvetica Neue"/>
                        </a:rPr>
                        <a:t>Can remote execution complete?</a:t>
                      </a:r>
                    </a:p>
                  </a:txBody>
                  <a:tcPr marL="114300" marR="114300" marT="95250" marB="95250" anchor="ctr">
                    <a:solidFill>
                      <a:srgbClr val="FFFFFF"/>
                    </a:solidFill>
                  </a:tcPr>
                </a:tc>
                <a:tc>
                  <a:txBody>
                    <a:bodyPr/>
                    <a:lstStyle/>
                    <a:p>
                      <a:r>
                        <a:rPr sz="1650">
                          <a:solidFill>
                            <a:srgbClr val="152C40"/>
                          </a:solidFill>
                          <a:latin typeface="Helvetica Neue"/>
                          <a:ea typeface="Helvetica Neue"/>
                          <a:cs typeface="Helvetica Neue"/>
                        </a:rPr>
                        <a:t>Timeout; then malformed/truncated OCR</a:t>
                      </a:r>
                    </a:p>
                    <a:p>
                      <a:r>
                        <a:rPr sz="1650">
                          <a:solidFill>
                            <a:srgbClr val="152C40"/>
                          </a:solidFill>
                          <a:latin typeface="Helvetica Neue"/>
                          <a:ea typeface="Helvetica Neue"/>
                          <a:cs typeface="Helvetica Neue"/>
                        </a:rPr>
                        <a:t>and no accepted post-fit checkpoint</a:t>
                      </a:r>
                    </a:p>
                  </a:txBody>
                  <a:tcPr marL="114300" marR="114300" marT="95250" marB="95250" anchor="ctr">
                    <a:solidFill>
                      <a:srgbClr val="FFFFFF"/>
                    </a:solidFill>
                  </a:tcPr>
                </a:tc>
                <a:tc>
                  <a:txBody>
                    <a:bodyPr/>
                    <a:lstStyle/>
                    <a:p>
                      <a:r>
                        <a:rPr sz="1650">
                          <a:solidFill>
                            <a:srgbClr val="152C40"/>
                          </a:solidFill>
                          <a:latin typeface="Helvetica Neue"/>
                          <a:ea typeface="Helvetica Neue"/>
                          <a:cs typeface="Helvetica Neue"/>
                        </a:rPr>
                        <a:t>Repair runtime and</a:t>
                      </a:r>
                    </a:p>
                    <a:p>
                      <a:r>
                        <a:rPr sz="1650">
                          <a:solidFill>
                            <a:srgbClr val="152C40"/>
                          </a:solidFill>
                          <a:latin typeface="Helvetica Neue"/>
                          <a:ea typeface="Helvetica Neue"/>
                          <a:cs typeface="Helvetica Neue"/>
                        </a:rPr>
                        <a:t>checkpoint acceptance</a:t>
                      </a:r>
                    </a:p>
                  </a:txBody>
                  <a:tcPr marL="114300" marR="114300" marT="95250" marB="95250" anchor="ctr">
                    <a:solidFill>
                      <a:srgbClr val="FFFFFF"/>
                    </a:solidFill>
                  </a:tcPr>
                </a:tc>
              </a:tr>
              <a:tr h="766763">
                <a:tc>
                  <a:txBody>
                    <a:bodyPr/>
                    <a:lstStyle/>
                    <a:p>
                      <a:r>
                        <a:rPr sz="1650">
                          <a:solidFill>
                            <a:srgbClr val="152C40"/>
                          </a:solidFill>
                          <a:latin typeface="Helvetica Neue"/>
                          <a:ea typeface="Helvetica Neue"/>
                          <a:cs typeface="Helvetica Neue"/>
                        </a:rPr>
                        <a:t>003–005</a:t>
                      </a:r>
                    </a:p>
                    <a:p>
                      <a:r>
                        <a:rPr sz="1650">
                          <a:solidFill>
                            <a:srgbClr val="152C40"/>
                          </a:solidFill>
                          <a:latin typeface="Helvetica Neue"/>
                          <a:ea typeface="Helvetica Neue"/>
                          <a:cs typeface="Helvetica Neue"/>
                        </a:rPr>
                        <a:t>Does the full round work?</a:t>
                      </a:r>
                    </a:p>
                  </a:txBody>
                  <a:tcPr marL="114300" marR="114300" marT="95250" marB="95250" anchor="ctr">
                    <a:solidFill>
                      <a:srgbClr val="EEF3F5"/>
                    </a:solidFill>
                  </a:tcPr>
                </a:tc>
                <a:tc>
                  <a:txBody>
                    <a:bodyPr/>
                    <a:lstStyle/>
                    <a:p>
                      <a:r>
                        <a:rPr sz="1650">
                          <a:solidFill>
                            <a:srgbClr val="152C40"/>
                          </a:solidFill>
                          <a:latin typeface="Helvetica Neue"/>
                          <a:ea typeface="Helvetica Neue"/>
                          <a:cs typeface="Helvetica Neue"/>
                        </a:rPr>
                        <a:t>Fit → reload → evaluate worked</a:t>
                      </a:r>
                    </a:p>
                    <a:p>
                      <a:r>
                        <a:rPr sz="1650">
                          <a:solidFill>
                            <a:srgbClr val="152C40"/>
                          </a:solidFill>
                          <a:latin typeface="Helvetica Neue"/>
                          <a:ea typeface="Helvetica Neue"/>
                          <a:cs typeface="Helvetica Neue"/>
                        </a:rPr>
                        <a:t>CER ≈ 1.0; line-box F1 = 0</a:t>
                      </a:r>
                    </a:p>
                  </a:txBody>
                  <a:tcPr marL="114300" marR="114300" marT="95250" marB="95250" anchor="ctr">
                    <a:solidFill>
                      <a:srgbClr val="EEF3F5"/>
                    </a:solidFill>
                  </a:tcPr>
                </a:tc>
                <a:tc>
                  <a:txBody>
                    <a:bodyPr/>
                    <a:lstStyle/>
                    <a:p>
                      <a:r>
                        <a:rPr sz="1650">
                          <a:solidFill>
                            <a:srgbClr val="152C40"/>
                          </a:solidFill>
                          <a:latin typeface="Helvetica Neue"/>
                          <a:ea typeface="Helvetica Neue"/>
                          <a:cs typeface="Helvetica Neue"/>
                        </a:rPr>
                        <a:t>Engineering passed;</a:t>
                      </a:r>
                    </a:p>
                    <a:p>
                      <a:r>
                        <a:rPr sz="1650">
                          <a:solidFill>
                            <a:srgbClr val="152C40"/>
                          </a:solidFill>
                          <a:latin typeface="Helvetica Neue"/>
                          <a:ea typeface="Helvetica Neue"/>
                          <a:cs typeface="Helvetica Neue"/>
                        </a:rPr>
                        <a:t>OCR quality did not</a:t>
                      </a:r>
                    </a:p>
                  </a:txBody>
                  <a:tcPr marL="114300" marR="114300" marT="95250" marB="95250" anchor="ctr">
                    <a:solidFill>
                      <a:srgbClr val="EEF3F5"/>
                    </a:solidFill>
                  </a:tcPr>
                </a:tc>
              </a:tr>
              <a:tr h="766763">
                <a:tc>
                  <a:txBody>
                    <a:bodyPr/>
                    <a:lstStyle/>
                    <a:p>
                      <a:r>
                        <a:rPr sz="1650">
                          <a:solidFill>
                            <a:srgbClr val="152C40"/>
                          </a:solidFill>
                          <a:latin typeface="Helvetica Neue"/>
                          <a:ea typeface="Helvetica Neue"/>
                          <a:cs typeface="Helvetica Neue"/>
                        </a:rPr>
                        <a:t>006–008</a:t>
                      </a:r>
                    </a:p>
                    <a:p>
                      <a:r>
                        <a:rPr sz="1650">
                          <a:solidFill>
                            <a:srgbClr val="152C40"/>
                          </a:solidFill>
                          <a:latin typeface="Helvetica Neue"/>
                          <a:ea typeface="Helvetica Neue"/>
                          <a:cs typeface="Helvetica Neue"/>
                        </a:rPr>
                        <a:t>Can the joint recipe be improved?</a:t>
                      </a:r>
                    </a:p>
                  </a:txBody>
                  <a:tcPr marL="114300" marR="114300" marT="95250" marB="95250" anchor="ctr">
                    <a:solidFill>
                      <a:srgbClr val="FFFFFF"/>
                    </a:solidFill>
                  </a:tcPr>
                </a:tc>
                <a:tc>
                  <a:txBody>
                    <a:bodyPr/>
                    <a:lstStyle/>
                    <a:p>
                      <a:r>
                        <a:rPr sz="1650">
                          <a:solidFill>
                            <a:srgbClr val="152C40"/>
                          </a:solidFill>
                          <a:latin typeface="Helvetica Neue"/>
                          <a:ea typeface="Helvetica Neue"/>
                          <a:cs typeface="Helvetica Neue"/>
                        </a:rPr>
                        <a:t>More pages, stronger fitting, compact rows</a:t>
                      </a:r>
                    </a:p>
                    <a:p>
                      <a:r>
                        <a:rPr sz="1650">
                          <a:solidFill>
                            <a:srgbClr val="152C40"/>
                          </a:solidFill>
                          <a:latin typeface="Helvetica Neue"/>
                          <a:ea typeface="Helvetica Neue"/>
                          <a:cs typeface="Helvetica Neue"/>
                        </a:rPr>
                        <a:t>Still invalid/repetitive or capped outputs</a:t>
                      </a:r>
                    </a:p>
                  </a:txBody>
                  <a:tcPr marL="114300" marR="114300" marT="95250" marB="95250" anchor="ctr">
                    <a:solidFill>
                      <a:srgbClr val="FFFFFF"/>
                    </a:solidFill>
                  </a:tcPr>
                </a:tc>
                <a:tc>
                  <a:txBody>
                    <a:bodyPr/>
                    <a:lstStyle/>
                    <a:p>
                      <a:r>
                        <a:rPr sz="1650">
                          <a:solidFill>
                            <a:srgbClr val="152C40"/>
                          </a:solidFill>
                          <a:latin typeface="Helvetica Neue"/>
                          <a:ea typeface="Helvetica Neue"/>
                          <a:cs typeface="Helvetica Neue"/>
                        </a:rPr>
                        <a:t>Pause this recipe;</a:t>
                      </a:r>
                    </a:p>
                    <a:p>
                      <a:r>
                        <a:rPr sz="1650">
                          <a:solidFill>
                            <a:srgbClr val="152C40"/>
                          </a:solidFill>
                          <a:latin typeface="Helvetica Neue"/>
                          <a:ea typeface="Helvetica Neue"/>
                          <a:cs typeface="Helvetica Neue"/>
                        </a:rPr>
                        <a:t>isolate transcription</a:t>
                      </a:r>
                    </a:p>
                  </a:txBody>
                  <a:tcPr marL="114300" marR="114300" marT="95250" marB="9525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64C7540-EDC9-4016-80B2-FEB8E49A4289}"/>
              </a:ext>
            </a:extLst>
          </p:cNvPr>
          <p:cNvSpPr>
            <a:spLocks xmlns:a="http://schemas.openxmlformats.org/drawingml/2006/main" noGrp="1"/>
          </p:cNvSpPr>
          <p:nvPr/>
        </p:nvSpPr>
        <p:spPr>
          <a:xfrm xmlns:a="http://schemas.openxmlformats.org/drawingml/2006/main">
            <a:off x="609600" y="5038725"/>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8A87"/>
                </a:solidFill>
                <a:latin typeface="Helvetica Neue"/>
                <a:ea typeface="Helvetica Neue"/>
                <a:cs typeface="Helvetica Neue"/>
              </a:defRPr>
            </a:pPr>
            <a:r>
              <a:rPr sz="2100" b="1">
                <a:solidFill>
                  <a:srgbClr val="008A87"/>
                </a:solidFill>
                <a:latin typeface="Helvetica Neue"/>
                <a:ea typeface="Helvetica Neue"/>
                <a:cs typeface="Helvetica Neue"/>
              </a:rPr>
              <a:t>Why change the task?</a:t>
            </a:r>
          </a:p>
        </p:txBody>
      </p:sp>
      <p:sp>
        <p:nvSpPr>
          <p:cNvPr id="8" name="">
            <a:extLst xmlns:a="http://schemas.openxmlformats.org/drawingml/2006/main">
              <a:ext uri="{FF2B5EF4-FFF2-40B4-BE49-F238E27FC236}">
                <a16:creationId xmlns:a16="http://schemas.microsoft.com/office/drawing/2014/main" id="{FCC6F3CF-719F-40CE-8358-8BF8A87E8228}"/>
              </a:ext>
            </a:extLst>
          </p:cNvPr>
          <p:cNvSpPr>
            <a:spLocks xmlns:a="http://schemas.openxmlformats.org/drawingml/2006/main" noGrp="1"/>
          </p:cNvSpPr>
          <p:nvPr/>
        </p:nvSpPr>
        <p:spPr>
          <a:xfrm xmlns:a="http://schemas.openxmlformats.org/drawingml/2006/main">
            <a:off x="609600" y="5476875"/>
            <a:ext cx="10953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An unusable OCR output makes selection effects hard to interpret.</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Test recognition first, then investigate which labels are useful.</a:t>
            </a:r>
          </a:p>
        </p:txBody>
      </p:sp>
    </p:spTree>
    <p:extLst>
      <p:ext uri="{BB962C8B-B14F-4D97-AF65-F5344CB8AC3E}">
        <p14:creationId xmlns:p14="http://schemas.microsoft.com/office/powerpoint/2010/main" val="735063101"/>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1E9AEA-C1EB-42F6-987A-FA0A77CB689C}"/>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EXP-009–010 · ESTABLISH RANDOM-SELECTION CONTROLS</a:t>
            </a:r>
          </a:p>
        </p:txBody>
      </p:sp>
      <p:sp>
        <p:nvSpPr>
          <p:cNvPr id="2" name="">
            <a:extLst xmlns:a="http://schemas.openxmlformats.org/drawingml/2006/main">
              <a:ext uri="{FF2B5EF4-FFF2-40B4-BE49-F238E27FC236}">
                <a16:creationId xmlns:a16="http://schemas.microsoft.com/office/drawing/2014/main" id="{8A6A506E-1638-4294-8A0D-68C234B29C0F}"/>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Both models learn whole-page transcription</a:t>
            </a:r>
          </a:p>
        </p:txBody>
      </p:sp>
      <p:sp>
        <p:nvSpPr>
          <p:cNvPr id="3" name="">
            <a:extLst xmlns:a="http://schemas.openxmlformats.org/drawingml/2006/main">
              <a:ext uri="{FF2B5EF4-FFF2-40B4-BE49-F238E27FC236}">
                <a16:creationId xmlns:a16="http://schemas.microsoft.com/office/drawing/2014/main" id="{36CBBB60-853B-4746-BB9E-5E7E4CA69E7E}"/>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B52EF938-E09A-405A-A2E1-D6AE6DEEAC78}"/>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Sources: EXP-009 VAL42 pilot · EXP-010 VAL42 · shared page-text recipe</a:t>
            </a:r>
          </a:p>
        </p:txBody>
      </p:sp>
      <p:sp>
        <p:nvSpPr>
          <p:cNvPr id="5" name="">
            <a:extLst xmlns:a="http://schemas.openxmlformats.org/drawingml/2006/main">
              <a:ext uri="{FF2B5EF4-FFF2-40B4-BE49-F238E27FC236}">
                <a16:creationId xmlns:a16="http://schemas.microsoft.com/office/drawing/2014/main" id="{72CD946C-8353-487F-AB90-29F925A5C48C}"/>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05</a:t>
            </a:r>
          </a:p>
        </p:txBody>
      </p:sp>
      <p:graphicFrame>
        <p:nvGraphicFramePr>
          <p:cNvPr id="16" name="Chart"/>
          <p:cNvGraphicFramePr/>
          <p:nvPr/>
        </p:nvGraphicFramePr>
        <p:xfrm>
          <a:off xmlns:a="http://schemas.openxmlformats.org/drawingml/2006/main" x="428625" y="1590675"/>
          <a:ext xmlns:a="http://schemas.openxmlformats.org/drawingml/2006/main" cx="5562600" cy="3457575"/>
        </p:xfrm>
        <a:graphic xmlns:a="http://schemas.openxmlformats.org/drawingml/2006/main">
          <a:graphicData uri="http://schemas.openxmlformats.org/drawingml/2006/chart">
            <c:chart xmlns:r="http://schemas.openxmlformats.org/officeDocument/2006/relationships" xmlns:c="http://schemas.openxmlformats.org/drawingml/2006/chart" r:id="Ree02283fb00d45d6"/>
          </a:graphicData>
        </a:graphic>
      </p:graphicFrame>
      <p:graphicFrame>
        <p:nvGraphicFramePr>
          <p:cNvPr id="17" name="Chart"/>
          <p:cNvGraphicFramePr/>
          <p:nvPr/>
        </p:nvGraphicFramePr>
        <p:xfrm>
          <a:off xmlns:a="http://schemas.openxmlformats.org/drawingml/2006/main" x="6172200" y="1590675"/>
          <a:ext xmlns:a="http://schemas.openxmlformats.org/drawingml/2006/main" cx="5562600" cy="3457575"/>
        </p:xfrm>
        <a:graphic xmlns:a="http://schemas.openxmlformats.org/drawingml/2006/main">
          <a:graphicData uri="http://schemas.openxmlformats.org/drawingml/2006/chart">
            <c:chart xmlns:r="http://schemas.openxmlformats.org/officeDocument/2006/relationships" xmlns:c="http://schemas.openxmlformats.org/drawingml/2006/chart" r:id="Reec95507532744be"/>
          </a:graphicData>
        </a:graphic>
      </p:graphicFrame>
      <p:sp>
        <p:nvSpPr>
          <p:cNvPr id="8" name="">
            <a:extLst xmlns:a="http://schemas.openxmlformats.org/drawingml/2006/main">
              <a:ext uri="{FF2B5EF4-FFF2-40B4-BE49-F238E27FC236}">
                <a16:creationId xmlns:a16="http://schemas.microsoft.com/office/drawing/2014/main" id="{C8A73CB5-2ADD-47B4-874F-052E152ABC63}"/>
              </a:ext>
            </a:extLst>
          </p:cNvPr>
          <p:cNvSpPr>
            <a:spLocks xmlns:a="http://schemas.openxmlformats.org/drawingml/2006/main" noGrp="1"/>
          </p:cNvSpPr>
          <p:nvPr/>
        </p:nvSpPr>
        <p:spPr>
          <a:xfrm xmlns:a="http://schemas.openxmlformats.org/drawingml/2006/main">
            <a:off x="609600" y="51530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C40"/>
                </a:solidFill>
                <a:latin typeface="Helvetica Neue"/>
                <a:ea typeface="Helvetica Neue"/>
                <a:cs typeface="Helvetica Neue"/>
              </a:defRPr>
            </a:pPr>
            <a:r>
              <a:rPr sz="1800" b="1">
                <a:solidFill>
                  <a:srgbClr val="152C40"/>
                </a:solidFill>
                <a:latin typeface="Helvetica Neue"/>
                <a:ea typeface="Helvetica Neue"/>
                <a:cs typeface="Helvetica Neue"/>
              </a:rPr>
              <a:t>Same page budgets · 3 epochs per fresh fit · 42 fixed VAL pages</a:t>
            </a:r>
          </a:p>
        </p:txBody>
      </p:sp>
      <p:sp>
        <p:nvSpPr>
          <p:cNvPr id="9" name="">
            <a:extLst xmlns:a="http://schemas.openxmlformats.org/drawingml/2006/main">
              <a:ext uri="{FF2B5EF4-FFF2-40B4-BE49-F238E27FC236}">
                <a16:creationId xmlns:a16="http://schemas.microsoft.com/office/drawing/2014/main" id="{3D3F810E-F422-445C-8112-AC9B67E1B65D}"/>
              </a:ext>
            </a:extLst>
          </p:cNvPr>
          <p:cNvSpPr>
            <a:spLocks xmlns:a="http://schemas.openxmlformats.org/drawingml/2006/main" noGrp="1"/>
          </p:cNvSpPr>
          <p:nvPr/>
        </p:nvSpPr>
        <p:spPr>
          <a:xfrm xmlns:a="http://schemas.openxmlformats.org/drawingml/2006/main">
            <a:off x="609600" y="5572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08A87"/>
                </a:solidFill>
                <a:latin typeface="Helvetica Neue"/>
                <a:ea typeface="Helvetica Neue"/>
                <a:cs typeface="Helvetica Neue"/>
              </a:defRPr>
            </a:pPr>
            <a:r>
              <a:rPr sz="1800" b="1">
                <a:solidFill>
                  <a:srgbClr val="008A87"/>
                </a:solidFill>
                <a:latin typeface="Helvetica Neue"/>
                <a:ea typeface="Helvetica Neue"/>
                <a:cs typeface="Helvetica Neue"/>
              </a:rPr>
              <a:t>At 192 pages: CER 0.216 / 0.211 · Qwen capped pages 10 → 3 → 1 → 0</a:t>
            </a:r>
          </a:p>
        </p:txBody>
      </p:sp>
      <p:sp>
        <p:nvSpPr>
          <p:cNvPr id="10" name="">
            <a:extLst xmlns:a="http://schemas.openxmlformats.org/drawingml/2006/main">
              <a:ext uri="{FF2B5EF4-FFF2-40B4-BE49-F238E27FC236}">
                <a16:creationId xmlns:a16="http://schemas.microsoft.com/office/drawing/2014/main" id="{074CEB36-E431-4A81-B3BF-91DAE2694225}"/>
              </a:ext>
            </a:extLst>
          </p:cNvPr>
          <p:cNvSpPr>
            <a:spLocks xmlns:a="http://schemas.openxmlformats.org/drawingml/2006/main" noGrp="1"/>
          </p:cNvSpPr>
          <p:nvPr/>
        </p:nvSpPr>
        <p:spPr>
          <a:xfrm xmlns:a="http://schemas.openxmlformats.org/drawingml/2006/main">
            <a:off x="609600" y="5972175"/>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776"/>
                </a:solidFill>
                <a:latin typeface="Helvetica Neue"/>
                <a:ea typeface="Helvetica Neue"/>
                <a:cs typeface="Helvetica Neue"/>
              </a:defRPr>
            </a:pPr>
            <a:r>
              <a:rPr sz="1500" b="0">
                <a:solidFill>
                  <a:srgbClr val="526776"/>
                </a:solidFill>
                <a:latin typeface="Helvetica Neue"/>
                <a:ea typeface="Helvetica Neue"/>
                <a:cs typeface="Helvetica Neue"/>
              </a:rPr>
              <a:t>CER = character edits / reference characters; WER = word edits / reference words. Lower is better.</a:t>
            </a:r>
          </a:p>
        </p:txBody>
      </p:sp>
    </p:spTree>
    <p:extLst>
      <p:ext uri="{BB962C8B-B14F-4D97-AF65-F5344CB8AC3E}">
        <p14:creationId xmlns:p14="http://schemas.microsoft.com/office/powerpoint/2010/main" val="737779897"/>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77CA79C-A155-4C06-91D6-CC6747B4BB0C}"/>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EXP-011 · THREE PAIRED SEEDS, 824–826</a:t>
            </a:r>
          </a:p>
        </p:txBody>
      </p:sp>
      <p:sp>
        <p:nvSpPr>
          <p:cNvPr id="2" name="">
            <a:extLst xmlns:a="http://schemas.openxmlformats.org/drawingml/2006/main">
              <a:ext uri="{FF2B5EF4-FFF2-40B4-BE49-F238E27FC236}">
                <a16:creationId xmlns:a16="http://schemas.microsoft.com/office/drawing/2014/main" id="{9B8AF086-63EC-4338-8CA8-BF2B2AC2B7D2}"/>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Whole-page selectors show no consistent advantage</a:t>
            </a:r>
          </a:p>
        </p:txBody>
      </p:sp>
      <p:sp>
        <p:nvSpPr>
          <p:cNvPr id="3" name="">
            <a:extLst xmlns:a="http://schemas.openxmlformats.org/drawingml/2006/main">
              <a:ext uri="{FF2B5EF4-FFF2-40B4-BE49-F238E27FC236}">
                <a16:creationId xmlns:a16="http://schemas.microsoft.com/office/drawing/2014/main" id="{C44D789D-DE28-4082-9435-BB81A4257DCF}"/>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53174885-09CC-4576-AE9C-87E37639C467}"/>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Source: results/EXP-011.md · negative Δ favours the selector; positive Δ favours random</a:t>
            </a:r>
          </a:p>
        </p:txBody>
      </p:sp>
      <p:sp>
        <p:nvSpPr>
          <p:cNvPr id="5" name="">
            <a:extLst xmlns:a="http://schemas.openxmlformats.org/drawingml/2006/main">
              <a:ext uri="{FF2B5EF4-FFF2-40B4-BE49-F238E27FC236}">
                <a16:creationId xmlns:a16="http://schemas.microsoft.com/office/drawing/2014/main" id="{B10C6297-2C18-4C55-8E7C-557387FEB42F}"/>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8C106B9D-D87F-493A-A73A-911BC3699CE3}"/>
              </a:ext>
            </a:extLst>
          </p:cNvPr>
          <p:cNvSpPr>
            <a:spLocks xmlns:a="http://schemas.openxmlformats.org/drawingml/2006/main" noGrp="1"/>
          </p:cNvSpPr>
          <p:nvPr/>
        </p:nvSpPr>
        <p:spPr>
          <a:xfrm xmlns:a="http://schemas.openxmlformats.org/drawingml/2006/main">
            <a:off x="666750" y="1581150"/>
            <a:ext cx="2286000" cy="723900"/>
          </a:xfrm>
          <a:prstGeom xmlns:a="http://schemas.openxmlformats.org/drawingml/2006/main" prst="rect">
            <a:avLst/>
          </a:prstGeom>
          <a:solidFill xmlns:a="http://schemas.openxmlformats.org/drawingml/2006/main">
            <a:srgbClr val="FFFFFF"/>
          </a:solidFill>
          <a:ln xmlns:a="http://schemas.openxmlformats.org/drawingml/2006/main" w="19050">
            <a:solidFill>
              <a:srgbClr val="3F5263"/>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0 pages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Original model</a:t>
            </a:r>
          </a:p>
        </p:txBody>
      </p:sp>
      <p:sp>
        <p:nvSpPr>
          <p:cNvPr id="7" name="">
            <a:extLst xmlns:a="http://schemas.openxmlformats.org/drawingml/2006/main">
              <a:ext uri="{FF2B5EF4-FFF2-40B4-BE49-F238E27FC236}">
                <a16:creationId xmlns:a16="http://schemas.microsoft.com/office/drawing/2014/main" id="{EBAECC4C-43B7-4B73-A621-1A3E2D873758}"/>
              </a:ext>
            </a:extLst>
          </p:cNvPr>
          <p:cNvSpPr>
            <a:spLocks xmlns:a="http://schemas.openxmlformats.org/drawingml/2006/main" noGrp="1"/>
          </p:cNvSpPr>
          <p:nvPr/>
        </p:nvSpPr>
        <p:spPr>
          <a:xfrm xmlns:a="http://schemas.openxmlformats.org/drawingml/2006/main">
            <a:off x="3600450" y="1581150"/>
            <a:ext cx="2667000" cy="723900"/>
          </a:xfrm>
          <a:prstGeom xmlns:a="http://schemas.openxmlformats.org/drawingml/2006/main" prst="rect">
            <a:avLst/>
          </a:prstGeom>
          <a:solidFill xmlns:a="http://schemas.openxmlformats.org/drawingml/2006/main">
            <a:srgbClr val="FFFFFF"/>
          </a:solidFill>
          <a:ln xmlns:a="http://schemas.openxmlformats.org/drawingml/2006/main" w="19050">
            <a:solidFill>
              <a:srgbClr val="3F5263"/>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64 random pages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Shared checkpoint</a:t>
            </a:r>
          </a:p>
        </p:txBody>
      </p:sp>
      <p:sp>
        <p:nvSpPr>
          <p:cNvPr id="8" name="">
            <a:extLst xmlns:a="http://schemas.openxmlformats.org/drawingml/2006/main">
              <a:ext uri="{FF2B5EF4-FFF2-40B4-BE49-F238E27FC236}">
                <a16:creationId xmlns:a16="http://schemas.microsoft.com/office/drawing/2014/main" id="{AD1A2A4E-15D7-468E-90F5-2DC961379D5E}"/>
              </a:ext>
            </a:extLst>
          </p:cNvPr>
          <p:cNvSpPr>
            <a:spLocks xmlns:a="http://schemas.openxmlformats.org/drawingml/2006/main" noGrp="1"/>
          </p:cNvSpPr>
          <p:nvPr/>
        </p:nvSpPr>
        <p:spPr>
          <a:xfrm xmlns:a="http://schemas.openxmlformats.org/drawingml/2006/main">
            <a:off x="6953250" y="1581150"/>
            <a:ext cx="3571875" cy="72390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128 → 192 pages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Strategies diverge</a:t>
            </a:r>
          </a:p>
        </p:txBody>
      </p:sp>
      <p:cxnSp>
        <p:nvCxnSpPr>
          <p:cNvPr id="24" name=""/>
          <p:cNvCxnSpPr>
            <a:stCxn xmlns:a="http://schemas.openxmlformats.org/drawingml/2006/main" id="6" idx="3"/>
            <a:endCxn xmlns:a="http://schemas.openxmlformats.org/drawingml/2006/main" id="7" idx="1"/>
          </p:cNvCxnSpPr>
          <p:nvPr/>
        </p:nvCxnSpPr>
        <p:spPr>
          <a:xfrm xmlns:a="http://schemas.openxmlformats.org/drawingml/2006/main">
            <a:off x="2952750" y="1943100"/>
            <a:ext cx="647700" cy="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25" name=""/>
          <p:cNvCxnSpPr>
            <a:stCxn xmlns:a="http://schemas.openxmlformats.org/drawingml/2006/main" id="7" idx="3"/>
            <a:endCxn xmlns:a="http://schemas.openxmlformats.org/drawingml/2006/main" id="8" idx="1"/>
          </p:cNvCxnSpPr>
          <p:nvPr/>
        </p:nvCxnSpPr>
        <p:spPr>
          <a:xfrm xmlns:a="http://schemas.openxmlformats.org/drawingml/2006/main">
            <a:off x="6267450" y="1943100"/>
            <a:ext cx="685800" cy="0"/>
          </a:xfrm>
          <a:prstGeom xmlns:a="http://schemas.openxmlformats.org/drawingml/2006/main" prst="straightConnector1">
            <a:avLst/>
          </a:prstGeom>
          <a:ln xmlns:a="http://schemas.openxmlformats.org/drawingml/2006/main" w="19050">
            <a:solidFill>
              <a:srgbClr val="526776"/>
            </a:solidFill>
            <a:tailEnd type="triangle" w="sm" len="sm"/>
          </a:ln>
        </p:spPr>
      </p:cxnSp>
      <p:graphicFrame>
        <p:nvGraphicFramePr>
          <p:cNvPr id="26" name="Chart"/>
          <p:cNvGraphicFramePr/>
          <p:nvPr/>
        </p:nvGraphicFramePr>
        <p:xfrm>
          <a:off xmlns:a="http://schemas.openxmlformats.org/drawingml/2006/main" x="476250" y="2686050"/>
          <a:ext xmlns:a="http://schemas.openxmlformats.org/drawingml/2006/main" cx="6715125" cy="3048000"/>
        </p:xfrm>
        <a:graphic xmlns:a="http://schemas.openxmlformats.org/drawingml/2006/main">
          <a:graphicData uri="http://schemas.openxmlformats.org/drawingml/2006/chart">
            <c:chart xmlns:r="http://schemas.openxmlformats.org/officeDocument/2006/relationships" xmlns:c="http://schemas.openxmlformats.org/drawingml/2006/chart" r:id="R65b0ca209d5b4529"/>
          </a:graphicData>
        </a:graphic>
      </p:graphicFrame>
      <p:sp>
        <p:nvSpPr>
          <p:cNvPr id="12" name="">
            <a:extLst xmlns:a="http://schemas.openxmlformats.org/drawingml/2006/main">
              <a:ext uri="{FF2B5EF4-FFF2-40B4-BE49-F238E27FC236}">
                <a16:creationId xmlns:a16="http://schemas.microsoft.com/office/drawing/2014/main" id="{D0D470A3-D05A-48ED-8B97-2E8448A1AD43}"/>
              </a:ext>
            </a:extLst>
          </p:cNvPr>
          <p:cNvSpPr>
            <a:spLocks xmlns:a="http://schemas.openxmlformats.org/drawingml/2006/main" noGrp="1"/>
          </p:cNvSpPr>
          <p:nvPr/>
        </p:nvSpPr>
        <p:spPr>
          <a:xfrm xmlns:a="http://schemas.openxmlformats.org/drawingml/2006/main">
            <a:off x="7658100" y="2752725"/>
            <a:ext cx="390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52C40"/>
                </a:solidFill>
                <a:latin typeface="Helvetica Neue"/>
                <a:ea typeface="Helvetica Neue"/>
                <a:cs typeface="Helvetica Neue"/>
              </a:defRPr>
            </a:pPr>
            <a:r>
              <a:rPr sz="2100" b="1">
                <a:solidFill>
                  <a:srgbClr val="152C40"/>
                </a:solidFill>
                <a:latin typeface="Helvetica Neue"/>
                <a:ea typeface="Helvetica Neue"/>
                <a:cs typeface="Helvetica Neue"/>
              </a:rPr>
              <a:t>What repeated seeds changed</a:t>
            </a:r>
          </a:p>
        </p:txBody>
      </p:sp>
      <p:sp>
        <p:nvSpPr>
          <p:cNvPr id="13" name="">
            <a:extLst xmlns:a="http://schemas.openxmlformats.org/drawingml/2006/main">
              <a:ext uri="{FF2B5EF4-FFF2-40B4-BE49-F238E27FC236}">
                <a16:creationId xmlns:a16="http://schemas.microsoft.com/office/drawing/2014/main" id="{6F23244D-6C47-4AE7-B038-B32114B4C90C}"/>
              </a:ext>
            </a:extLst>
          </p:cNvPr>
          <p:cNvSpPr>
            <a:spLocks xmlns:a="http://schemas.openxmlformats.org/drawingml/2006/main" noGrp="1"/>
          </p:cNvSpPr>
          <p:nvPr/>
        </p:nvSpPr>
        <p:spPr>
          <a:xfrm xmlns:a="http://schemas.openxmlformats.org/drawingml/2006/main">
            <a:off x="7658100" y="3562350"/>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Seed 824 looked promising.</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The other seeds changed the ranking.</a:t>
            </a:r>
          </a:p>
        </p:txBody>
      </p:sp>
      <p:sp>
        <p:nvSpPr>
          <p:cNvPr id="14" name="">
            <a:extLst xmlns:a="http://schemas.openxmlformats.org/drawingml/2006/main">
              <a:ext uri="{FF2B5EF4-FFF2-40B4-BE49-F238E27FC236}">
                <a16:creationId xmlns:a16="http://schemas.microsoft.com/office/drawing/2014/main" id="{E6E931D2-B1C6-423E-9998-16AE395D72B1}"/>
              </a:ext>
            </a:extLst>
          </p:cNvPr>
          <p:cNvSpPr>
            <a:spLocks xmlns:a="http://schemas.openxmlformats.org/drawingml/2006/main" noGrp="1"/>
          </p:cNvSpPr>
          <p:nvPr/>
        </p:nvSpPr>
        <p:spPr>
          <a:xfrm xmlns:a="http://schemas.openxmlformats.org/drawingml/2006/main">
            <a:off x="7658100" y="4533900"/>
            <a:ext cx="3905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8A87"/>
                </a:solidFill>
                <a:latin typeface="Helvetica Neue"/>
                <a:ea typeface="Helvetica Neue"/>
                <a:cs typeface="Helvetica Neue"/>
              </a:defRPr>
            </a:pPr>
            <a:r>
              <a:rPr sz="1875" b="1">
                <a:solidFill>
                  <a:srgbClr val="008A87"/>
                </a:solidFill>
                <a:latin typeface="Helvetica Neue"/>
                <a:ea typeface="Helvetica Neue"/>
                <a:cs typeface="Helvetica Neue"/>
              </a:rPr>
              <a:t>Output caps affected small gaps.</a:t>
            </a:r>
          </a:p>
          <a:p xmlns:a="http://schemas.openxmlformats.org/drawingml/2006/main">
            <a:pPr algn="l">
              <a:defRPr sz="1875" b="1">
                <a:solidFill>
                  <a:srgbClr val="008A87"/>
                </a:solidFill>
                <a:latin typeface="Helvetica Neue"/>
                <a:ea typeface="Helvetica Neue"/>
                <a:cs typeface="Helvetica Neue"/>
              </a:defRPr>
            </a:pPr>
            <a:r>
              <a:rPr sz="1875" b="1">
                <a:solidFill>
                  <a:srgbClr val="008A87"/>
                </a:solidFill>
                <a:latin typeface="Helvetica Neue"/>
                <a:ea typeface="Helvetica Neue"/>
                <a:cs typeface="Helvetica Neue"/>
              </a:rPr>
              <a:t>No method led consistently</a:t>
            </a:r>
          </a:p>
          <a:p xmlns:a="http://schemas.openxmlformats.org/drawingml/2006/main">
            <a:pPr algn="l">
              <a:defRPr sz="1875" b="1">
                <a:solidFill>
                  <a:srgbClr val="008A87"/>
                </a:solidFill>
                <a:latin typeface="Helvetica Neue"/>
                <a:ea typeface="Helvetica Neue"/>
                <a:cs typeface="Helvetica Neue"/>
              </a:defRPr>
            </a:pPr>
            <a:r>
              <a:rPr sz="1875" b="1">
                <a:solidFill>
                  <a:srgbClr val="008A87"/>
                </a:solidFill>
                <a:latin typeface="Helvetica Neue"/>
                <a:ea typeface="Helvetica Neue"/>
                <a:cs typeface="Helvetica Neue"/>
              </a:rPr>
              <a:t>at both budgets.</a:t>
            </a:r>
          </a:p>
        </p:txBody>
      </p:sp>
      <p:sp>
        <p:nvSpPr>
          <p:cNvPr id="15" name="">
            <a:extLst xmlns:a="http://schemas.openxmlformats.org/drawingml/2006/main">
              <a:ext uri="{FF2B5EF4-FFF2-40B4-BE49-F238E27FC236}">
                <a16:creationId xmlns:a16="http://schemas.microsoft.com/office/drawing/2014/main" id="{5A8C61A0-84D1-4B54-BD34-17E2D014238B}"/>
              </a:ext>
            </a:extLst>
          </p:cNvPr>
          <p:cNvSpPr>
            <a:spLocks xmlns:a="http://schemas.openxmlformats.org/drawingml/2006/main" noGrp="1"/>
          </p:cNvSpPr>
          <p:nvPr/>
        </p:nvSpPr>
        <p:spPr>
          <a:xfrm xmlns:a="http://schemas.openxmlformats.org/drawingml/2006/main">
            <a:off x="609600" y="5934075"/>
            <a:ext cx="1095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776"/>
                </a:solidFill>
                <a:latin typeface="Helvetica Neue"/>
                <a:ea typeface="Helvetica Neue"/>
                <a:cs typeface="Helvetica Neue"/>
              </a:defRPr>
            </a:pPr>
            <a:r>
              <a:rPr sz="1575" b="0">
                <a:solidFill>
                  <a:srgbClr val="526776"/>
                </a:solidFill>
                <a:latin typeface="Helvetica Neue"/>
                <a:ea typeface="Helvetica Neue"/>
                <a:cs typeface="Helvetica Neue"/>
              </a:rPr>
              <a:t>Means across 3 paired seeds; not significance estimates. Full VAL42 scores remain primary.</a:t>
            </a:r>
          </a:p>
        </p:txBody>
      </p:sp>
    </p:spTree>
    <p:extLst>
      <p:ext uri="{BB962C8B-B14F-4D97-AF65-F5344CB8AC3E}">
        <p14:creationId xmlns:p14="http://schemas.microsoft.com/office/powerpoint/2010/main" val="1168813194"/>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0E28BB3-BE40-48CC-93D4-7BC0CDD5C59C}"/>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METHOD CHANGE · WHY EXP-012–013</a:t>
            </a:r>
          </a:p>
        </p:txBody>
      </p:sp>
      <p:sp>
        <p:nvSpPr>
          <p:cNvPr id="2" name="">
            <a:extLst xmlns:a="http://schemas.openxmlformats.org/drawingml/2006/main">
              <a:ext uri="{FF2B5EF4-FFF2-40B4-BE49-F238E27FC236}">
                <a16:creationId xmlns:a16="http://schemas.microsoft.com/office/drawing/2014/main" id="{1885A7A9-3B98-48FB-BCAF-E3352993092D}"/>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Known-box recognition removes a source of ambiguity</a:t>
            </a:r>
          </a:p>
        </p:txBody>
      </p:sp>
      <p:sp>
        <p:nvSpPr>
          <p:cNvPr id="3" name="">
            <a:extLst xmlns:a="http://schemas.openxmlformats.org/drawingml/2006/main">
              <a:ext uri="{FF2B5EF4-FFF2-40B4-BE49-F238E27FC236}">
                <a16:creationId xmlns:a16="http://schemas.microsoft.com/office/drawing/2014/main" id="{00A26CD8-1386-4000-AE07-345FDF037217}"/>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9D7A9574-13CE-4F46-9BEF-9A43490EE0FA}"/>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Known locations, not detection · few-label historical recognition: Aradillas et al. (2020)</a:t>
            </a:r>
          </a:p>
        </p:txBody>
      </p:sp>
      <p:sp>
        <p:nvSpPr>
          <p:cNvPr id="5" name="">
            <a:extLst xmlns:a="http://schemas.openxmlformats.org/drawingml/2006/main">
              <a:ext uri="{FF2B5EF4-FFF2-40B4-BE49-F238E27FC236}">
                <a16:creationId xmlns:a16="http://schemas.microsoft.com/office/drawing/2014/main" id="{D2327EC4-C842-4C65-B8CA-C4C24018A27A}"/>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07</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337f18e209d4a06"/>
          <a:stretch xmlns:a="http://schemas.openxmlformats.org/drawingml/2006/main"/>
        </p:blipFill>
        <p:spPr>
          <a:xfrm xmlns:a="http://schemas.openxmlformats.org/drawingml/2006/main">
            <a:off x="609600" y="1591141"/>
            <a:ext cx="2238375" cy="3361392"/>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46d52b52eb34626"/>
          <a:stretch xmlns:a="http://schemas.openxmlformats.org/drawingml/2006/main"/>
        </p:blipFill>
        <p:spPr>
          <a:xfrm xmlns:a="http://schemas.openxmlformats.org/drawingml/2006/main">
            <a:off x="3603739" y="2495550"/>
            <a:ext cx="4184422" cy="592521"/>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AF844D7-C378-4484-8F11-54C5A92E06DD}"/>
              </a:ext>
            </a:extLst>
          </p:cNvPr>
          <p:cNvSpPr>
            <a:spLocks xmlns:a="http://schemas.openxmlformats.org/drawingml/2006/main" noGrp="1"/>
          </p:cNvSpPr>
          <p:nvPr/>
        </p:nvSpPr>
        <p:spPr>
          <a:xfrm xmlns:a="http://schemas.openxmlformats.org/drawingml/2006/main">
            <a:off x="1289346" y="2324501"/>
            <a:ext cx="1095253" cy="141694"/>
          </a:xfrm>
          <a:prstGeom xmlns:a="http://schemas.openxmlformats.org/drawingml/2006/main" prst="rect">
            <a:avLst/>
          </a:prstGeom>
          <a:noFill xmlns:a="http://schemas.openxmlformats.org/drawingml/2006/main"/>
          <a:ln xmlns:a="http://schemas.openxmlformats.org/drawingml/2006/main" w="19050">
            <a:solidFill>
              <a:srgbClr val="008A87"/>
            </a:solidFill>
          </a:ln>
        </p:spPr>
      </p:sp>
      <p:sp>
        <p:nvSpPr>
          <p:cNvPr id="9" name="">
            <a:extLst xmlns:a="http://schemas.openxmlformats.org/drawingml/2006/main">
              <a:ext uri="{FF2B5EF4-FFF2-40B4-BE49-F238E27FC236}">
                <a16:creationId xmlns:a16="http://schemas.microsoft.com/office/drawing/2014/main" id="{67B6973E-8948-451A-A68E-BF73EEE84782}"/>
              </a:ext>
            </a:extLst>
          </p:cNvPr>
          <p:cNvSpPr>
            <a:spLocks xmlns:a="http://schemas.openxmlformats.org/drawingml/2006/main" noGrp="1"/>
          </p:cNvSpPr>
          <p:nvPr/>
        </p:nvSpPr>
        <p:spPr>
          <a:xfrm xmlns:a="http://schemas.openxmlformats.org/drawingml/2006/main">
            <a:off x="3143250" y="3705225"/>
            <a:ext cx="1905000"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Supplied</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line box</a:t>
            </a:r>
          </a:p>
        </p:txBody>
      </p:sp>
      <p:sp>
        <p:nvSpPr>
          <p:cNvPr id="10" name="">
            <a:extLst xmlns:a="http://schemas.openxmlformats.org/drawingml/2006/main">
              <a:ext uri="{FF2B5EF4-FFF2-40B4-BE49-F238E27FC236}">
                <a16:creationId xmlns:a16="http://schemas.microsoft.com/office/drawing/2014/main" id="{2B637211-AA9C-4A06-9C4E-43C6A499218D}"/>
              </a:ext>
            </a:extLst>
          </p:cNvPr>
          <p:cNvSpPr>
            <a:spLocks xmlns:a="http://schemas.openxmlformats.org/drawingml/2006/main" noGrp="1"/>
          </p:cNvSpPr>
          <p:nvPr/>
        </p:nvSpPr>
        <p:spPr>
          <a:xfrm xmlns:a="http://schemas.openxmlformats.org/drawingml/2006/main">
            <a:off x="5543550" y="3705225"/>
            <a:ext cx="2476500"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Qwen transcribes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only this crop</a:t>
            </a:r>
          </a:p>
        </p:txBody>
      </p:sp>
      <p:cxnSp>
        <p:nvCxnSpPr>
          <p:cNvPr id="27" name=""/>
          <p:cNvCxnSpPr>
            <a:stCxn xmlns:a="http://schemas.openxmlformats.org/drawingml/2006/main" id="9" idx="3"/>
            <a:endCxn xmlns:a="http://schemas.openxmlformats.org/drawingml/2006/main" id="10" idx="1"/>
          </p:cNvCxnSpPr>
          <p:nvPr/>
        </p:nvCxnSpPr>
        <p:spPr>
          <a:xfrm xmlns:a="http://schemas.openxmlformats.org/drawingml/2006/main">
            <a:off x="5048250" y="4038600"/>
            <a:ext cx="495300" cy="0"/>
          </a:xfrm>
          <a:prstGeom xmlns:a="http://schemas.openxmlformats.org/drawingml/2006/main" prst="straightConnector1">
            <a:avLst/>
          </a:prstGeom>
          <a:ln xmlns:a="http://schemas.openxmlformats.org/drawingml/2006/main" w="19050">
            <a:solidFill>
              <a:srgbClr val="526776"/>
            </a:solidFill>
            <a:tailEnd type="triangle" w="sm" len="sm"/>
          </a:ln>
        </p:spPr>
      </p:cxnSp>
      <p:sp>
        <p:nvSpPr>
          <p:cNvPr id="12" name="">
            <a:extLst xmlns:a="http://schemas.openxmlformats.org/drawingml/2006/main">
              <a:ext uri="{FF2B5EF4-FFF2-40B4-BE49-F238E27FC236}">
                <a16:creationId xmlns:a16="http://schemas.microsoft.com/office/drawing/2014/main" id="{52114339-4232-41A1-BAA2-9545EDBF88C1}"/>
              </a:ext>
            </a:extLst>
          </p:cNvPr>
          <p:cNvSpPr>
            <a:spLocks xmlns:a="http://schemas.openxmlformats.org/drawingml/2006/main" noGrp="1"/>
          </p:cNvSpPr>
          <p:nvPr/>
        </p:nvSpPr>
        <p:spPr>
          <a:xfrm xmlns:a="http://schemas.openxmlformats.org/drawingml/2006/main">
            <a:off x="714375" y="50863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52C40"/>
                </a:solidFill>
                <a:latin typeface="Helvetica Neue"/>
                <a:ea typeface="Helvetica Neue"/>
                <a:cs typeface="Helvetica Neue"/>
              </a:defRPr>
            </a:pPr>
            <a:r>
              <a:rPr sz="1875" b="1">
                <a:solidFill>
                  <a:srgbClr val="152C40"/>
                </a:solidFill>
                <a:latin typeface="Helvetica Neue"/>
                <a:ea typeface="Helvetica Neue"/>
                <a:cs typeface="Helvetica Neue"/>
              </a:rPr>
              <a:t>Whole page</a:t>
            </a:r>
          </a:p>
        </p:txBody>
      </p:sp>
      <p:sp>
        <p:nvSpPr>
          <p:cNvPr id="13" name="">
            <a:extLst xmlns:a="http://schemas.openxmlformats.org/drawingml/2006/main">
              <a:ext uri="{FF2B5EF4-FFF2-40B4-BE49-F238E27FC236}">
                <a16:creationId xmlns:a16="http://schemas.microsoft.com/office/drawing/2014/main" id="{44FBB4BC-0033-450F-B31E-33106A1EFA7D}"/>
              </a:ext>
            </a:extLst>
          </p:cNvPr>
          <p:cNvSpPr>
            <a:spLocks xmlns:a="http://schemas.openxmlformats.org/drawingml/2006/main" noGrp="1"/>
          </p:cNvSpPr>
          <p:nvPr/>
        </p:nvSpPr>
        <p:spPr>
          <a:xfrm xmlns:a="http://schemas.openxmlformats.org/drawingml/2006/main">
            <a:off x="3600450" y="4638675"/>
            <a:ext cx="4429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8A87"/>
                </a:solidFill>
                <a:latin typeface="Helvetica Neue"/>
                <a:ea typeface="Helvetica Neue"/>
                <a:cs typeface="Helvetica Neue"/>
              </a:defRPr>
            </a:pPr>
            <a:r>
              <a:rPr sz="1875" b="1">
                <a:solidFill>
                  <a:srgbClr val="008A87"/>
                </a:solidFill>
                <a:latin typeface="Helvetica Neue"/>
                <a:ea typeface="Helvetica Neue"/>
                <a:cs typeface="Helvetica Neue"/>
              </a:rPr>
              <a:t>Short text outputs in source reading order</a:t>
            </a:r>
          </a:p>
        </p:txBody>
      </p:sp>
      <p:sp>
        <p:nvSpPr>
          <p:cNvPr id="14" name="">
            <a:extLst xmlns:a="http://schemas.openxmlformats.org/drawingml/2006/main">
              <a:ext uri="{FF2B5EF4-FFF2-40B4-BE49-F238E27FC236}">
                <a16:creationId xmlns:a16="http://schemas.microsoft.com/office/drawing/2014/main" id="{90929B07-ED15-4336-93AD-60864A569F22}"/>
              </a:ext>
            </a:extLst>
          </p:cNvPr>
          <p:cNvSpPr>
            <a:spLocks xmlns:a="http://schemas.openxmlformats.org/drawingml/2006/main" noGrp="1"/>
          </p:cNvSpPr>
          <p:nvPr/>
        </p:nvSpPr>
        <p:spPr>
          <a:xfrm xmlns:a="http://schemas.openxmlformats.org/drawingml/2006/main">
            <a:off x="8562975" y="1695450"/>
            <a:ext cx="2905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52C40"/>
                </a:solidFill>
                <a:latin typeface="Helvetica Neue"/>
                <a:ea typeface="Helvetica Neue"/>
                <a:cs typeface="Helvetica Neue"/>
              </a:defRPr>
            </a:pPr>
            <a:r>
              <a:rPr sz="2250" b="1">
                <a:solidFill>
                  <a:srgbClr val="152C40"/>
                </a:solidFill>
                <a:latin typeface="Helvetica Neue"/>
                <a:ea typeface="Helvetica Neue"/>
                <a:cs typeface="Helvetica Neue"/>
              </a:rPr>
              <a:t>Why this helps</a:t>
            </a:r>
          </a:p>
        </p:txBody>
      </p:sp>
      <p:sp>
        <p:nvSpPr>
          <p:cNvPr id="15" name="">
            <a:extLst xmlns:a="http://schemas.openxmlformats.org/drawingml/2006/main">
              <a:ext uri="{FF2B5EF4-FFF2-40B4-BE49-F238E27FC236}">
                <a16:creationId xmlns:a16="http://schemas.microsoft.com/office/drawing/2014/main" id="{2EEE9030-E9C3-48F9-9D05-1C368B422FEB}"/>
              </a:ext>
            </a:extLst>
          </p:cNvPr>
          <p:cNvSpPr>
            <a:spLocks xmlns:a="http://schemas.openxmlformats.org/drawingml/2006/main" noGrp="1"/>
          </p:cNvSpPr>
          <p:nvPr/>
        </p:nvSpPr>
        <p:spPr>
          <a:xfrm xmlns:a="http://schemas.openxmlformats.org/drawingml/2006/main">
            <a:off x="8562975" y="2362200"/>
            <a:ext cx="29051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Separate recognition</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from localization.</a:t>
            </a:r>
          </a:p>
          <a:p xmlns:a="http://schemas.openxmlformats.org/drawingml/2006/main">
            <a:r>
              <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Reduce long-output</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failures.</a:t>
            </a:r>
          </a:p>
          <a:p xmlns:a="http://schemas.openxmlformats.org/drawingml/2006/main">
            <a:r>
              <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Study selection with</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usable OCR.</a:t>
            </a:r>
          </a:p>
        </p:txBody>
      </p:sp>
      <p:sp>
        <p:nvSpPr>
          <p:cNvPr id="16" name="">
            <a:extLst xmlns:a="http://schemas.openxmlformats.org/drawingml/2006/main">
              <a:ext uri="{FF2B5EF4-FFF2-40B4-BE49-F238E27FC236}">
                <a16:creationId xmlns:a16="http://schemas.microsoft.com/office/drawing/2014/main" id="{F3711A08-98EB-40F5-8457-E2D8427B582E}"/>
              </a:ext>
            </a:extLst>
          </p:cNvPr>
          <p:cNvSpPr>
            <a:spLocks xmlns:a="http://schemas.openxmlformats.org/drawingml/2006/main" noGrp="1"/>
          </p:cNvSpPr>
          <p:nvPr/>
        </p:nvSpPr>
        <p:spPr>
          <a:xfrm xmlns:a="http://schemas.openxmlformats.org/drawingml/2006/main">
            <a:off x="609600" y="58197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This is a different task and recipe; its CER is not a fair head-to-head gain over whole-page OCR.</a:t>
            </a:r>
          </a:p>
        </p:txBody>
      </p:sp>
    </p:spTree>
    <p:extLst>
      <p:ext uri="{BB962C8B-B14F-4D97-AF65-F5344CB8AC3E}">
        <p14:creationId xmlns:p14="http://schemas.microsoft.com/office/powerpoint/2010/main" val="1326218562"/>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C7881BE-1558-4A86-8170-706B7F2633F2}"/>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EXP-012 · ONE SEED, 824 · L4 GPU</a:t>
            </a:r>
          </a:p>
        </p:txBody>
      </p:sp>
      <p:sp>
        <p:nvSpPr>
          <p:cNvPr id="2" name="">
            <a:extLst xmlns:a="http://schemas.openxmlformats.org/drawingml/2006/main">
              <a:ext uri="{FF2B5EF4-FFF2-40B4-BE49-F238E27FC236}">
                <a16:creationId xmlns:a16="http://schemas.microsoft.com/office/drawing/2014/main" id="{41ED93E1-5729-4ACC-AA89-E155DBE1C628}"/>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Random selection is a strong known-box baseline</a:t>
            </a:r>
          </a:p>
        </p:txBody>
      </p:sp>
      <p:sp>
        <p:nvSpPr>
          <p:cNvPr id="3" name="">
            <a:extLst xmlns:a="http://schemas.openxmlformats.org/drawingml/2006/main">
              <a:ext uri="{FF2B5EF4-FFF2-40B4-BE49-F238E27FC236}">
                <a16:creationId xmlns:a16="http://schemas.microsoft.com/office/drawing/2014/main" id="{9297468C-F2BF-41CD-B226-7857CC5C3B40}"/>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99FC09E4-5AC1-4C97-9112-E6BA8CB529E0}"/>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Source: results/EXP-012.md · same 42 VAL pages / 861 lines at every checkpoint</a:t>
            </a:r>
          </a:p>
        </p:txBody>
      </p:sp>
      <p:sp>
        <p:nvSpPr>
          <p:cNvPr id="5" name="">
            <a:extLst xmlns:a="http://schemas.openxmlformats.org/drawingml/2006/main">
              <a:ext uri="{FF2B5EF4-FFF2-40B4-BE49-F238E27FC236}">
                <a16:creationId xmlns:a16="http://schemas.microsoft.com/office/drawing/2014/main" id="{821D2F20-0070-4369-9CFC-8E2B11879F15}"/>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08</a:t>
            </a:r>
          </a:p>
        </p:txBody>
      </p:sp>
      <p:graphicFrame>
        <p:nvGraphicFramePr>
          <p:cNvPr id="16" name="Chart"/>
          <p:cNvGraphicFramePr/>
          <p:nvPr/>
        </p:nvGraphicFramePr>
        <p:xfrm>
          <a:off xmlns:a="http://schemas.openxmlformats.org/drawingml/2006/main" x="447675" y="1657350"/>
          <a:ext xmlns:a="http://schemas.openxmlformats.org/drawingml/2006/main" cx="5991225" cy="3486150"/>
        </p:xfrm>
        <a:graphic xmlns:a="http://schemas.openxmlformats.org/drawingml/2006/main">
          <a:graphicData uri="http://schemas.openxmlformats.org/drawingml/2006/chart">
            <c:chart xmlns:r="http://schemas.openxmlformats.org/officeDocument/2006/relationships" xmlns:c="http://schemas.openxmlformats.org/drawingml/2006/chart" r:id="R231f46163c374e69"/>
          </a:graphicData>
        </a:graphic>
      </p:graphicFrame>
      <p:graphicFrame>
        <p:nvGraphicFramePr>
          <p:cNvPr id="17" name=""/>
          <p:cNvGraphicFramePr/>
          <p:nvPr/>
        </p:nvGraphicFramePr>
        <p:xfrm>
          <a:off xmlns:a="http://schemas.openxmlformats.org/drawingml/2006/main" x="6800850" y="1714500"/>
          <a:ext xmlns:a="http://schemas.openxmlformats.org/drawingml/2006/main" cx="4857750" cy="2705100"/>
        </p:xfrm>
        <a:graphic xmlns:a="http://schemas.openxmlformats.org/drawingml/2006/main">
          <a:graphicData uri="http://schemas.openxmlformats.org/drawingml/2006/table">
            <a:tbl>
              <a:tblPr/>
              <a:tblGrid>
                <a:gridCol w="990600"/>
                <a:gridCol w="1390650"/>
                <a:gridCol w="1238250"/>
                <a:gridCol w="1238250"/>
              </a:tblGrid>
              <a:tr h="541020">
                <a:tc>
                  <a:txBody>
                    <a:bodyPr/>
                    <a:lstStyle/>
                    <a:p>
                      <a:r>
                        <a:rPr sz="1575" b="1">
                          <a:solidFill>
                            <a:srgbClr val="FFFFFF"/>
                          </a:solidFill>
                          <a:latin typeface="Helvetica Neue"/>
                          <a:ea typeface="Helvetica Neue"/>
                          <a:cs typeface="Helvetica Neue"/>
                        </a:rPr>
                        <a:t>Pages</a:t>
                      </a:r>
                    </a:p>
                  </a:txBody>
                  <a:tcPr marL="114300" marR="114300" marT="95250" marB="95250" anchor="ctr">
                    <a:solidFill>
                      <a:srgbClr val="152C40"/>
                    </a:solidFill>
                  </a:tcPr>
                </a:tc>
                <a:tc>
                  <a:txBody>
                    <a:bodyPr/>
                    <a:lstStyle/>
                    <a:p>
                      <a:r>
                        <a:rPr sz="1575" b="1">
                          <a:solidFill>
                            <a:srgbClr val="FFFFFF"/>
                          </a:solidFill>
                          <a:latin typeface="Helvetica Neue"/>
                          <a:ea typeface="Helvetica Neue"/>
                          <a:cs typeface="Helvetica Neue"/>
                        </a:rPr>
                        <a:t>Train lines</a:t>
                      </a:r>
                    </a:p>
                  </a:txBody>
                  <a:tcPr marL="114300" marR="114300" marT="95250" marB="95250" anchor="ctr">
                    <a:solidFill>
                      <a:srgbClr val="152C40"/>
                    </a:solidFill>
                  </a:tcPr>
                </a:tc>
                <a:tc>
                  <a:txBody>
                    <a:bodyPr/>
                    <a:lstStyle/>
                    <a:p>
                      <a:r>
                        <a:rPr sz="1575" b="1">
                          <a:solidFill>
                            <a:srgbClr val="FFFFFF"/>
                          </a:solidFill>
                          <a:latin typeface="Helvetica Neue"/>
                          <a:ea typeface="Helvetica Neue"/>
                          <a:cs typeface="Helvetica Neue"/>
                        </a:rPr>
                        <a:t>CER</a:t>
                      </a:r>
                    </a:p>
                  </a:txBody>
                  <a:tcPr marL="114300" marR="114300" marT="95250" marB="95250" anchor="ctr">
                    <a:solidFill>
                      <a:srgbClr val="152C40"/>
                    </a:solidFill>
                  </a:tcPr>
                </a:tc>
                <a:tc>
                  <a:txBody>
                    <a:bodyPr/>
                    <a:lstStyle/>
                    <a:p>
                      <a:r>
                        <a:rPr sz="1575" b="1">
                          <a:solidFill>
                            <a:srgbClr val="FFFFFF"/>
                          </a:solidFill>
                          <a:latin typeface="Helvetica Neue"/>
                          <a:ea typeface="Helvetica Neue"/>
                          <a:cs typeface="Helvetica Neue"/>
                        </a:rPr>
                        <a:t>WER</a:t>
                      </a:r>
                    </a:p>
                  </a:txBody>
                  <a:tcPr marL="114300" marR="114300" marT="95250" marB="95250" anchor="ctr">
                    <a:solidFill>
                      <a:srgbClr val="152C40"/>
                    </a:solidFill>
                  </a:tcPr>
                </a:tc>
              </a:tr>
              <a:tr h="541020">
                <a:tc>
                  <a:txBody>
                    <a:bodyPr/>
                    <a:lstStyle/>
                    <a:p>
                      <a:r>
                        <a:rPr sz="1650">
                          <a:solidFill>
                            <a:srgbClr val="152C40"/>
                          </a:solidFill>
                          <a:latin typeface="Helvetica Neue"/>
                          <a:ea typeface="Helvetica Neue"/>
                          <a:cs typeface="Helvetica Neue"/>
                        </a:rPr>
                        <a:t>0</a:t>
                      </a:r>
                    </a:p>
                  </a:txBody>
                  <a:tcPr marL="114300" marR="114300" marT="95250" marB="95250" anchor="ctr">
                    <a:solidFill>
                      <a:srgbClr val="FFFFFF"/>
                    </a:solidFill>
                  </a:tcPr>
                </a:tc>
                <a:tc>
                  <a:txBody>
                    <a:bodyPr/>
                    <a:lstStyle/>
                    <a:p>
                      <a:r>
                        <a:rPr sz="1650">
                          <a:solidFill>
                            <a:srgbClr val="152C40"/>
                          </a:solidFill>
                          <a:latin typeface="Helvetica Neue"/>
                          <a:ea typeface="Helvetica Neue"/>
                          <a:cs typeface="Helvetica Neue"/>
                        </a:rPr>
                        <a:t>0</a:t>
                      </a:r>
                    </a:p>
                  </a:txBody>
                  <a:tcPr marL="114300" marR="114300" marT="95250" marB="95250" anchor="ctr">
                    <a:solidFill>
                      <a:srgbClr val="FFFFFF"/>
                    </a:solidFill>
                  </a:tcPr>
                </a:tc>
                <a:tc>
                  <a:txBody>
                    <a:bodyPr/>
                    <a:lstStyle/>
                    <a:p>
                      <a:r>
                        <a:rPr sz="1650">
                          <a:solidFill>
                            <a:srgbClr val="152C40"/>
                          </a:solidFill>
                          <a:latin typeface="Helvetica Neue"/>
                          <a:ea typeface="Helvetica Neue"/>
                          <a:cs typeface="Helvetica Neue"/>
                        </a:rPr>
                        <a:t>0.804</a:t>
                      </a:r>
                    </a:p>
                  </a:txBody>
                  <a:tcPr marL="114300" marR="114300" marT="95250" marB="95250" anchor="ctr">
                    <a:solidFill>
                      <a:srgbClr val="FFFFFF"/>
                    </a:solidFill>
                  </a:tcPr>
                </a:tc>
                <a:tc>
                  <a:txBody>
                    <a:bodyPr/>
                    <a:lstStyle/>
                    <a:p>
                      <a:r>
                        <a:rPr sz="1650">
                          <a:solidFill>
                            <a:srgbClr val="152C40"/>
                          </a:solidFill>
                          <a:latin typeface="Helvetica Neue"/>
                          <a:ea typeface="Helvetica Neue"/>
                          <a:cs typeface="Helvetica Neue"/>
                        </a:rPr>
                        <a:t>1.087</a:t>
                      </a:r>
                    </a:p>
                  </a:txBody>
                  <a:tcPr marL="114300" marR="114300" marT="95250" marB="95250" anchor="ctr">
                    <a:solidFill>
                      <a:srgbClr val="FFFFFF"/>
                    </a:solidFill>
                  </a:tcPr>
                </a:tc>
              </a:tr>
              <a:tr h="541020">
                <a:tc>
                  <a:txBody>
                    <a:bodyPr/>
                    <a:lstStyle/>
                    <a:p>
                      <a:r>
                        <a:rPr sz="1650">
                          <a:solidFill>
                            <a:srgbClr val="152C40"/>
                          </a:solidFill>
                          <a:latin typeface="Helvetica Neue"/>
                          <a:ea typeface="Helvetica Neue"/>
                          <a:cs typeface="Helvetica Neue"/>
                        </a:rPr>
                        <a:t>64</a:t>
                      </a:r>
                    </a:p>
                  </a:txBody>
                  <a:tcPr marL="114300" marR="114300" marT="95250" marB="95250" anchor="ctr">
                    <a:solidFill>
                      <a:srgbClr val="EEF3F5"/>
                    </a:solidFill>
                  </a:tcPr>
                </a:tc>
                <a:tc>
                  <a:txBody>
                    <a:bodyPr/>
                    <a:lstStyle/>
                    <a:p>
                      <a:r>
                        <a:rPr sz="1650">
                          <a:solidFill>
                            <a:srgbClr val="152C40"/>
                          </a:solidFill>
                          <a:latin typeface="Helvetica Neue"/>
                          <a:ea typeface="Helvetica Neue"/>
                          <a:cs typeface="Helvetica Neue"/>
                        </a:rPr>
                        <a:t>1,537</a:t>
                      </a:r>
                    </a:p>
                  </a:txBody>
                  <a:tcPr marL="114300" marR="114300" marT="95250" marB="95250" anchor="ctr">
                    <a:solidFill>
                      <a:srgbClr val="EEF3F5"/>
                    </a:solidFill>
                  </a:tcPr>
                </a:tc>
                <a:tc>
                  <a:txBody>
                    <a:bodyPr/>
                    <a:lstStyle/>
                    <a:p>
                      <a:r>
                        <a:rPr sz="1650">
                          <a:solidFill>
                            <a:srgbClr val="152C40"/>
                          </a:solidFill>
                          <a:latin typeface="Helvetica Neue"/>
                          <a:ea typeface="Helvetica Neue"/>
                          <a:cs typeface="Helvetica Neue"/>
                        </a:rPr>
                        <a:t>0.190</a:t>
                      </a:r>
                    </a:p>
                  </a:txBody>
                  <a:tcPr marL="114300" marR="114300" marT="95250" marB="95250" anchor="ctr">
                    <a:solidFill>
                      <a:srgbClr val="EEF3F5"/>
                    </a:solidFill>
                  </a:tcPr>
                </a:tc>
                <a:tc>
                  <a:txBody>
                    <a:bodyPr/>
                    <a:lstStyle/>
                    <a:p>
                      <a:r>
                        <a:rPr sz="1650">
                          <a:solidFill>
                            <a:srgbClr val="152C40"/>
                          </a:solidFill>
                          <a:latin typeface="Helvetica Neue"/>
                          <a:ea typeface="Helvetica Neue"/>
                          <a:cs typeface="Helvetica Neue"/>
                        </a:rPr>
                        <a:t>0.581</a:t>
                      </a:r>
                    </a:p>
                  </a:txBody>
                  <a:tcPr marL="114300" marR="114300" marT="95250" marB="95250" anchor="ctr">
                    <a:solidFill>
                      <a:srgbClr val="EEF3F5"/>
                    </a:solidFill>
                  </a:tcPr>
                </a:tc>
              </a:tr>
              <a:tr h="541020">
                <a:tc>
                  <a:txBody>
                    <a:bodyPr/>
                    <a:lstStyle/>
                    <a:p>
                      <a:r>
                        <a:rPr sz="1650">
                          <a:solidFill>
                            <a:srgbClr val="152C40"/>
                          </a:solidFill>
                          <a:latin typeface="Helvetica Neue"/>
                          <a:ea typeface="Helvetica Neue"/>
                          <a:cs typeface="Helvetica Neue"/>
                        </a:rPr>
                        <a:t>128</a:t>
                      </a:r>
                    </a:p>
                  </a:txBody>
                  <a:tcPr marL="114300" marR="114300" marT="95250" marB="95250" anchor="ctr">
                    <a:solidFill>
                      <a:srgbClr val="FFFFFF"/>
                    </a:solidFill>
                  </a:tcPr>
                </a:tc>
                <a:tc>
                  <a:txBody>
                    <a:bodyPr/>
                    <a:lstStyle/>
                    <a:p>
                      <a:r>
                        <a:rPr sz="1650">
                          <a:solidFill>
                            <a:srgbClr val="152C40"/>
                          </a:solidFill>
                          <a:latin typeface="Helvetica Neue"/>
                          <a:ea typeface="Helvetica Neue"/>
                          <a:cs typeface="Helvetica Neue"/>
                        </a:rPr>
                        <a:t>3,037</a:t>
                      </a:r>
                    </a:p>
                  </a:txBody>
                  <a:tcPr marL="114300" marR="114300" marT="95250" marB="95250" anchor="ctr">
                    <a:solidFill>
                      <a:srgbClr val="FFFFFF"/>
                    </a:solidFill>
                  </a:tcPr>
                </a:tc>
                <a:tc>
                  <a:txBody>
                    <a:bodyPr/>
                    <a:lstStyle/>
                    <a:p>
                      <a:r>
                        <a:rPr sz="1650">
                          <a:solidFill>
                            <a:srgbClr val="152C40"/>
                          </a:solidFill>
                          <a:latin typeface="Helvetica Neue"/>
                          <a:ea typeface="Helvetica Neue"/>
                          <a:cs typeface="Helvetica Neue"/>
                        </a:rPr>
                        <a:t>0.123</a:t>
                      </a:r>
                    </a:p>
                  </a:txBody>
                  <a:tcPr marL="114300" marR="114300" marT="95250" marB="95250" anchor="ctr">
                    <a:solidFill>
                      <a:srgbClr val="FFFFFF"/>
                    </a:solidFill>
                  </a:tcPr>
                </a:tc>
                <a:tc>
                  <a:txBody>
                    <a:bodyPr/>
                    <a:lstStyle/>
                    <a:p>
                      <a:r>
                        <a:rPr sz="1650">
                          <a:solidFill>
                            <a:srgbClr val="152C40"/>
                          </a:solidFill>
                          <a:latin typeface="Helvetica Neue"/>
                          <a:ea typeface="Helvetica Neue"/>
                          <a:cs typeface="Helvetica Neue"/>
                        </a:rPr>
                        <a:t>0.452</a:t>
                      </a:r>
                    </a:p>
                  </a:txBody>
                  <a:tcPr marL="114300" marR="114300" marT="95250" marB="95250" anchor="ctr">
                    <a:solidFill>
                      <a:srgbClr val="FFFFFF"/>
                    </a:solidFill>
                  </a:tcPr>
                </a:tc>
              </a:tr>
              <a:tr h="541020">
                <a:tc>
                  <a:txBody>
                    <a:bodyPr/>
                    <a:lstStyle/>
                    <a:p>
                      <a:r>
                        <a:rPr sz="1650">
                          <a:solidFill>
                            <a:srgbClr val="152C40"/>
                          </a:solidFill>
                          <a:latin typeface="Helvetica Neue"/>
                          <a:ea typeface="Helvetica Neue"/>
                          <a:cs typeface="Helvetica Neue"/>
                        </a:rPr>
                        <a:t>192</a:t>
                      </a:r>
                    </a:p>
                  </a:txBody>
                  <a:tcPr marL="114300" marR="114300" marT="95250" marB="95250" anchor="ctr">
                    <a:solidFill>
                      <a:srgbClr val="EEF3F5"/>
                    </a:solidFill>
                  </a:tcPr>
                </a:tc>
                <a:tc>
                  <a:txBody>
                    <a:bodyPr/>
                    <a:lstStyle/>
                    <a:p>
                      <a:r>
                        <a:rPr sz="1650">
                          <a:solidFill>
                            <a:srgbClr val="152C40"/>
                          </a:solidFill>
                          <a:latin typeface="Helvetica Neue"/>
                          <a:ea typeface="Helvetica Neue"/>
                          <a:cs typeface="Helvetica Neue"/>
                        </a:rPr>
                        <a:t>4,567</a:t>
                      </a:r>
                    </a:p>
                  </a:txBody>
                  <a:tcPr marL="114300" marR="114300" marT="95250" marB="95250" anchor="ctr">
                    <a:solidFill>
                      <a:srgbClr val="EEF3F5"/>
                    </a:solidFill>
                  </a:tcPr>
                </a:tc>
                <a:tc>
                  <a:txBody>
                    <a:bodyPr/>
                    <a:lstStyle/>
                    <a:p>
                      <a:r>
                        <a:rPr sz="1650">
                          <a:solidFill>
                            <a:srgbClr val="152C40"/>
                          </a:solidFill>
                          <a:latin typeface="Helvetica Neue"/>
                          <a:ea typeface="Helvetica Neue"/>
                          <a:cs typeface="Helvetica Neue"/>
                        </a:rPr>
                        <a:t>0.094</a:t>
                      </a:r>
                    </a:p>
                  </a:txBody>
                  <a:tcPr marL="114300" marR="114300" marT="95250" marB="95250" anchor="ctr">
                    <a:solidFill>
                      <a:srgbClr val="EEF3F5"/>
                    </a:solidFill>
                  </a:tcPr>
                </a:tc>
                <a:tc>
                  <a:txBody>
                    <a:bodyPr/>
                    <a:lstStyle/>
                    <a:p>
                      <a:r>
                        <a:rPr sz="1650">
                          <a:solidFill>
                            <a:srgbClr val="152C40"/>
                          </a:solidFill>
                          <a:latin typeface="Helvetica Neue"/>
                          <a:ea typeface="Helvetica Neue"/>
                          <a:cs typeface="Helvetica Neue"/>
                        </a:rPr>
                        <a:t>0.370</a:t>
                      </a:r>
                    </a:p>
                  </a:txBody>
                  <a:tcPr marL="114300" marR="114300" marT="95250" marB="95250" anchor="ctr">
                    <a:solidFill>
                      <a:srgbClr val="EEF3F5"/>
                    </a:solidFill>
                  </a:tcPr>
                </a:tc>
              </a:tr>
            </a:tbl>
          </a:graphicData>
        </a:graphic>
      </p:graphicFrame>
      <p:sp>
        <p:nvSpPr>
          <p:cNvPr id="8" name="">
            <a:extLst xmlns:a="http://schemas.openxmlformats.org/drawingml/2006/main">
              <a:ext uri="{FF2B5EF4-FFF2-40B4-BE49-F238E27FC236}">
                <a16:creationId xmlns:a16="http://schemas.microsoft.com/office/drawing/2014/main" id="{DD63C3D0-E4F9-45FE-B452-6F328A8A1FB9}"/>
              </a:ext>
            </a:extLst>
          </p:cNvPr>
          <p:cNvSpPr>
            <a:spLocks xmlns:a="http://schemas.openxmlformats.org/drawingml/2006/main" noGrp="1"/>
          </p:cNvSpPr>
          <p:nvPr/>
        </p:nvSpPr>
        <p:spPr>
          <a:xfrm xmlns:a="http://schemas.openxmlformats.org/drawingml/2006/main">
            <a:off x="6829425" y="46958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8A87"/>
                </a:solidFill>
                <a:latin typeface="Helvetica Neue"/>
                <a:ea typeface="Helvetica Neue"/>
                <a:cs typeface="Helvetica Neue"/>
              </a:defRPr>
            </a:pPr>
            <a:r>
              <a:rPr sz="2250" b="1">
                <a:solidFill>
                  <a:srgbClr val="008A87"/>
                </a:solidFill>
                <a:latin typeface="Helvetica Neue"/>
                <a:ea typeface="Helvetica Neue"/>
                <a:cs typeface="Helvetica Neue"/>
              </a:rPr>
              <a:t>The largest drop comes</a:t>
            </a:r>
          </a:p>
          <a:p xmlns:a="http://schemas.openxmlformats.org/drawingml/2006/main">
            <a:pPr algn="l">
              <a:defRPr sz="2250" b="1">
                <a:solidFill>
                  <a:srgbClr val="008A87"/>
                </a:solidFill>
                <a:latin typeface="Helvetica Neue"/>
                <a:ea typeface="Helvetica Neue"/>
                <a:cs typeface="Helvetica Neue"/>
              </a:defRPr>
            </a:pPr>
            <a:r>
              <a:rPr sz="2250" b="1">
                <a:solidFill>
                  <a:srgbClr val="008A87"/>
                </a:solidFill>
                <a:latin typeface="Helvetica Neue"/>
                <a:ea typeface="Helvetica Neue"/>
                <a:cs typeface="Helvetica Neue"/>
              </a:rPr>
              <a:t>with the first 64 pages</a:t>
            </a:r>
          </a:p>
        </p:txBody>
      </p:sp>
      <p:sp>
        <p:nvSpPr>
          <p:cNvPr id="9" name="">
            <a:extLst xmlns:a="http://schemas.openxmlformats.org/drawingml/2006/main">
              <a:ext uri="{FF2B5EF4-FFF2-40B4-BE49-F238E27FC236}">
                <a16:creationId xmlns:a16="http://schemas.microsoft.com/office/drawing/2014/main" id="{A4155671-9677-4A40-8B9B-A6B0A74A2F9A}"/>
              </a:ext>
            </a:extLst>
          </p:cNvPr>
          <p:cNvSpPr>
            <a:spLocks xmlns:a="http://schemas.openxmlformats.org/drawingml/2006/main" noGrp="1"/>
          </p:cNvSpPr>
          <p:nvPr/>
        </p:nvSpPr>
        <p:spPr>
          <a:xfrm xmlns:a="http://schemas.openxmlformats.org/drawingml/2006/main">
            <a:off x="609600" y="54483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1 epoch per fresh fit · 3 fixed rounds · capped VAL regions: 2 → 0 → 0 → 0</a:t>
            </a:r>
          </a:p>
        </p:txBody>
      </p:sp>
      <p:sp>
        <p:nvSpPr>
          <p:cNvPr id="10" name="">
            <a:extLst xmlns:a="http://schemas.openxmlformats.org/drawingml/2006/main">
              <a:ext uri="{FF2B5EF4-FFF2-40B4-BE49-F238E27FC236}">
                <a16:creationId xmlns:a16="http://schemas.microsoft.com/office/drawing/2014/main" id="{D1347D5D-4555-4BC1-97BD-ED269201292F}"/>
              </a:ext>
            </a:extLst>
          </p:cNvPr>
          <p:cNvSpPr>
            <a:spLocks xmlns:a="http://schemas.openxmlformats.org/drawingml/2006/main" noGrp="1"/>
          </p:cNvSpPr>
          <p:nvPr/>
        </p:nvSpPr>
        <p:spPr>
          <a:xfrm xmlns:a="http://schemas.openxmlformats.org/drawingml/2006/main">
            <a:off x="609600" y="591502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776"/>
                </a:solidFill>
                <a:latin typeface="Helvetica Neue"/>
                <a:ea typeface="Helvetica Neue"/>
                <a:cs typeface="Helvetica Neue"/>
              </a:defRPr>
            </a:pPr>
            <a:r>
              <a:rPr sz="1575" b="0">
                <a:solidFill>
                  <a:srgbClr val="526776"/>
                </a:solidFill>
                <a:latin typeface="Helvetica Neue"/>
                <a:ea typeface="Helvetica Neue"/>
                <a:cs typeface="Helvetica Neue"/>
              </a:rPr>
              <a:t>Establishes adaptation and a control curve; no model-informed selection comparison yet.</a:t>
            </a:r>
          </a:p>
        </p:txBody>
      </p:sp>
    </p:spTree>
    <p:extLst>
      <p:ext uri="{BB962C8B-B14F-4D97-AF65-F5344CB8AC3E}">
        <p14:creationId xmlns:p14="http://schemas.microsoft.com/office/powerpoint/2010/main" val="347471675"/>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23DC1BD-6249-442C-8F88-7AE0C6781F3F}"/>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EXP-013 DESIGN · 0 → 24 → 48 → 72 PAGES</a:t>
            </a:r>
          </a:p>
        </p:txBody>
      </p:sp>
      <p:sp>
        <p:nvSpPr>
          <p:cNvPr id="2" name="">
            <a:extLst xmlns:a="http://schemas.openxmlformats.org/drawingml/2006/main">
              <a:ext uri="{FF2B5EF4-FFF2-40B4-BE49-F238E27FC236}">
                <a16:creationId xmlns:a16="http://schemas.microsoft.com/office/drawing/2014/main" id="{A1AABD41-5361-47C3-B4D0-4E285451EAF7}"/>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Selection starts with each strategy’s own first batch</a:t>
            </a:r>
          </a:p>
        </p:txBody>
      </p:sp>
      <p:sp>
        <p:nvSpPr>
          <p:cNvPr id="3" name="">
            <a:extLst xmlns:a="http://schemas.openxmlformats.org/drawingml/2006/main">
              <a:ext uri="{FF2B5EF4-FFF2-40B4-BE49-F238E27FC236}">
                <a16:creationId xmlns:a16="http://schemas.microsoft.com/office/drawing/2014/main" id="{0D5CC385-AE3B-49EC-A03C-FCF49DF97969}"/>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270AA7E5-0104-4D60-9E26-6A2087E29F3A}"/>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Qwen3-VL-4B · recipe from EXP-012 · k-center motivation: Sener &amp; Savarese, ICLR 2018</a:t>
            </a:r>
          </a:p>
        </p:txBody>
      </p:sp>
      <p:sp>
        <p:nvSpPr>
          <p:cNvPr id="5" name="">
            <a:extLst xmlns:a="http://schemas.openxmlformats.org/drawingml/2006/main">
              <a:ext uri="{FF2B5EF4-FFF2-40B4-BE49-F238E27FC236}">
                <a16:creationId xmlns:a16="http://schemas.microsoft.com/office/drawing/2014/main" id="{0120E949-D612-4798-8A5C-A761C0FFB857}"/>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09</a:t>
            </a:r>
          </a:p>
        </p:txBody>
      </p:sp>
      <p:graphicFrame>
        <p:nvGraphicFramePr>
          <p:cNvPr id="19" name=""/>
          <p:cNvGraphicFramePr/>
          <p:nvPr/>
        </p:nvGraphicFramePr>
        <p:xfrm>
          <a:off xmlns:a="http://schemas.openxmlformats.org/drawingml/2006/main" x="609600" y="1590675"/>
          <a:ext xmlns:a="http://schemas.openxmlformats.org/drawingml/2006/main" cx="10972800" cy="2343150"/>
        </p:xfrm>
        <a:graphic xmlns:a="http://schemas.openxmlformats.org/drawingml/2006/main">
          <a:graphicData uri="http://schemas.openxmlformats.org/drawingml/2006/table">
            <a:tbl>
              <a:tblPr/>
              <a:tblGrid>
                <a:gridCol w="2762250"/>
                <a:gridCol w="8210550"/>
              </a:tblGrid>
              <a:tr h="468630">
                <a:tc>
                  <a:txBody>
                    <a:bodyPr/>
                    <a:lstStyle/>
                    <a:p>
                      <a:r>
                        <a:rPr sz="1575" b="1">
                          <a:solidFill>
                            <a:srgbClr val="FFFFFF"/>
                          </a:solidFill>
                          <a:latin typeface="Helvetica Neue"/>
                          <a:ea typeface="Helvetica Neue"/>
                          <a:cs typeface="Helvetica Neue"/>
                        </a:rPr>
                        <a:t>Strategy</a:t>
                      </a:r>
                    </a:p>
                  </a:txBody>
                  <a:tcPr marL="114300" marR="114300" marT="95250" marB="95250" anchor="ctr">
                    <a:solidFill>
                      <a:srgbClr val="152C40"/>
                    </a:solidFill>
                  </a:tcPr>
                </a:tc>
                <a:tc>
                  <a:txBody>
                    <a:bodyPr/>
                    <a:lstStyle/>
                    <a:p>
                      <a:r>
                        <a:rPr sz="1575" b="1">
                          <a:solidFill>
                            <a:srgbClr val="FFFFFF"/>
                          </a:solidFill>
                          <a:latin typeface="Helvetica Neue"/>
                          <a:ea typeface="Helvetica Neue"/>
                          <a:cs typeface="Helvetica Neue"/>
                        </a:rPr>
                        <a:t>How it chooses pages</a:t>
                      </a:r>
                    </a:p>
                  </a:txBody>
                  <a:tcPr marL="114300" marR="114300" marT="95250" marB="95250" anchor="ctr">
                    <a:solidFill>
                      <a:srgbClr val="152C40"/>
                    </a:solidFill>
                  </a:tcPr>
                </a:tc>
              </a:tr>
              <a:tr h="468630">
                <a:tc>
                  <a:txBody>
                    <a:bodyPr/>
                    <a:lstStyle/>
                    <a:p>
                      <a:r>
                        <a:rPr sz="1650">
                          <a:solidFill>
                            <a:srgbClr val="152C40"/>
                          </a:solidFill>
                          <a:latin typeface="Helvetica Neue"/>
                          <a:ea typeface="Helvetica Neue"/>
                          <a:cs typeface="Helvetica Neue"/>
                        </a:rPr>
                        <a:t>Random</a:t>
                      </a:r>
                    </a:p>
                  </a:txBody>
                  <a:tcPr marL="114300" marR="114300" marT="95250" marB="95250" anchor="ctr">
                    <a:solidFill>
                      <a:srgbClr val="FFFFFF"/>
                    </a:solidFill>
                  </a:tcPr>
                </a:tc>
                <a:tc>
                  <a:txBody>
                    <a:bodyPr/>
                    <a:lstStyle/>
                    <a:p>
                      <a:r>
                        <a:rPr sz="1650">
                          <a:solidFill>
                            <a:srgbClr val="152C40"/>
                          </a:solidFill>
                          <a:latin typeface="Helvetica Neue"/>
                          <a:ea typeface="Helvetica Neue"/>
                          <a:cs typeface="Helvetica Neue"/>
                        </a:rPr>
                        <a:t>Seeded random pages from the remaining pool</a:t>
                      </a:r>
                    </a:p>
                  </a:txBody>
                  <a:tcPr marL="114300" marR="114300" marT="95250" marB="95250" anchor="ctr">
                    <a:solidFill>
                      <a:srgbClr val="FFFFFF"/>
                    </a:solidFill>
                  </a:tcPr>
                </a:tc>
              </a:tr>
              <a:tr h="468630">
                <a:tc>
                  <a:txBody>
                    <a:bodyPr/>
                    <a:lstStyle/>
                    <a:p>
                      <a:r>
                        <a:rPr sz="1650">
                          <a:solidFill>
                            <a:srgbClr val="152C40"/>
                          </a:solidFill>
                          <a:latin typeface="Helvetica Neue"/>
                          <a:ea typeface="Helvetica Neue"/>
                          <a:cs typeface="Helvetica Neue"/>
                        </a:rPr>
                        <a:t>K-center</a:t>
                      </a:r>
                    </a:p>
                  </a:txBody>
                  <a:tcPr marL="114300" marR="114300" marT="95250" marB="95250" anchor="ctr">
                    <a:solidFill>
                      <a:srgbClr val="EEF3F5"/>
                    </a:solidFill>
                  </a:tcPr>
                </a:tc>
                <a:tc>
                  <a:txBody>
                    <a:bodyPr/>
                    <a:lstStyle/>
                    <a:p>
                      <a:r>
                        <a:rPr sz="1650">
                          <a:solidFill>
                            <a:srgbClr val="152C40"/>
                          </a:solidFill>
                          <a:latin typeface="Helvetica Neue"/>
                          <a:ea typeface="Helvetica Neue"/>
                          <a:cs typeface="Helvetica Neue"/>
                        </a:rPr>
                        <a:t>Frozen visual coverage; centroid-nearest first, then farthest</a:t>
                      </a:r>
                    </a:p>
                  </a:txBody>
                  <a:tcPr marL="114300" marR="114300" marT="95250" marB="95250" anchor="ctr">
                    <a:solidFill>
                      <a:srgbClr val="EEF3F5"/>
                    </a:solidFill>
                  </a:tcPr>
                </a:tc>
              </a:tr>
              <a:tr h="468630">
                <a:tc>
                  <a:txBody>
                    <a:bodyPr/>
                    <a:lstStyle/>
                    <a:p>
                      <a:r>
                        <a:rPr sz="1650">
                          <a:solidFill>
                            <a:srgbClr val="152C40"/>
                          </a:solidFill>
                          <a:latin typeface="Helvetica Neue"/>
                          <a:ea typeface="Helvetica Neue"/>
                          <a:cs typeface="Helvetica Neue"/>
                        </a:rPr>
                        <a:t>Entropy</a:t>
                      </a:r>
                    </a:p>
                  </a:txBody>
                  <a:tcPr marL="114300" marR="114300" marT="95250" marB="95250" anchor="ctr">
                    <a:solidFill>
                      <a:srgbClr val="FFFFFF"/>
                    </a:solidFill>
                  </a:tcPr>
                </a:tc>
                <a:tc>
                  <a:txBody>
                    <a:bodyPr/>
                    <a:lstStyle/>
                    <a:p>
                      <a:r>
                        <a:rPr sz="1650">
                          <a:solidFill>
                            <a:srgbClr val="152C40"/>
                          </a:solidFill>
                          <a:latin typeface="Helvetica Neue"/>
                          <a:ea typeface="Helvetica Neue"/>
                          <a:cs typeface="Helvetica Neue"/>
                        </a:rPr>
                        <a:t>Highest mean token-normalized uncertainty</a:t>
                      </a:r>
                    </a:p>
                  </a:txBody>
                  <a:tcPr marL="114300" marR="114300" marT="95250" marB="95250" anchor="ctr">
                    <a:solidFill>
                      <a:srgbClr val="FFFFFF"/>
                    </a:solidFill>
                  </a:tcPr>
                </a:tc>
              </a:tr>
              <a:tr h="468630">
                <a:tc>
                  <a:txBody>
                    <a:bodyPr/>
                    <a:lstStyle/>
                    <a:p>
                      <a:r>
                        <a:rPr sz="1650">
                          <a:solidFill>
                            <a:srgbClr val="152C40"/>
                          </a:solidFill>
                          <a:latin typeface="Helvetica Neue"/>
                          <a:ea typeface="Helvetica Neue"/>
                          <a:cs typeface="Helvetica Neue"/>
                        </a:rPr>
                        <a:t>Least confidence</a:t>
                      </a:r>
                    </a:p>
                  </a:txBody>
                  <a:tcPr marL="114300" marR="114300" marT="95250" marB="95250" anchor="ctr">
                    <a:solidFill>
                      <a:srgbClr val="EEF3F5"/>
                    </a:solidFill>
                  </a:tcPr>
                </a:tc>
                <a:tc>
                  <a:txBody>
                    <a:bodyPr/>
                    <a:lstStyle/>
                    <a:p>
                      <a:r>
                        <a:rPr sz="1650">
                          <a:solidFill>
                            <a:srgbClr val="152C40"/>
                          </a:solidFill>
                          <a:latin typeface="Helvetica Neue"/>
                          <a:ea typeface="Helvetica Neue"/>
                          <a:cs typeface="Helvetica Neue"/>
                        </a:rPr>
                        <a:t>Lowest mean geometric token confidence</a:t>
                      </a:r>
                    </a:p>
                  </a:txBody>
                  <a:tcPr marL="114300" marR="114300" marT="95250" marB="95250" anchor="ctr">
                    <a:solidFill>
                      <a:srgbClr val="EEF3F5"/>
                    </a:solidFill>
                  </a:tcPr>
                </a:tc>
              </a:tr>
            </a:tbl>
          </a:graphicData>
        </a:graphic>
      </p:graphicFrame>
      <p:sp>
        <p:nvSpPr>
          <p:cNvPr id="7" name="">
            <a:extLst xmlns:a="http://schemas.openxmlformats.org/drawingml/2006/main">
              <a:ext uri="{FF2B5EF4-FFF2-40B4-BE49-F238E27FC236}">
                <a16:creationId xmlns:a16="http://schemas.microsoft.com/office/drawing/2014/main" id="{92E6BB4E-CD3B-4AD2-BB98-BEE1A22296BD}"/>
              </a:ext>
            </a:extLst>
          </p:cNvPr>
          <p:cNvSpPr>
            <a:spLocks xmlns:a="http://schemas.openxmlformats.org/drawingml/2006/main" noGrp="1"/>
          </p:cNvSpPr>
          <p:nvPr/>
        </p:nvSpPr>
        <p:spPr>
          <a:xfrm xmlns:a="http://schemas.openxmlformats.org/drawingml/2006/main">
            <a:off x="609600" y="4448175"/>
            <a:ext cx="2743200" cy="752475"/>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3 fixed line crops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score each page</a:t>
            </a:r>
          </a:p>
        </p:txBody>
      </p:sp>
      <p:sp>
        <p:nvSpPr>
          <p:cNvPr id="8" name="">
            <a:extLst xmlns:a="http://schemas.openxmlformats.org/drawingml/2006/main">
              <a:ext uri="{FF2B5EF4-FFF2-40B4-BE49-F238E27FC236}">
                <a16:creationId xmlns:a16="http://schemas.microsoft.com/office/drawing/2014/main" id="{81246715-E9F4-424B-8D04-4974659C0FED}"/>
              </a:ext>
            </a:extLst>
          </p:cNvPr>
          <p:cNvSpPr>
            <a:spLocks xmlns:a="http://schemas.openxmlformats.org/drawingml/2006/main" noGrp="1"/>
          </p:cNvSpPr>
          <p:nvPr/>
        </p:nvSpPr>
        <p:spPr>
          <a:xfrm xmlns:a="http://schemas.openxmlformats.org/drawingml/2006/main">
            <a:off x="4191000" y="4448175"/>
            <a:ext cx="2790825" cy="752475"/>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Select 24 pages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with that strategy</a:t>
            </a:r>
          </a:p>
        </p:txBody>
      </p:sp>
      <p:sp>
        <p:nvSpPr>
          <p:cNvPr id="9" name="">
            <a:extLst xmlns:a="http://schemas.openxmlformats.org/drawingml/2006/main">
              <a:ext uri="{FF2B5EF4-FFF2-40B4-BE49-F238E27FC236}">
                <a16:creationId xmlns:a16="http://schemas.microsoft.com/office/drawing/2014/main" id="{78BB8383-BFCA-482C-A633-4416D3BF1BB9}"/>
              </a:ext>
            </a:extLst>
          </p:cNvPr>
          <p:cNvSpPr>
            <a:spLocks xmlns:a="http://schemas.openxmlformats.org/drawingml/2006/main" noGrp="1"/>
          </p:cNvSpPr>
          <p:nvPr/>
        </p:nvSpPr>
        <p:spPr>
          <a:xfrm xmlns:a="http://schemas.openxmlformats.org/drawingml/2006/main">
            <a:off x="7867650" y="4448175"/>
            <a:ext cx="3714750" cy="752475"/>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Reveal all their lines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and fit from base</a:t>
            </a:r>
          </a:p>
        </p:txBody>
      </p: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3352800" y="4824413"/>
            <a:ext cx="838200" cy="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24" name=""/>
          <p:cNvCxnSpPr>
            <a:stCxn xmlns:a="http://schemas.openxmlformats.org/drawingml/2006/main" id="8" idx="3"/>
            <a:endCxn xmlns:a="http://schemas.openxmlformats.org/drawingml/2006/main" id="9" idx="1"/>
          </p:cNvCxnSpPr>
          <p:nvPr/>
        </p:nvCxnSpPr>
        <p:spPr>
          <a:xfrm xmlns:a="http://schemas.openxmlformats.org/drawingml/2006/main">
            <a:off x="6981825" y="4824413"/>
            <a:ext cx="885825" cy="0"/>
          </a:xfrm>
          <a:prstGeom xmlns:a="http://schemas.openxmlformats.org/drawingml/2006/main" prst="straightConnector1">
            <a:avLst/>
          </a:prstGeom>
          <a:ln xmlns:a="http://schemas.openxmlformats.org/drawingml/2006/main" w="19050">
            <a:solidFill>
              <a:srgbClr val="526776"/>
            </a:solidFill>
            <a:tailEnd type="triangle" w="sm" len="sm"/>
          </a:ln>
        </p:spPr>
      </p:cxnSp>
      <p:sp>
        <p:nvSpPr>
          <p:cNvPr id="12" name="">
            <a:extLst xmlns:a="http://schemas.openxmlformats.org/drawingml/2006/main">
              <a:ext uri="{FF2B5EF4-FFF2-40B4-BE49-F238E27FC236}">
                <a16:creationId xmlns:a16="http://schemas.microsoft.com/office/drawing/2014/main" id="{BCD8F0DF-8537-4261-988F-A05C11EB785A}"/>
              </a:ext>
            </a:extLst>
          </p:cNvPr>
          <p:cNvSpPr>
            <a:spLocks xmlns:a="http://schemas.openxmlformats.org/drawingml/2006/main" noGrp="1"/>
          </p:cNvSpPr>
          <p:nvPr/>
        </p:nvSpPr>
        <p:spPr>
          <a:xfrm xmlns:a="http://schemas.openxmlformats.org/drawingml/2006/main">
            <a:off x="609600" y="544830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08A87"/>
                </a:solidFill>
                <a:latin typeface="Helvetica Neue"/>
                <a:ea typeface="Helvetica Neue"/>
                <a:cs typeface="Helvetica Neue"/>
              </a:defRPr>
            </a:pPr>
            <a:r>
              <a:rPr sz="1800" b="1">
                <a:solidFill>
                  <a:srgbClr val="008A87"/>
                </a:solidFill>
                <a:latin typeface="Helvetica Neue"/>
                <a:ea typeface="Helvetica Neue"/>
                <a:cs typeface="Helvetica Neue"/>
              </a:rPr>
              <a:t>No shared random warm start · Later uncertainty uses that arm’s previous adapter</a:t>
            </a:r>
          </a:p>
        </p:txBody>
      </p:sp>
      <p:sp>
        <p:nvSpPr>
          <p:cNvPr id="13" name="">
            <a:extLst xmlns:a="http://schemas.openxmlformats.org/drawingml/2006/main">
              <a:ext uri="{FF2B5EF4-FFF2-40B4-BE49-F238E27FC236}">
                <a16:creationId xmlns:a16="http://schemas.microsoft.com/office/drawing/2014/main" id="{F345B3B8-C6AB-4370-BC13-5CC2B2FBDBF0}"/>
              </a:ext>
            </a:extLst>
          </p:cNvPr>
          <p:cNvSpPr>
            <a:spLocks xmlns:a="http://schemas.openxmlformats.org/drawingml/2006/main" noGrp="1"/>
          </p:cNvSpPr>
          <p:nvPr/>
        </p:nvSpPr>
        <p:spPr>
          <a:xfrm xmlns:a="http://schemas.openxmlformats.org/drawingml/2006/main">
            <a:off x="609600" y="59245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776"/>
                </a:solidFill>
                <a:latin typeface="Helvetica Neue"/>
                <a:ea typeface="Helvetica Neue"/>
                <a:cs typeface="Helvetica Neue"/>
              </a:defRPr>
            </a:pPr>
            <a:r>
              <a:rPr sz="1575" b="0">
                <a:solidFill>
                  <a:srgbClr val="526776"/>
                </a:solidFill>
                <a:latin typeface="Helvetica Neue"/>
                <a:ea typeface="Helvetica Neue"/>
                <a:cs typeface="Helvetica Neue"/>
              </a:rPr>
              <a:t>0-page VAL42 baseline reused from EXP-012 after identity checks and local metric recomputation</a:t>
            </a:r>
          </a:p>
        </p:txBody>
      </p:sp>
    </p:spTree>
    <p:extLst>
      <p:ext uri="{BB962C8B-B14F-4D97-AF65-F5344CB8AC3E}">
        <p14:creationId xmlns:p14="http://schemas.microsoft.com/office/powerpoint/2010/main" val="1756943461"/>
      </p:ext>
    </p:extLst>
  </p:cSld>
</p:sld>
</file>

<file path=ppt/slides/slide10.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5433C8-4679-497E-876E-826CAE87FFEE}"/>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EXP-013 RESULTS · ONE CONFIGURED SEED</a:t>
            </a:r>
          </a:p>
        </p:txBody>
      </p:sp>
      <p:sp>
        <p:nvSpPr>
          <p:cNvPr id="2" name="">
            <a:extLst xmlns:a="http://schemas.openxmlformats.org/drawingml/2006/main">
              <a:ext uri="{FF2B5EF4-FFF2-40B4-BE49-F238E27FC236}">
                <a16:creationId xmlns:a16="http://schemas.microsoft.com/office/drawing/2014/main" id="{32E20A39-212F-4C7A-9311-E7BD997E9632}"/>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Uncertainty leads at 24 pages; random leads later</a:t>
            </a:r>
          </a:p>
        </p:txBody>
      </p:sp>
      <p:sp>
        <p:nvSpPr>
          <p:cNvPr id="3" name="">
            <a:extLst xmlns:a="http://schemas.openxmlformats.org/drawingml/2006/main">
              <a:ext uri="{FF2B5EF4-FFF2-40B4-BE49-F238E27FC236}">
                <a16:creationId xmlns:a16="http://schemas.microsoft.com/office/drawing/2014/main" id="{13A4376F-D1DE-42DC-8A48-F1F8DFF6D892}"/>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4063B341-894A-4787-BEC5-40EF75D71DEB}"/>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Same VAL42 / 861 lines · lower is better · original-model baseline reused from EXP-012</a:t>
            </a:r>
          </a:p>
        </p:txBody>
      </p:sp>
      <p:sp>
        <p:nvSpPr>
          <p:cNvPr id="5" name="">
            <a:extLst xmlns:a="http://schemas.openxmlformats.org/drawingml/2006/main">
              <a:ext uri="{FF2B5EF4-FFF2-40B4-BE49-F238E27FC236}">
                <a16:creationId xmlns:a16="http://schemas.microsoft.com/office/drawing/2014/main" id="{6BE011A5-4EAA-4C0D-80F2-7D9F04343D4C}"/>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10</a:t>
            </a:r>
          </a:p>
        </p:txBody>
      </p:sp>
      <p:graphicFrame>
        <p:nvGraphicFramePr>
          <p:cNvPr id="16" name="Chart"/>
          <p:cNvGraphicFramePr/>
          <p:nvPr/>
        </p:nvGraphicFramePr>
        <p:xfrm>
          <a:off xmlns:a="http://schemas.openxmlformats.org/drawingml/2006/main" x="419100" y="1504950"/>
          <a:ext xmlns:a="http://schemas.openxmlformats.org/drawingml/2006/main" cx="5657850" cy="3609975"/>
        </p:xfrm>
        <a:graphic xmlns:a="http://schemas.openxmlformats.org/drawingml/2006/main">
          <a:graphicData uri="http://schemas.openxmlformats.org/drawingml/2006/chart">
            <c:chart xmlns:r="http://schemas.openxmlformats.org/officeDocument/2006/relationships" xmlns:c="http://schemas.openxmlformats.org/drawingml/2006/chart" r:id="R68c2b29f784a4e7d"/>
          </a:graphicData>
        </a:graphic>
      </p:graphicFrame>
      <p:graphicFrame>
        <p:nvGraphicFramePr>
          <p:cNvPr id="17" name="Chart"/>
          <p:cNvGraphicFramePr/>
          <p:nvPr/>
        </p:nvGraphicFramePr>
        <p:xfrm>
          <a:off xmlns:a="http://schemas.openxmlformats.org/drawingml/2006/main" x="6162675" y="1504950"/>
          <a:ext xmlns:a="http://schemas.openxmlformats.org/drawingml/2006/main" cx="5657850" cy="3609975"/>
        </p:xfrm>
        <a:graphic xmlns:a="http://schemas.openxmlformats.org/drawingml/2006/main">
          <a:graphicData uri="http://schemas.openxmlformats.org/drawingml/2006/chart">
            <c:chart xmlns:r="http://schemas.openxmlformats.org/officeDocument/2006/relationships" xmlns:c="http://schemas.openxmlformats.org/drawingml/2006/chart" r:id="R79c0aa9935e94e70"/>
          </a:graphicData>
        </a:graphic>
      </p:graphicFrame>
      <p:sp>
        <p:nvSpPr>
          <p:cNvPr id="8" name="">
            <a:extLst xmlns:a="http://schemas.openxmlformats.org/drawingml/2006/main">
              <a:ext uri="{FF2B5EF4-FFF2-40B4-BE49-F238E27FC236}">
                <a16:creationId xmlns:a16="http://schemas.microsoft.com/office/drawing/2014/main" id="{1509A744-1D0B-4916-B3CD-D69D6E71FDEA}"/>
              </a:ext>
            </a:extLst>
          </p:cNvPr>
          <p:cNvSpPr>
            <a:spLocks xmlns:a="http://schemas.openxmlformats.org/drawingml/2006/main" noGrp="1"/>
          </p:cNvSpPr>
          <p:nvPr/>
        </p:nvSpPr>
        <p:spPr>
          <a:xfrm xmlns:a="http://schemas.openxmlformats.org/drawingml/2006/main">
            <a:off x="609600" y="51625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8A87"/>
                </a:solidFill>
                <a:latin typeface="Helvetica Neue"/>
                <a:ea typeface="Helvetica Neue"/>
                <a:cs typeface="Helvetica Neue"/>
              </a:defRPr>
            </a:pPr>
            <a:r>
              <a:rPr sz="1875" b="1">
                <a:solidFill>
                  <a:srgbClr val="008A87"/>
                </a:solidFill>
                <a:latin typeface="Helvetica Neue"/>
                <a:ea typeface="Helvetica Neue"/>
                <a:cs typeface="Helvetica Neue"/>
              </a:rPr>
              <a:t>At 24: entropy improves CER vs random by 5.45 percentage points</a:t>
            </a:r>
          </a:p>
        </p:txBody>
      </p:sp>
      <p:sp>
        <p:nvSpPr>
          <p:cNvPr id="9" name="">
            <a:extLst xmlns:a="http://schemas.openxmlformats.org/drawingml/2006/main">
              <a:ext uri="{FF2B5EF4-FFF2-40B4-BE49-F238E27FC236}">
                <a16:creationId xmlns:a16="http://schemas.microsoft.com/office/drawing/2014/main" id="{2053E0EB-D648-4F41-A60E-966502A3C858}"/>
              </a:ext>
            </a:extLst>
          </p:cNvPr>
          <p:cNvSpPr>
            <a:spLocks xmlns:a="http://schemas.openxmlformats.org/drawingml/2006/main" noGrp="1"/>
          </p:cNvSpPr>
          <p:nvPr/>
        </p:nvSpPr>
        <p:spPr>
          <a:xfrm xmlns:a="http://schemas.openxmlformats.org/drawingml/2006/main">
            <a:off x="609600" y="55816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At 72: random CER 0.175 · entropy 0.178 · k-center 0.184 · confidence 0.188</a:t>
            </a:r>
          </a:p>
        </p:txBody>
      </p:sp>
      <p:sp>
        <p:nvSpPr>
          <p:cNvPr id="10" name="">
            <a:extLst xmlns:a="http://schemas.openxmlformats.org/drawingml/2006/main">
              <a:ext uri="{FF2B5EF4-FFF2-40B4-BE49-F238E27FC236}">
                <a16:creationId xmlns:a16="http://schemas.microsoft.com/office/drawing/2014/main" id="{53ABCD85-5888-4845-9156-4490E8807842}"/>
              </a:ext>
            </a:extLst>
          </p:cNvPr>
          <p:cNvSpPr>
            <a:spLocks xmlns:a="http://schemas.openxmlformats.org/drawingml/2006/main" noGrp="1"/>
          </p:cNvSpPr>
          <p:nvPr/>
        </p:nvSpPr>
        <p:spPr>
          <a:xfrm xmlns:a="http://schemas.openxmlformats.org/drawingml/2006/main">
            <a:off x="609600" y="5981700"/>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776"/>
                </a:solidFill>
                <a:latin typeface="Helvetica Neue"/>
                <a:ea typeface="Helvetica Neue"/>
                <a:cs typeface="Helvetica Neue"/>
              </a:defRPr>
            </a:pPr>
            <a:r>
              <a:rPr sz="1500" b="0">
                <a:solidFill>
                  <a:srgbClr val="526776"/>
                </a:solidFill>
                <a:latin typeface="Helvetica Neue"/>
                <a:ea typeface="Helvetica Neue"/>
                <a:cs typeface="Helvetica Neue"/>
              </a:rPr>
              <a:t>0 capped VAL outputs after training · entropy/confidence share 37 of 72 pages</a:t>
            </a:r>
          </a:p>
        </p:txBody>
      </p:sp>
    </p:spTree>
    <p:extLst>
      <p:ext uri="{BB962C8B-B14F-4D97-AF65-F5344CB8AC3E}">
        <p14:creationId xmlns:p14="http://schemas.microsoft.com/office/powerpoint/2010/main" val="1929399837"/>
      </p:ext>
    </p:extLst>
  </p:cSld>
</p:sld>
</file>

<file path=ppt/slides/slide1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222EAB8-E075-469B-8514-DCEA4147ACFC}"/>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RESEARCH STAGE · WORKING PIPELINES, PRELIMINARY SELECTION EVIDENCE</a:t>
            </a:r>
          </a:p>
        </p:txBody>
      </p:sp>
      <p:sp>
        <p:nvSpPr>
          <p:cNvPr id="2" name="">
            <a:extLst xmlns:a="http://schemas.openxmlformats.org/drawingml/2006/main">
              <a:ext uri="{FF2B5EF4-FFF2-40B4-BE49-F238E27FC236}">
                <a16:creationId xmlns:a16="http://schemas.microsoft.com/office/drawing/2014/main" id="{5CF80876-65C8-4DA6-8436-C2CE9F1F24E8}"/>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Current findings and the next research test</a:t>
            </a:r>
          </a:p>
        </p:txBody>
      </p:sp>
      <p:sp>
        <p:nvSpPr>
          <p:cNvPr id="3" name="">
            <a:extLst xmlns:a="http://schemas.openxmlformats.org/drawingml/2006/main">
              <a:ext uri="{FF2B5EF4-FFF2-40B4-BE49-F238E27FC236}">
                <a16:creationId xmlns:a16="http://schemas.microsoft.com/office/drawing/2014/main" id="{4EBD7A67-E9F7-471C-AEF5-F84D9462AA5C}"/>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744C9682-3B38-4A33-9421-C7E96E27C83B}"/>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Methodological context: Munjal et al., CVPR 2022 · historical recognition: Aradillas et al., 2020</a:t>
            </a:r>
          </a:p>
        </p:txBody>
      </p:sp>
      <p:sp>
        <p:nvSpPr>
          <p:cNvPr id="5" name="">
            <a:extLst xmlns:a="http://schemas.openxmlformats.org/drawingml/2006/main">
              <a:ext uri="{FF2B5EF4-FFF2-40B4-BE49-F238E27FC236}">
                <a16:creationId xmlns:a16="http://schemas.microsoft.com/office/drawing/2014/main" id="{D9AA06F3-5AB5-478D-8539-6AC4A3193035}"/>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2228B3EF-7018-4C1D-B65A-8DFAEE8A9A89}"/>
              </a:ext>
            </a:extLst>
          </p:cNvPr>
          <p:cNvSpPr>
            <a:spLocks xmlns:a="http://schemas.openxmlformats.org/drawingml/2006/main" noGrp="1"/>
          </p:cNvSpPr>
          <p:nvPr/>
        </p:nvSpPr>
        <p:spPr>
          <a:xfrm xmlns:a="http://schemas.openxmlformats.org/drawingml/2006/main">
            <a:off x="609600" y="1647825"/>
            <a:ext cx="4857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008A87"/>
                </a:solidFill>
                <a:latin typeface="Helvetica Neue"/>
                <a:ea typeface="Helvetica Neue"/>
                <a:cs typeface="Helvetica Neue"/>
              </a:defRPr>
            </a:pPr>
            <a:r>
              <a:rPr sz="2325" b="1">
                <a:solidFill>
                  <a:srgbClr val="008A87"/>
                </a:solidFill>
                <a:latin typeface="Helvetica Neue"/>
                <a:ea typeface="Helvetica Neue"/>
                <a:cs typeface="Helvetica Neue"/>
              </a:rPr>
              <a:t>Established</a:t>
            </a:r>
          </a:p>
        </p:txBody>
      </p:sp>
      <p:sp>
        <p:nvSpPr>
          <p:cNvPr id="7" name="">
            <a:extLst xmlns:a="http://schemas.openxmlformats.org/drawingml/2006/main">
              <a:ext uri="{FF2B5EF4-FFF2-40B4-BE49-F238E27FC236}">
                <a16:creationId xmlns:a16="http://schemas.microsoft.com/office/drawing/2014/main" id="{AD9169E8-71CD-42C8-AF67-EA61EC757A27}"/>
              </a:ext>
            </a:extLst>
          </p:cNvPr>
          <p:cNvSpPr>
            <a:spLocks xmlns:a="http://schemas.openxmlformats.org/drawingml/2006/main" noGrp="1"/>
          </p:cNvSpPr>
          <p:nvPr/>
        </p:nvSpPr>
        <p:spPr>
          <a:xfrm xmlns:a="http://schemas.openxmlformats.org/drawingml/2006/main">
            <a:off x="609600" y="2314575"/>
            <a:ext cx="5095875"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52C40"/>
                </a:solidFill>
                <a:latin typeface="Helvetica Neue"/>
                <a:ea typeface="Helvetica Neue"/>
                <a:cs typeface="Helvetica Neue"/>
              </a:defRPr>
            </a:pPr>
            <a:r>
              <a:rPr sz="2025" b="0">
                <a:solidFill>
                  <a:srgbClr val="152C40"/>
                </a:solidFill>
                <a:latin typeface="Helvetica Neue"/>
                <a:ea typeface="Helvetica Neue"/>
                <a:cs typeface="Helvetica Neue"/>
              </a:rPr>
              <a:t>Domain fine-tuning improves recognition.</a:t>
            </a:r>
          </a:p>
          <a:p xmlns:a="http://schemas.openxmlformats.org/drawingml/2006/main">
            <a:r>
              <a:t/>
            </a:r>
          </a:p>
          <a:p xmlns:a="http://schemas.openxmlformats.org/drawingml/2006/main">
            <a:pPr algn="l">
              <a:defRPr sz="2025" b="0">
                <a:solidFill>
                  <a:srgbClr val="152C40"/>
                </a:solidFill>
                <a:latin typeface="Helvetica Neue"/>
                <a:ea typeface="Helvetica Neue"/>
                <a:cs typeface="Helvetica Neue"/>
              </a:defRPr>
            </a:pPr>
            <a:r>
              <a:rPr sz="2025" b="0">
                <a:solidFill>
                  <a:srgbClr val="152C40"/>
                </a:solidFill>
                <a:latin typeface="Helvetica Neue"/>
                <a:ea typeface="Helvetica Neue"/>
                <a:cs typeface="Helvetica Neue"/>
              </a:rPr>
              <a:t>Both page and crop pipelines run.</a:t>
            </a:r>
          </a:p>
          <a:p xmlns:a="http://schemas.openxmlformats.org/drawingml/2006/main">
            <a:r>
              <a:t/>
            </a:r>
          </a:p>
          <a:p xmlns:a="http://schemas.openxmlformats.org/drawingml/2006/main">
            <a:pPr algn="l">
              <a:defRPr sz="2025" b="0">
                <a:solidFill>
                  <a:srgbClr val="152C40"/>
                </a:solidFill>
                <a:latin typeface="Helvetica Neue"/>
                <a:ea typeface="Helvetica Neue"/>
                <a:cs typeface="Helvetica Neue"/>
              </a:defRPr>
            </a:pPr>
            <a:r>
              <a:rPr sz="2025" b="0">
                <a:solidFill>
                  <a:srgbClr val="152C40"/>
                </a:solidFill>
                <a:latin typeface="Helvetica Neue"/>
                <a:ea typeface="Helvetica Neue"/>
                <a:cs typeface="Helvetica Neue"/>
              </a:rPr>
              <a:t>Random is a necessary strong control.</a:t>
            </a:r>
          </a:p>
        </p:txBody>
      </p:sp>
      <p:sp>
        <p:nvSpPr>
          <p:cNvPr id="8" name="">
            <a:extLst xmlns:a="http://schemas.openxmlformats.org/drawingml/2006/main">
              <a:ext uri="{FF2B5EF4-FFF2-40B4-BE49-F238E27FC236}">
                <a16:creationId xmlns:a16="http://schemas.microsoft.com/office/drawing/2014/main" id="{A6E03A3E-C782-45EE-8005-CFA7B307D831}"/>
              </a:ext>
            </a:extLst>
          </p:cNvPr>
          <p:cNvSpPr>
            <a:spLocks xmlns:a="http://schemas.openxmlformats.org/drawingml/2006/main" noGrp="1"/>
          </p:cNvSpPr>
          <p:nvPr/>
        </p:nvSpPr>
        <p:spPr>
          <a:xfrm xmlns:a="http://schemas.openxmlformats.org/drawingml/2006/main">
            <a:off x="6677025" y="1647825"/>
            <a:ext cx="4857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C77920"/>
                </a:solidFill>
                <a:latin typeface="Helvetica Neue"/>
                <a:ea typeface="Helvetica Neue"/>
                <a:cs typeface="Helvetica Neue"/>
              </a:defRPr>
            </a:pPr>
            <a:r>
              <a:rPr sz="2325" b="1">
                <a:solidFill>
                  <a:srgbClr val="C77920"/>
                </a:solidFill>
                <a:latin typeface="Helvetica Neue"/>
                <a:ea typeface="Helvetica Neue"/>
                <a:cs typeface="Helvetica Neue"/>
              </a:rPr>
              <a:t>Still unproven</a:t>
            </a:r>
          </a:p>
        </p:txBody>
      </p:sp>
      <p:sp>
        <p:nvSpPr>
          <p:cNvPr id="9" name="">
            <a:extLst xmlns:a="http://schemas.openxmlformats.org/drawingml/2006/main">
              <a:ext uri="{FF2B5EF4-FFF2-40B4-BE49-F238E27FC236}">
                <a16:creationId xmlns:a16="http://schemas.microsoft.com/office/drawing/2014/main" id="{353209CF-37F6-4774-BEA4-13C637B8CF30}"/>
              </a:ext>
            </a:extLst>
          </p:cNvPr>
          <p:cNvSpPr>
            <a:spLocks xmlns:a="http://schemas.openxmlformats.org/drawingml/2006/main" noGrp="1"/>
          </p:cNvSpPr>
          <p:nvPr/>
        </p:nvSpPr>
        <p:spPr>
          <a:xfrm xmlns:a="http://schemas.openxmlformats.org/drawingml/2006/main">
            <a:off x="6677025" y="2314575"/>
            <a:ext cx="48577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52C40"/>
                </a:solidFill>
                <a:latin typeface="Helvetica Neue"/>
                <a:ea typeface="Helvetica Neue"/>
                <a:cs typeface="Helvetica Neue"/>
              </a:defRPr>
            </a:pPr>
            <a:r>
              <a:rPr sz="2025" b="0">
                <a:solidFill>
                  <a:srgbClr val="152C40"/>
                </a:solidFill>
                <a:latin typeface="Helvetica Neue"/>
                <a:ea typeface="Helvetica Neue"/>
                <a:cs typeface="Helvetica Neue"/>
              </a:rPr>
              <a:t>Repeatable annotation savings.</a:t>
            </a:r>
          </a:p>
          <a:p xmlns:a="http://schemas.openxmlformats.org/drawingml/2006/main">
            <a:r>
              <a:t/>
            </a:r>
          </a:p>
          <a:p xmlns:a="http://schemas.openxmlformats.org/drawingml/2006/main">
            <a:pPr algn="l">
              <a:defRPr sz="2025" b="0">
                <a:solidFill>
                  <a:srgbClr val="152C40"/>
                </a:solidFill>
                <a:latin typeface="Helvetica Neue"/>
                <a:ea typeface="Helvetica Neue"/>
                <a:cs typeface="Helvetica Neue"/>
              </a:defRPr>
            </a:pPr>
            <a:r>
              <a:rPr sz="2025" b="0">
                <a:solidFill>
                  <a:srgbClr val="152C40"/>
                </a:solidFill>
                <a:latin typeface="Helvetica Neue"/>
                <a:ea typeface="Helvetica Neue"/>
                <a:cs typeface="Helvetica Neue"/>
              </a:rPr>
              <a:t>Independent-document generalization.</a:t>
            </a:r>
          </a:p>
          <a:p xmlns:a="http://schemas.openxmlformats.org/drawingml/2006/main">
            <a:r>
              <a:t/>
            </a:r>
          </a:p>
          <a:p xmlns:a="http://schemas.openxmlformats.org/drawingml/2006/main">
            <a:pPr algn="l">
              <a:defRPr sz="2025" b="0">
                <a:solidFill>
                  <a:srgbClr val="152C40"/>
                </a:solidFill>
                <a:latin typeface="Helvetica Neue"/>
                <a:ea typeface="Helvetica Neue"/>
                <a:cs typeface="Helvetica Neue"/>
              </a:defRPr>
            </a:pPr>
            <a:r>
              <a:rPr sz="2025" b="0">
                <a:solidFill>
                  <a:srgbClr val="152C40"/>
                </a:solidFill>
                <a:latin typeface="Helvetica Neue"/>
                <a:ea typeface="Helvetica Neue"/>
                <a:cs typeface="Helvetica Neue"/>
              </a:rPr>
              <a:t>Box detection or human-time savings.</a:t>
            </a:r>
          </a:p>
        </p:txBody>
      </p:sp>
      <p:sp>
        <p:nvSpPr>
          <p:cNvPr id="10" name="">
            <a:extLst xmlns:a="http://schemas.openxmlformats.org/drawingml/2006/main">
              <a:ext uri="{FF2B5EF4-FFF2-40B4-BE49-F238E27FC236}">
                <a16:creationId xmlns:a16="http://schemas.microsoft.com/office/drawing/2014/main" id="{407C1CF9-9016-40FA-8310-1B35C26FEC0A}"/>
              </a:ext>
            </a:extLst>
          </p:cNvPr>
          <p:cNvSpPr>
            <a:spLocks xmlns:a="http://schemas.openxmlformats.org/drawingml/2006/main" noGrp="1"/>
          </p:cNvSpPr>
          <p:nvPr/>
        </p:nvSpPr>
        <p:spPr>
          <a:xfrm xmlns:a="http://schemas.openxmlformats.org/drawingml/2006/main">
            <a:off x="609600" y="42767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776"/>
                </a:solidFill>
                <a:latin typeface="Helvetica Neue"/>
                <a:ea typeface="Helvetica Neue"/>
                <a:cs typeface="Helvetica Neue"/>
              </a:defRPr>
            </a:pPr>
            <a:r>
              <a:rPr sz="1500" b="0">
                <a:solidFill>
                  <a:srgbClr val="526776"/>
                </a:solidFill>
                <a:latin typeface="Helvetica Neue"/>
                <a:ea typeface="Helvetica Neue"/>
                <a:cs typeface="Helvetica Neue"/>
              </a:rPr>
              <a:t>EXP-013: one seed; LoRA initialization was not explicitly seeded. Official validation only.</a:t>
            </a:r>
          </a:p>
        </p:txBody>
      </p:sp>
      <p:sp>
        <p:nvSpPr>
          <p:cNvPr id="11" name="">
            <a:extLst xmlns:a="http://schemas.openxmlformats.org/drawingml/2006/main">
              <a:ext uri="{FF2B5EF4-FFF2-40B4-BE49-F238E27FC236}">
                <a16:creationId xmlns:a16="http://schemas.microsoft.com/office/drawing/2014/main" id="{5B6D400B-F802-4A3C-8358-3BF4EBB636EB}"/>
              </a:ext>
            </a:extLst>
          </p:cNvPr>
          <p:cNvSpPr>
            <a:spLocks xmlns:a="http://schemas.openxmlformats.org/drawingml/2006/main" noGrp="1"/>
          </p:cNvSpPr>
          <p:nvPr/>
        </p:nvSpPr>
        <p:spPr>
          <a:xfrm xmlns:a="http://schemas.openxmlformats.org/drawingml/2006/main">
            <a:off x="609600" y="4638675"/>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12" name="">
            <a:extLst xmlns:a="http://schemas.openxmlformats.org/drawingml/2006/main">
              <a:ext uri="{FF2B5EF4-FFF2-40B4-BE49-F238E27FC236}">
                <a16:creationId xmlns:a16="http://schemas.microsoft.com/office/drawing/2014/main" id="{6684431F-7314-45AD-862C-F4D759D2535A}"/>
              </a:ext>
            </a:extLst>
          </p:cNvPr>
          <p:cNvSpPr>
            <a:spLocks xmlns:a="http://schemas.openxmlformats.org/drawingml/2006/main" noGrp="1"/>
          </p:cNvSpPr>
          <p:nvPr/>
        </p:nvSpPr>
        <p:spPr>
          <a:xfrm xmlns:a="http://schemas.openxmlformats.org/drawingml/2006/main">
            <a:off x="609600" y="48482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52C40"/>
                </a:solidFill>
                <a:latin typeface="Helvetica Neue"/>
                <a:ea typeface="Helvetica Neue"/>
                <a:cs typeface="Helvetica Neue"/>
              </a:defRPr>
            </a:pPr>
            <a:r>
              <a:rPr sz="2025" b="1">
                <a:solidFill>
                  <a:srgbClr val="152C40"/>
                </a:solidFill>
                <a:latin typeface="Helvetica Neue"/>
                <a:ea typeface="Helvetica Neue"/>
                <a:cs typeface="Helvetica Neue"/>
              </a:rPr>
              <a:t>Next: repeat the 24/48/72 comparison with controlled LoRA initialization</a:t>
            </a:r>
          </a:p>
        </p:txBody>
      </p:sp>
      <p:sp>
        <p:nvSpPr>
          <p:cNvPr id="13" name="">
            <a:extLst xmlns:a="http://schemas.openxmlformats.org/drawingml/2006/main">
              <a:ext uri="{FF2B5EF4-FFF2-40B4-BE49-F238E27FC236}">
                <a16:creationId xmlns:a16="http://schemas.microsoft.com/office/drawing/2014/main" id="{F152BE59-C8AB-468D-B4AF-4E4742FCB827}"/>
              </a:ext>
            </a:extLst>
          </p:cNvPr>
          <p:cNvSpPr>
            <a:spLocks xmlns:a="http://schemas.openxmlformats.org/drawingml/2006/main" noGrp="1"/>
          </p:cNvSpPr>
          <p:nvPr/>
        </p:nvSpPr>
        <p:spPr>
          <a:xfrm xmlns:a="http://schemas.openxmlformats.org/drawingml/2006/main">
            <a:off x="609600" y="54006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Seed before constructing adapters; pair multiple seeds; retain random and fixed evaluation.</a:t>
            </a:r>
          </a:p>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Then test whether OCR uncertainty plus diversity improves early-budget selection.</a:t>
            </a:r>
          </a:p>
        </p:txBody>
      </p:sp>
    </p:spTree>
    <p:extLst>
      <p:ext uri="{BB962C8B-B14F-4D97-AF65-F5344CB8AC3E}">
        <p14:creationId xmlns:p14="http://schemas.microsoft.com/office/powerpoint/2010/main" val="2023502021"/>
      </p:ext>
    </p:extLst>
  </p:cSld>
</p:sld>
</file>

<file path=ppt/slides/slide1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166B05C-E294-4CAB-A1D1-327ABFD63985}"/>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READING GUIDE · PAPERS MOTIVATE DESIGN, NOT CLAIMS ABOUT OUR RESULTS</a:t>
            </a:r>
          </a:p>
        </p:txBody>
      </p:sp>
      <p:sp>
        <p:nvSpPr>
          <p:cNvPr id="2" name="">
            <a:extLst xmlns:a="http://schemas.openxmlformats.org/drawingml/2006/main">
              <a:ext uri="{FF2B5EF4-FFF2-40B4-BE49-F238E27FC236}">
                <a16:creationId xmlns:a16="http://schemas.microsoft.com/office/drawing/2014/main" id="{9FCF1D7C-2CA0-41BA-A3AC-A5D086C82F62}"/>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References and experiment records</a:t>
            </a:r>
          </a:p>
        </p:txBody>
      </p:sp>
      <p:sp>
        <p:nvSpPr>
          <p:cNvPr id="3" name="">
            <a:extLst xmlns:a="http://schemas.openxmlformats.org/drawingml/2006/main">
              <a:ext uri="{FF2B5EF4-FFF2-40B4-BE49-F238E27FC236}">
                <a16:creationId xmlns:a16="http://schemas.microsoft.com/office/drawing/2014/main" id="{561A9375-2D7C-448C-8D33-B7E35E79997E}"/>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0E0428D2-1F6A-424C-A75C-08DC6B69F9E2}"/>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Project evidence: github.com/bbryant824/ocr-finetuning · main · results/ and experiments/</a:t>
            </a:r>
          </a:p>
        </p:txBody>
      </p:sp>
      <p:sp>
        <p:nvSpPr>
          <p:cNvPr id="5" name="">
            <a:extLst xmlns:a="http://schemas.openxmlformats.org/drawingml/2006/main">
              <a:ext uri="{FF2B5EF4-FFF2-40B4-BE49-F238E27FC236}">
                <a16:creationId xmlns:a16="http://schemas.microsoft.com/office/drawing/2014/main" id="{46BD66CD-C2C8-4E45-9DFB-A75661722F2C}"/>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44BE343D-8B28-4073-BEE1-DF3C3BCD4754}"/>
              </a:ext>
            </a:extLst>
          </p:cNvPr>
          <p:cNvSpPr>
            <a:spLocks xmlns:a="http://schemas.openxmlformats.org/drawingml/2006/main" noGrp="1"/>
          </p:cNvSpPr>
          <p:nvPr/>
        </p:nvSpPr>
        <p:spPr>
          <a:xfrm xmlns:a="http://schemas.openxmlformats.org/drawingml/2006/main">
            <a:off x="609600" y="15621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C40"/>
                </a:solidFill>
                <a:latin typeface="Helvetica Neue"/>
                <a:ea typeface="Helvetica Neue"/>
                <a:cs typeface="Helvetica Neue"/>
              </a:defRPr>
            </a:pPr>
            <a:r>
              <a:rPr sz="1800" b="1">
                <a:solidFill>
                  <a:srgbClr val="152C40"/>
                </a:solidFill>
                <a:latin typeface="Helvetica Neue"/>
                <a:ea typeface="Helvetica Neue"/>
                <a:cs typeface="Helvetica Neue"/>
                <a:hlinkClick xmlns:r="http://schemas.openxmlformats.org/officeDocument/2006/relationships" r:id="R50cabda93ef244ff"/>
              </a:rPr>
              <a:t>Sener &amp; Savarese · ICLR 2018</a:t>
            </a:r>
          </a:p>
        </p:txBody>
      </p:sp>
      <p:sp>
        <p:nvSpPr>
          <p:cNvPr id="7" name="">
            <a:extLst xmlns:a="http://schemas.openxmlformats.org/drawingml/2006/main">
              <a:ext uri="{FF2B5EF4-FFF2-40B4-BE49-F238E27FC236}">
                <a16:creationId xmlns:a16="http://schemas.microsoft.com/office/drawing/2014/main" id="{3B149B17-BF61-4D3E-8DFC-80B25124888B}"/>
              </a:ext>
            </a:extLst>
          </p:cNvPr>
          <p:cNvSpPr>
            <a:spLocks xmlns:a="http://schemas.openxmlformats.org/drawingml/2006/main" noGrp="1"/>
          </p:cNvSpPr>
          <p:nvPr/>
        </p:nvSpPr>
        <p:spPr>
          <a:xfrm xmlns:a="http://schemas.openxmlformats.org/drawingml/2006/main">
            <a:off x="609600" y="1885950"/>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Core-set coverage motivates k-center; classification ≠ OCR.</a:t>
            </a:r>
          </a:p>
        </p:txBody>
      </p:sp>
      <p:sp>
        <p:nvSpPr>
          <p:cNvPr id="8" name="">
            <a:extLst xmlns:a="http://schemas.openxmlformats.org/drawingml/2006/main">
              <a:ext uri="{FF2B5EF4-FFF2-40B4-BE49-F238E27FC236}">
                <a16:creationId xmlns:a16="http://schemas.microsoft.com/office/drawing/2014/main" id="{C3021F0A-15C6-4879-8CCF-C1366416A724}"/>
              </a:ext>
            </a:extLst>
          </p:cNvPr>
          <p:cNvSpPr>
            <a:spLocks xmlns:a="http://schemas.openxmlformats.org/drawingml/2006/main" noGrp="1"/>
          </p:cNvSpPr>
          <p:nvPr/>
        </p:nvSpPr>
        <p:spPr>
          <a:xfrm xmlns:a="http://schemas.openxmlformats.org/drawingml/2006/main">
            <a:off x="609600" y="2257425"/>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C40"/>
                </a:solidFill>
                <a:latin typeface="Helvetica Neue"/>
                <a:ea typeface="Helvetica Neue"/>
                <a:cs typeface="Helvetica Neue"/>
              </a:defRPr>
            </a:pPr>
            <a:r>
              <a:rPr sz="1800" b="1">
                <a:solidFill>
                  <a:srgbClr val="152C40"/>
                </a:solidFill>
                <a:latin typeface="Helvetica Neue"/>
                <a:ea typeface="Helvetica Neue"/>
                <a:cs typeface="Helvetica Neue"/>
                <a:hlinkClick xmlns:r="http://schemas.openxmlformats.org/officeDocument/2006/relationships" r:id="Rbd1aec6a83114a4f"/>
              </a:rPr>
              <a:t>Munjal et al. · CVPR 2022</a:t>
            </a:r>
          </a:p>
        </p:txBody>
      </p:sp>
      <p:sp>
        <p:nvSpPr>
          <p:cNvPr id="9" name="">
            <a:extLst xmlns:a="http://schemas.openxmlformats.org/drawingml/2006/main">
              <a:ext uri="{FF2B5EF4-FFF2-40B4-BE49-F238E27FC236}">
                <a16:creationId xmlns:a16="http://schemas.microsoft.com/office/drawing/2014/main" id="{6362F7E7-F257-42B6-A6FD-030F680F779F}"/>
              </a:ext>
            </a:extLst>
          </p:cNvPr>
          <p:cNvSpPr>
            <a:spLocks xmlns:a="http://schemas.openxmlformats.org/drawingml/2006/main" noGrp="1"/>
          </p:cNvSpPr>
          <p:nvPr/>
        </p:nvSpPr>
        <p:spPr>
          <a:xfrm xmlns:a="http://schemas.openxmlformats.org/drawingml/2006/main">
            <a:off x="609600" y="25812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Strong random controls and stochasticity-sensitive evaluation.</a:t>
            </a:r>
          </a:p>
        </p:txBody>
      </p:sp>
      <p:sp>
        <p:nvSpPr>
          <p:cNvPr id="10" name="">
            <a:extLst xmlns:a="http://schemas.openxmlformats.org/drawingml/2006/main">
              <a:ext uri="{FF2B5EF4-FFF2-40B4-BE49-F238E27FC236}">
                <a16:creationId xmlns:a16="http://schemas.microsoft.com/office/drawing/2014/main" id="{9382CFDA-2DFA-4CA5-831E-5C09E0C0F64B}"/>
              </a:ext>
            </a:extLst>
          </p:cNvPr>
          <p:cNvSpPr>
            <a:spLocks xmlns:a="http://schemas.openxmlformats.org/drawingml/2006/main" noGrp="1"/>
          </p:cNvSpPr>
          <p:nvPr/>
        </p:nvSpPr>
        <p:spPr>
          <a:xfrm xmlns:a="http://schemas.openxmlformats.org/drawingml/2006/main">
            <a:off x="609600" y="29527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C40"/>
                </a:solidFill>
                <a:latin typeface="Helvetica Neue"/>
                <a:ea typeface="Helvetica Neue"/>
                <a:cs typeface="Helvetica Neue"/>
              </a:defRPr>
            </a:pPr>
            <a:r>
              <a:rPr sz="1800" b="1">
                <a:solidFill>
                  <a:srgbClr val="152C40"/>
                </a:solidFill>
                <a:latin typeface="Helvetica Neue"/>
                <a:ea typeface="Helvetica Neue"/>
                <a:cs typeface="Helvetica Neue"/>
                <a:hlinkClick xmlns:r="http://schemas.openxmlformats.org/officeDocument/2006/relationships" r:id="R3a0144bba7e1401d"/>
              </a:rPr>
              <a:t>Aradillas, Murillo-Fuentes &amp; Olmos · 2020 preprint</a:t>
            </a:r>
          </a:p>
        </p:txBody>
      </p:sp>
      <p:sp>
        <p:nvSpPr>
          <p:cNvPr id="11" name="">
            <a:extLst xmlns:a="http://schemas.openxmlformats.org/drawingml/2006/main">
              <a:ext uri="{FF2B5EF4-FFF2-40B4-BE49-F238E27FC236}">
                <a16:creationId xmlns:a16="http://schemas.microsoft.com/office/drawing/2014/main" id="{CC793882-5C08-4AA6-94D7-634CA2D07843}"/>
              </a:ext>
            </a:extLst>
          </p:cNvPr>
          <p:cNvSpPr>
            <a:spLocks xmlns:a="http://schemas.openxmlformats.org/drawingml/2006/main" noGrp="1"/>
          </p:cNvSpPr>
          <p:nvPr/>
        </p:nvSpPr>
        <p:spPr>
          <a:xfrm xmlns:a="http://schemas.openxmlformats.org/drawingml/2006/main">
            <a:off x="609600" y="3276600"/>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Few-label adaptation for historical handwritten recognition.</a:t>
            </a:r>
          </a:p>
        </p:txBody>
      </p:sp>
      <p:sp>
        <p:nvSpPr>
          <p:cNvPr id="12" name="">
            <a:extLst xmlns:a="http://schemas.openxmlformats.org/drawingml/2006/main">
              <a:ext uri="{FF2B5EF4-FFF2-40B4-BE49-F238E27FC236}">
                <a16:creationId xmlns:a16="http://schemas.microsoft.com/office/drawing/2014/main" id="{8D9A7706-6D7F-4E4D-9FA7-4AFF80AF5EC3}"/>
              </a:ext>
            </a:extLst>
          </p:cNvPr>
          <p:cNvSpPr>
            <a:spLocks xmlns:a="http://schemas.openxmlformats.org/drawingml/2006/main" noGrp="1"/>
          </p:cNvSpPr>
          <p:nvPr/>
        </p:nvSpPr>
        <p:spPr>
          <a:xfrm xmlns:a="http://schemas.openxmlformats.org/drawingml/2006/main">
            <a:off x="609600" y="3648075"/>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C40"/>
                </a:solidFill>
                <a:latin typeface="Helvetica Neue"/>
                <a:ea typeface="Helvetica Neue"/>
                <a:cs typeface="Helvetica Neue"/>
              </a:defRPr>
            </a:pPr>
            <a:r>
              <a:rPr sz="1800" b="1">
                <a:solidFill>
                  <a:srgbClr val="152C40"/>
                </a:solidFill>
                <a:latin typeface="Helvetica Neue"/>
                <a:ea typeface="Helvetica Neue"/>
                <a:cs typeface="Helvetica Neue"/>
                <a:hlinkClick xmlns:r="http://schemas.openxmlformats.org/officeDocument/2006/relationships" r:id="R5054d9595d7b4a1c"/>
              </a:rPr>
              <a:t>Bai et al. · Qwen3-VL Technical Report, 2025</a:t>
            </a:r>
          </a:p>
        </p:txBody>
      </p:sp>
      <p:sp>
        <p:nvSpPr>
          <p:cNvPr id="13" name="">
            <a:extLst xmlns:a="http://schemas.openxmlformats.org/drawingml/2006/main">
              <a:ext uri="{FF2B5EF4-FFF2-40B4-BE49-F238E27FC236}">
                <a16:creationId xmlns:a16="http://schemas.microsoft.com/office/drawing/2014/main" id="{9B285D00-0BD6-4CE9-9A97-6B06B214CB8F}"/>
              </a:ext>
            </a:extLst>
          </p:cNvPr>
          <p:cNvSpPr>
            <a:spLocks xmlns:a="http://schemas.openxmlformats.org/drawingml/2006/main" noGrp="1"/>
          </p:cNvSpPr>
          <p:nvPr/>
        </p:nvSpPr>
        <p:spPr>
          <a:xfrm xmlns:a="http://schemas.openxmlformats.org/drawingml/2006/main">
            <a:off x="609600" y="39719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Open general VLM family; Qwen3-VL-4B-Instruct used here.</a:t>
            </a:r>
          </a:p>
        </p:txBody>
      </p:sp>
      <p:sp>
        <p:nvSpPr>
          <p:cNvPr id="14" name="">
            <a:extLst xmlns:a="http://schemas.openxmlformats.org/drawingml/2006/main">
              <a:ext uri="{FF2B5EF4-FFF2-40B4-BE49-F238E27FC236}">
                <a16:creationId xmlns:a16="http://schemas.microsoft.com/office/drawing/2014/main" id="{2F8C2A2A-A9E8-4060-812F-B676DFC78139}"/>
              </a:ext>
            </a:extLst>
          </p:cNvPr>
          <p:cNvSpPr>
            <a:spLocks xmlns:a="http://schemas.openxmlformats.org/drawingml/2006/main" noGrp="1"/>
          </p:cNvSpPr>
          <p:nvPr/>
        </p:nvSpPr>
        <p:spPr>
          <a:xfrm xmlns:a="http://schemas.openxmlformats.org/drawingml/2006/main">
            <a:off x="609600" y="43434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C40"/>
                </a:solidFill>
                <a:latin typeface="Helvetica Neue"/>
                <a:ea typeface="Helvetica Neue"/>
                <a:cs typeface="Helvetica Neue"/>
              </a:defRPr>
            </a:pPr>
            <a:r>
              <a:rPr sz="1800" b="1">
                <a:solidFill>
                  <a:srgbClr val="152C40"/>
                </a:solidFill>
                <a:latin typeface="Helvetica Neue"/>
                <a:ea typeface="Helvetica Neue"/>
                <a:cs typeface="Helvetica Neue"/>
                <a:hlinkClick xmlns:r="http://schemas.openxmlformats.org/officeDocument/2006/relationships" r:id="R8d69f5121934407d"/>
              </a:rPr>
              <a:t>Taghadouini, Cavaillès &amp; Aubertin · LightOnOCR, 2026</a:t>
            </a:r>
          </a:p>
        </p:txBody>
      </p:sp>
      <p:sp>
        <p:nvSpPr>
          <p:cNvPr id="15" name="">
            <a:extLst xmlns:a="http://schemas.openxmlformats.org/drawingml/2006/main">
              <a:ext uri="{FF2B5EF4-FFF2-40B4-BE49-F238E27FC236}">
                <a16:creationId xmlns:a16="http://schemas.microsoft.com/office/drawing/2014/main" id="{6BEBF4A1-765F-43F3-B4B0-5AD06AF546FA}"/>
              </a:ext>
            </a:extLst>
          </p:cNvPr>
          <p:cNvSpPr>
            <a:spLocks xmlns:a="http://schemas.openxmlformats.org/drawingml/2006/main" noGrp="1"/>
          </p:cNvSpPr>
          <p:nvPr/>
        </p:nvSpPr>
        <p:spPr>
          <a:xfrm xmlns:a="http://schemas.openxmlformats.org/drawingml/2006/main">
            <a:off x="609600" y="4667250"/>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Compact page-transcription VLM; 1B base used in EXP-009.</a:t>
            </a:r>
          </a:p>
        </p:txBody>
      </p:sp>
      <p:sp>
        <p:nvSpPr>
          <p:cNvPr id="16" name="">
            <a:extLst xmlns:a="http://schemas.openxmlformats.org/drawingml/2006/main">
              <a:ext uri="{FF2B5EF4-FFF2-40B4-BE49-F238E27FC236}">
                <a16:creationId xmlns:a16="http://schemas.microsoft.com/office/drawing/2014/main" id="{03C4B4AD-3950-40BE-8EB5-64480C6E54F5}"/>
              </a:ext>
            </a:extLst>
          </p:cNvPr>
          <p:cNvSpPr>
            <a:spLocks xmlns:a="http://schemas.openxmlformats.org/drawingml/2006/main" noGrp="1"/>
          </p:cNvSpPr>
          <p:nvPr/>
        </p:nvSpPr>
        <p:spPr>
          <a:xfrm xmlns:a="http://schemas.openxmlformats.org/drawingml/2006/main">
            <a:off x="609600" y="5038725"/>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C40"/>
                </a:solidFill>
                <a:latin typeface="Helvetica Neue"/>
                <a:ea typeface="Helvetica Neue"/>
                <a:cs typeface="Helvetica Neue"/>
              </a:defRPr>
            </a:pPr>
            <a:r>
              <a:rPr sz="1800" b="1">
                <a:solidFill>
                  <a:srgbClr val="152C40"/>
                </a:solidFill>
                <a:latin typeface="Helvetica Neue"/>
                <a:ea typeface="Helvetica Neue"/>
                <a:cs typeface="Helvetica Neue"/>
                <a:hlinkClick xmlns:r="http://schemas.openxmlformats.org/officeDocument/2006/relationships" r:id="R67e5e92e8b594dab"/>
              </a:rPr>
              <a:t>Toselli et al. · READ2016 / Bozen v1.2.0</a:t>
            </a:r>
          </a:p>
        </p:txBody>
      </p:sp>
      <p:sp>
        <p:nvSpPr>
          <p:cNvPr id="17" name="">
            <a:extLst xmlns:a="http://schemas.openxmlformats.org/drawingml/2006/main">
              <a:ext uri="{FF2B5EF4-FFF2-40B4-BE49-F238E27FC236}">
                <a16:creationId xmlns:a16="http://schemas.microsoft.com/office/drawing/2014/main" id="{D738E81D-7A85-43D9-8417-9E124C316EF8}"/>
              </a:ext>
            </a:extLst>
          </p:cNvPr>
          <p:cNvSpPr>
            <a:spLocks xmlns:a="http://schemas.openxmlformats.org/drawingml/2006/main" noGrp="1"/>
          </p:cNvSpPr>
          <p:nvPr/>
        </p:nvSpPr>
        <p:spPr>
          <a:xfrm xmlns:a="http://schemas.openxmlformats.org/drawingml/2006/main">
            <a:off x="609600" y="5362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Page images + source line annotations; CC BY 4.0.</a:t>
            </a:r>
          </a:p>
        </p:txBody>
      </p:sp>
      <p:sp>
        <p:nvSpPr>
          <p:cNvPr id="18" name="">
            <a:extLst xmlns:a="http://schemas.openxmlformats.org/drawingml/2006/main">
              <a:ext uri="{FF2B5EF4-FFF2-40B4-BE49-F238E27FC236}">
                <a16:creationId xmlns:a16="http://schemas.microsoft.com/office/drawing/2014/main" id="{8ECBEEB8-C342-42A9-82B9-15E0741DB4C1}"/>
              </a:ext>
            </a:extLst>
          </p:cNvPr>
          <p:cNvSpPr>
            <a:spLocks xmlns:a="http://schemas.openxmlformats.org/drawingml/2006/main" noGrp="1"/>
          </p:cNvSpPr>
          <p:nvPr/>
        </p:nvSpPr>
        <p:spPr>
          <a:xfrm xmlns:a="http://schemas.openxmlformats.org/drawingml/2006/main">
            <a:off x="609600" y="58864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08A87"/>
                </a:solidFill>
                <a:latin typeface="Helvetica Neue"/>
                <a:ea typeface="Helvetica Neue"/>
                <a:cs typeface="Helvetica Neue"/>
              </a:defRPr>
            </a:pPr>
            <a:r>
              <a:rPr sz="1575" b="1">
                <a:solidFill>
                  <a:srgbClr val="008A87"/>
                </a:solidFill>
                <a:latin typeface="Helvetica Neue"/>
                <a:ea typeface="Helvetica Neue"/>
                <a:cs typeface="Helvetica Neue"/>
              </a:rPr>
              <a:t>Experiment reports: EXP-001–002 · 003–005 · 006–008 · 009 · 010 · 011 · 012 · 013</a:t>
            </a:r>
          </a:p>
        </p:txBody>
      </p:sp>
    </p:spTree>
    <p:extLst>
      <p:ext uri="{BB962C8B-B14F-4D97-AF65-F5344CB8AC3E}">
        <p14:creationId xmlns:p14="http://schemas.microsoft.com/office/powerpoint/2010/main" val="4332183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2026-09-27T15:34:39.8930000Z</dcterms:created>
  <dcterms:modified xsi:type="dcterms:W3CDTF">2026-09-27T15:34:39.8930000Z</dcterms:modified>
</coreProperties>
</file>